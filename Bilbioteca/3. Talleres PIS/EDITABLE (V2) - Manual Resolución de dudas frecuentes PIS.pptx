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7556500" cy="10693400"/>
  <p:notesSz cx="6858000" cy="9144000"/>
  <p:embeddedFontLst>
    <p:embeddedFont>
      <p:font typeface="DM Serif Display" charset="1" panose="00000000000000000000"/>
      <p:regular r:id="rId57"/>
    </p:embeddedFont>
    <p:embeddedFont>
      <p:font typeface="Montserrat" charset="1" panose="00000500000000000000"/>
      <p:regular r:id="rId58"/>
    </p:embeddedFont>
    <p:embeddedFont>
      <p:font typeface="Montserrat Semi-Bold" charset="1" panose="00000700000000000000"/>
      <p:regular r:id="rId59"/>
    </p:embeddedFont>
    <p:embeddedFont>
      <p:font typeface="Montserrat Bold" charset="1" panose="00000600000000000000"/>
      <p:regular r:id="rId60"/>
    </p:embeddedFont>
    <p:embeddedFont>
      <p:font typeface="Montserrat Semi-Bold Bold Italics" charset="1" panose="00000800000000000000"/>
      <p:regular r:id="rId61"/>
    </p:embeddedFont>
    <p:embeddedFont>
      <p:font typeface="Montserrat Bold Italics" charset="1" panose="00000600000000000000"/>
      <p:regular r:id="rId62"/>
    </p:embeddedFont>
    <p:embeddedFont>
      <p:font typeface="Montserrat Semi-Bold Bold" charset="1" panose="00000800000000000000"/>
      <p:regular r:id="rId63"/>
    </p:embeddedFont>
    <p:embeddedFont>
      <p:font typeface="Montserrat Italics" charset="1" panose="00000500000000000000"/>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slide14.xml" Type="http://schemas.openxmlformats.org/officeDocument/2006/relationships/slide"/><Relationship Id="rId11" Target="slide23.xml" Type="http://schemas.openxmlformats.org/officeDocument/2006/relationships/slide"/><Relationship Id="rId12" Target="slide29.xml" Type="http://schemas.openxmlformats.org/officeDocument/2006/relationships/slide"/><Relationship Id="rId13" Target="slide32.xml" Type="http://schemas.openxmlformats.org/officeDocument/2006/relationships/slide"/><Relationship Id="rId14" Target="slide34.xml" Type="http://schemas.openxmlformats.org/officeDocument/2006/relationships/slide"/><Relationship Id="rId15" Target="slide36.xml" Type="http://schemas.openxmlformats.org/officeDocument/2006/relationships/slide"/><Relationship Id="rId16" Target="slide37.xml" Type="http://schemas.openxmlformats.org/officeDocument/2006/relationships/slide"/><Relationship Id="rId17" Target="slide46.xml" Type="http://schemas.openxmlformats.org/officeDocument/2006/relationships/slid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slide5.xml" Type="http://schemas.openxmlformats.org/officeDocument/2006/relationships/slide"/><Relationship Id="rId6" Target="slide12.xml" Type="http://schemas.openxmlformats.org/officeDocument/2006/relationships/slide"/><Relationship Id="rId7" Target="slide17.xml" Type="http://schemas.openxmlformats.org/officeDocument/2006/relationships/slide"/><Relationship Id="rId8" Target="slide41.xml" Type="http://schemas.openxmlformats.org/officeDocument/2006/relationships/slide"/><Relationship Id="rId9" Target="slide13.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media/image7.jpeg" Type="http://schemas.openxmlformats.org/officeDocument/2006/relationships/image"/><Relationship Id="rId8" Target="../media/image8.jpeg" Type="http://schemas.openxmlformats.org/officeDocument/2006/relationships/image"/><Relationship Id="rId9"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3.jpe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jpeg" Type="http://schemas.openxmlformats.org/officeDocument/2006/relationships/image"/><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22.jpeg" Type="http://schemas.openxmlformats.org/officeDocument/2006/relationships/image"/><Relationship Id="rId6" Target="../media/image23.jpeg" Type="http://schemas.openxmlformats.org/officeDocument/2006/relationships/image"/><Relationship Id="rId7" Target="../media/image24.jpeg" Type="http://schemas.openxmlformats.org/officeDocument/2006/relationships/image"/><Relationship Id="rId8" Target="../media/image25.jpeg" Type="http://schemas.openxmlformats.org/officeDocument/2006/relationships/image"/><Relationship Id="rId9" Target="../media/image2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 Id="rId7" Target="../media/image30.jpeg" Type="http://schemas.openxmlformats.org/officeDocument/2006/relationships/image"/><Relationship Id="rId8" Target="../media/image31.jpeg" Type="http://schemas.openxmlformats.org/officeDocument/2006/relationships/image"/><Relationship Id="rId9" Target="../media/image3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3.jpeg" Type="http://schemas.openxmlformats.org/officeDocument/2006/relationships/image"/><Relationship Id="rId6" Target="../media/image34.jpeg" Type="http://schemas.openxmlformats.org/officeDocument/2006/relationships/image"/><Relationship Id="rId7" Target="../media/image35.jpeg" Type="http://schemas.openxmlformats.org/officeDocument/2006/relationships/image"/><Relationship Id="rId8" Target="../media/image36.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7.jpeg" Type="http://schemas.openxmlformats.org/officeDocument/2006/relationships/image"/><Relationship Id="rId6" Target="../media/image38.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9.jpeg" Type="http://schemas.openxmlformats.org/officeDocument/2006/relationships/image"/><Relationship Id="rId6" Target="../media/image40.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2.jpeg" Type="http://schemas.openxmlformats.org/officeDocument/2006/relationships/image"/><Relationship Id="rId6" Target="../media/image43.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4.jpeg" Type="http://schemas.openxmlformats.org/officeDocument/2006/relationships/image"/><Relationship Id="rId6" Target="../media/image45.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6.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7.jpeg" Type="http://schemas.openxmlformats.org/officeDocument/2006/relationships/image"/><Relationship Id="rId6" Target="../media/image48.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9.jpeg" Type="http://schemas.openxmlformats.org/officeDocument/2006/relationships/image"/><Relationship Id="rId6" Target="../media/image50.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51.jpeg" Type="http://schemas.openxmlformats.org/officeDocument/2006/relationships/image"/><Relationship Id="rId6" Target="../media/image52.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08" y="6499687"/>
            <a:ext cx="7560000" cy="4192313"/>
          </a:xfrm>
          <a:custGeom>
            <a:avLst/>
            <a:gdLst/>
            <a:ahLst/>
            <a:cxnLst/>
            <a:rect r="r" b="b" t="t" l="l"/>
            <a:pathLst>
              <a:path h="4192313" w="7560000">
                <a:moveTo>
                  <a:pt x="0" y="0"/>
                </a:moveTo>
                <a:lnTo>
                  <a:pt x="7560000" y="0"/>
                </a:lnTo>
                <a:lnTo>
                  <a:pt x="7560000" y="4192313"/>
                </a:lnTo>
                <a:lnTo>
                  <a:pt x="0" y="4192313"/>
                </a:lnTo>
                <a:lnTo>
                  <a:pt x="0" y="0"/>
                </a:lnTo>
                <a:close/>
              </a:path>
            </a:pathLst>
          </a:custGeom>
          <a:blipFill>
            <a:blip r:embed="rId4"/>
            <a:stretch>
              <a:fillRect l="0" t="-492" r="0" b="-492"/>
            </a:stretch>
          </a:blipFill>
        </p:spPr>
      </p:sp>
      <p:grpSp>
        <p:nvGrpSpPr>
          <p:cNvPr name="Group 6" id="6"/>
          <p:cNvGrpSpPr/>
          <p:nvPr/>
        </p:nvGrpSpPr>
        <p:grpSpPr>
          <a:xfrm rot="0">
            <a:off x="1452203" y="2388594"/>
            <a:ext cx="4655594" cy="3284661"/>
            <a:chOff x="0" y="0"/>
            <a:chExt cx="6207458" cy="4379548"/>
          </a:xfrm>
        </p:grpSpPr>
        <p:sp>
          <p:nvSpPr>
            <p:cNvPr name="TextBox 7" id="7"/>
            <p:cNvSpPr txBox="true"/>
            <p:nvPr/>
          </p:nvSpPr>
          <p:spPr>
            <a:xfrm rot="0">
              <a:off x="0" y="95250"/>
              <a:ext cx="6207458" cy="3478558"/>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Resolución de dudas frecuentes</a:t>
              </a:r>
            </a:p>
          </p:txBody>
        </p:sp>
        <p:sp>
          <p:nvSpPr>
            <p:cNvPr name="TextBox 8" id="8"/>
            <p:cNvSpPr txBox="true"/>
            <p:nvPr/>
          </p:nvSpPr>
          <p:spPr>
            <a:xfrm rot="0">
              <a:off x="0" y="3939957"/>
              <a:ext cx="6207458" cy="439592"/>
            </a:xfrm>
            <a:prstGeom prst="rect">
              <a:avLst/>
            </a:prstGeom>
          </p:spPr>
          <p:txBody>
            <a:bodyPr anchor="t" rtlCol="false" tIns="0" lIns="0" bIns="0" rIns="0">
              <a:spAutoFit/>
            </a:bodyPr>
            <a:lstStyle/>
            <a:p>
              <a:pPr algn="l">
                <a:lnSpc>
                  <a:spcPts val="2827"/>
                </a:lnSpc>
              </a:pPr>
              <a:r>
                <a:rPr lang="en-US" sz="2019">
                  <a:solidFill>
                    <a:srgbClr val="122424"/>
                  </a:solidFill>
                  <a:latin typeface="Montserrat"/>
                  <a:ea typeface="Montserrat"/>
                  <a:cs typeface="Montserrat"/>
                  <a:sym typeface="Montserrat"/>
                </a:rPr>
                <a:t>PLAN DE INTEGRACIÓN SOCIAL</a:t>
              </a:r>
            </a:p>
          </p:txBody>
        </p:sp>
      </p:grpSp>
      <p:grpSp>
        <p:nvGrpSpPr>
          <p:cNvPr name="Group 9" id="9"/>
          <p:cNvGrpSpPr/>
          <p:nvPr/>
        </p:nvGrpSpPr>
        <p:grpSpPr>
          <a:xfrm rot="0">
            <a:off x="5923620" y="-245662"/>
            <a:ext cx="1980089" cy="11213108"/>
            <a:chOff x="0" y="0"/>
            <a:chExt cx="709619" cy="4018525"/>
          </a:xfrm>
        </p:grpSpPr>
        <p:sp>
          <p:nvSpPr>
            <p:cNvPr name="Freeform 10" id="10"/>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11" id="11"/>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6" id="6"/>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sp>
        <p:nvSpPr>
          <p:cNvPr name="TextBox 7" id="7"/>
          <p:cNvSpPr txBox="true"/>
          <p:nvPr/>
        </p:nvSpPr>
        <p:spPr>
          <a:xfrm rot="0">
            <a:off x="589521" y="1660589"/>
            <a:ext cx="6048000" cy="698500"/>
          </a:xfrm>
          <a:prstGeom prst="rect">
            <a:avLst/>
          </a:prstGeom>
        </p:spPr>
        <p:txBody>
          <a:bodyPr anchor="t" rtlCol="false" tIns="0" lIns="0" bIns="0" rIns="0">
            <a:spAutoFit/>
          </a:bodyPr>
          <a:lstStyle/>
          <a:p>
            <a:pPr algn="l">
              <a:lnSpc>
                <a:spcPts val="5300"/>
              </a:lnSpc>
            </a:pPr>
            <a:r>
              <a:rPr lang="en-US" sz="5000">
                <a:solidFill>
                  <a:srgbClr val="222525"/>
                </a:solidFill>
                <a:latin typeface="DM Serif Display"/>
                <a:ea typeface="DM Serif Display"/>
                <a:cs typeface="DM Serif Display"/>
                <a:sym typeface="DM Serif Display"/>
              </a:rPr>
              <a:t>Objetivo del manual</a:t>
            </a:r>
          </a:p>
        </p:txBody>
      </p:sp>
      <p:sp>
        <p:nvSpPr>
          <p:cNvPr name="TextBox 8" id="8"/>
          <p:cNvSpPr txBox="true"/>
          <p:nvPr/>
        </p:nvSpPr>
        <p:spPr>
          <a:xfrm rot="0">
            <a:off x="589521" y="3337672"/>
            <a:ext cx="3024000" cy="4095294"/>
          </a:xfrm>
          <a:prstGeom prst="rect">
            <a:avLst/>
          </a:prstGeom>
        </p:spPr>
        <p:txBody>
          <a:bodyPr anchor="t" rtlCol="false" tIns="0" lIns="0" bIns="0" rIns="0">
            <a:spAutoFit/>
          </a:bodyPr>
          <a:lstStyle/>
          <a:p>
            <a:pPr algn="l">
              <a:lnSpc>
                <a:spcPts val="2076"/>
              </a:lnSpc>
            </a:pPr>
            <a:r>
              <a:rPr lang="en-US" sz="1298">
                <a:solidFill>
                  <a:srgbClr val="222525"/>
                </a:solidFill>
                <a:latin typeface="Montserrat"/>
                <a:ea typeface="Montserrat"/>
                <a:cs typeface="Montserrat"/>
                <a:sym typeface="Montserrat"/>
              </a:rPr>
              <a:t>El siguiente documento surge desde Equidad Urbana Consultora con la finalidad de atender las preguntas más reiteradas durante la implementación del Plan de Integración Social y de los contenidos revisados a lo largo de las </a:t>
            </a:r>
            <a:r>
              <a:rPr lang="en-US" sz="1298">
                <a:solidFill>
                  <a:srgbClr val="222525"/>
                </a:solidFill>
                <a:latin typeface="Montserrat"/>
                <a:ea typeface="Montserrat"/>
                <a:cs typeface="Montserrat"/>
                <a:sym typeface="Montserrat"/>
              </a:rPr>
              <a:t>5 actividades.</a:t>
            </a:r>
          </a:p>
          <a:p>
            <a:pPr algn="l">
              <a:lnSpc>
                <a:spcPts val="2076"/>
              </a:lnSpc>
            </a:pPr>
          </a:p>
          <a:p>
            <a:pPr algn="l">
              <a:lnSpc>
                <a:spcPts val="2076"/>
              </a:lnSpc>
            </a:pPr>
            <a:r>
              <a:rPr lang="en-US" sz="1298">
                <a:solidFill>
                  <a:srgbClr val="222525"/>
                </a:solidFill>
                <a:latin typeface="Montserrat"/>
                <a:ea typeface="Montserrat"/>
                <a:cs typeface="Montserrat"/>
                <a:sym typeface="Montserrat"/>
              </a:rPr>
              <a:t>Se considera sumamente importante poder </a:t>
            </a:r>
            <a:r>
              <a:rPr lang="en-US" sz="1298">
                <a:solidFill>
                  <a:srgbClr val="222525"/>
                </a:solidFill>
                <a:latin typeface="Montserrat"/>
                <a:ea typeface="Montserrat"/>
                <a:cs typeface="Montserrat"/>
                <a:sym typeface="Montserrat"/>
              </a:rPr>
              <a:t>entregar material que sea de utilidad para brindar orientación y consejos a las familias en el proceso de habitar sus nuevas viviendas y de integrarse a un nuevo barrio. </a:t>
            </a:r>
          </a:p>
        </p:txBody>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01</a:t>
            </a:r>
          </a:p>
        </p:txBody>
      </p:sp>
      <p:sp>
        <p:nvSpPr>
          <p:cNvPr name="TextBox 11" id="11"/>
          <p:cNvSpPr txBox="true"/>
          <p:nvPr/>
        </p:nvSpPr>
        <p:spPr>
          <a:xfrm rot="0">
            <a:off x="3940898" y="3337672"/>
            <a:ext cx="2863102" cy="6410960"/>
          </a:xfrm>
          <a:prstGeom prst="rect">
            <a:avLst/>
          </a:prstGeom>
        </p:spPr>
        <p:txBody>
          <a:bodyPr anchor="t" rtlCol="false" tIns="0" lIns="0" bIns="0" rIns="0">
            <a:spAutoFit/>
          </a:bodyPr>
          <a:lstStyle/>
          <a:p>
            <a:pPr algn="l">
              <a:lnSpc>
                <a:spcPts val="2080"/>
              </a:lnSpc>
            </a:pPr>
            <a:r>
              <a:rPr lang="en-US" sz="1300">
                <a:solidFill>
                  <a:srgbClr val="222525"/>
                </a:solidFill>
                <a:latin typeface="Montserrat"/>
                <a:ea typeface="Montserrat"/>
                <a:cs typeface="Montserrat"/>
                <a:sym typeface="Montserrat"/>
              </a:rPr>
              <a:t>En ese sentido, resulta esencial que las familias tengan acceso constante a este material. Esto les permitiría revisar la información proporcionada en cualquier momento, satisfaciendo así sus necesidades y resolviendo sus inquietudes de manera efectiva.</a:t>
            </a:r>
          </a:p>
          <a:p>
            <a:pPr algn="l">
              <a:lnSpc>
                <a:spcPts val="2080"/>
              </a:lnSpc>
            </a:pPr>
          </a:p>
          <a:p>
            <a:pPr algn="l">
              <a:lnSpc>
                <a:spcPts val="2080"/>
              </a:lnSpc>
            </a:pPr>
            <a:r>
              <a:rPr lang="en-US" sz="1300">
                <a:solidFill>
                  <a:srgbClr val="222525"/>
                </a:solidFill>
                <a:latin typeface="Montserrat"/>
                <a:ea typeface="Montserrat"/>
                <a:cs typeface="Montserrat"/>
                <a:sym typeface="Montserrat"/>
              </a:rPr>
              <a:t>De esta forma, es importante destacar que este material es de carácter orientativo y general. Por lo tanto, se recomienda que, en caso de ser necesario, se consulte con la Inmobiliaria para obtener información más detallada y específica.</a:t>
            </a:r>
          </a:p>
          <a:p>
            <a:pPr algn="l">
              <a:lnSpc>
                <a:spcPts val="2080"/>
              </a:lnSpc>
            </a:pPr>
          </a:p>
          <a:p>
            <a:pPr algn="l">
              <a:lnSpc>
                <a:spcPts val="2080"/>
              </a:lnSpc>
            </a:pPr>
          </a:p>
          <a:p>
            <a:pPr algn="l">
              <a:lnSpc>
                <a:spcPts val="2080"/>
              </a:lnSpc>
            </a:pPr>
          </a:p>
          <a:p>
            <a:pPr algn="l">
              <a:lnSpc>
                <a:spcPts val="2080"/>
              </a:lnSpc>
            </a:pPr>
          </a:p>
          <a:p>
            <a:pPr algn="l">
              <a:lnSpc>
                <a:spcPts val="2080"/>
              </a:lnSpc>
            </a:pPr>
          </a:p>
          <a:p>
            <a:pPr algn="l">
              <a:lnSpc>
                <a:spcPts val="2080"/>
              </a:lnSpc>
            </a:pPr>
          </a:p>
          <a:p>
            <a:pPr algn="l">
              <a:lnSpc>
                <a:spcPts val="2080"/>
              </a:lnSpc>
            </a:pPr>
            <a:r>
              <a:rPr lang="en-US" sz="1300">
                <a:solidFill>
                  <a:srgbClr val="222525"/>
                </a:solidFill>
                <a:latin typeface="Montserrat"/>
                <a:ea typeface="Montserrat"/>
                <a:cs typeface="Montserrat"/>
                <a:sym typeface="Montserrat"/>
              </a:rPr>
              <a:t>Julio, 2023. </a:t>
            </a:r>
          </a:p>
          <a:p>
            <a:pPr algn="l">
              <a:lnSpc>
                <a:spcPts val="2080"/>
              </a:lnSpc>
            </a:pPr>
            <a:r>
              <a:rPr lang="en-US" sz="1300">
                <a:solidFill>
                  <a:srgbClr val="222525"/>
                </a:solidFill>
                <a:latin typeface="Montserrat"/>
                <a:ea typeface="Montserrat"/>
                <a:cs typeface="Montserrat"/>
                <a:sym typeface="Montserrat"/>
              </a:rPr>
              <a:t>Responsable: María Paz Correa.</a:t>
            </a:r>
          </a:p>
        </p:txBody>
      </p:sp>
      <p:sp>
        <p:nvSpPr>
          <p:cNvPr name="Freeform 12" id="12"/>
          <p:cNvSpPr/>
          <p:nvPr/>
        </p:nvSpPr>
        <p:spPr>
          <a:xfrm flipH="false" flipV="false" rot="0">
            <a:off x="603915" y="7627355"/>
            <a:ext cx="2256810" cy="2304112"/>
          </a:xfrm>
          <a:custGeom>
            <a:avLst/>
            <a:gdLst/>
            <a:ahLst/>
            <a:cxnLst/>
            <a:rect r="r" b="b" t="t" l="l"/>
            <a:pathLst>
              <a:path h="2304112" w="2256810">
                <a:moveTo>
                  <a:pt x="0" y="0"/>
                </a:moveTo>
                <a:lnTo>
                  <a:pt x="2256810" y="0"/>
                </a:lnTo>
                <a:lnTo>
                  <a:pt x="2256810" y="2304112"/>
                </a:lnTo>
                <a:lnTo>
                  <a:pt x="0" y="2304112"/>
                </a:lnTo>
                <a:lnTo>
                  <a:pt x="0" y="0"/>
                </a:lnTo>
                <a:close/>
              </a:path>
            </a:pathLst>
          </a:custGeom>
          <a:blipFill>
            <a:blip r:embed="rId5"/>
            <a:stretch>
              <a:fillRect l="0" t="-82845" r="-234986" b="-895"/>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18024" y="1452537"/>
            <a:ext cx="6048000" cy="698500"/>
          </a:xfrm>
          <a:prstGeom prst="rect">
            <a:avLst/>
          </a:prstGeom>
        </p:spPr>
        <p:txBody>
          <a:bodyPr anchor="t" rtlCol="false" tIns="0" lIns="0" bIns="0" rIns="0">
            <a:spAutoFit/>
          </a:bodyPr>
          <a:lstStyle/>
          <a:p>
            <a:pPr algn="l">
              <a:lnSpc>
                <a:spcPts val="5300"/>
              </a:lnSpc>
            </a:pPr>
            <a:r>
              <a:rPr lang="en-US" sz="5000">
                <a:solidFill>
                  <a:srgbClr val="222525"/>
                </a:solidFill>
                <a:latin typeface="DM Serif Display"/>
                <a:ea typeface="DM Serif Display"/>
                <a:cs typeface="DM Serif Display"/>
                <a:sym typeface="DM Serif Display"/>
              </a:rPr>
              <a:t>Índice</a:t>
            </a:r>
          </a:p>
        </p:txBody>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AutoShape 7" id="7"/>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8" id="8"/>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02</a:t>
            </a:r>
          </a:p>
        </p:txBody>
      </p:sp>
      <p:sp>
        <p:nvSpPr>
          <p:cNvPr name="TextBox 10" id="10"/>
          <p:cNvSpPr txBox="true"/>
          <p:nvPr/>
        </p:nvSpPr>
        <p:spPr>
          <a:xfrm rot="0">
            <a:off x="756000" y="2379637"/>
            <a:ext cx="2721970" cy="299571"/>
          </a:xfrm>
          <a:prstGeom prst="rect">
            <a:avLst/>
          </a:prstGeom>
        </p:spPr>
        <p:txBody>
          <a:bodyPr anchor="t" rtlCol="false" tIns="0" lIns="0" bIns="0" rIns="0">
            <a:spAutoFit/>
          </a:bodyPr>
          <a:lstStyle/>
          <a:p>
            <a:pPr algn="l">
              <a:lnSpc>
                <a:spcPts val="2559"/>
              </a:lnSpc>
            </a:pPr>
            <a:r>
              <a:rPr lang="en-US" sz="1599">
                <a:solidFill>
                  <a:srgbClr val="222525"/>
                </a:solidFill>
                <a:latin typeface="Montserrat Semi-Bold"/>
                <a:ea typeface="Montserrat Semi-Bold"/>
                <a:cs typeface="Montserrat Semi-Bold"/>
                <a:sym typeface="Montserrat Semi-Bold"/>
              </a:rPr>
              <a:t>0. Introducción</a:t>
            </a:r>
          </a:p>
        </p:txBody>
      </p:sp>
      <p:sp>
        <p:nvSpPr>
          <p:cNvPr name="TextBox 11" id="11"/>
          <p:cNvSpPr txBox="true"/>
          <p:nvPr/>
        </p:nvSpPr>
        <p:spPr>
          <a:xfrm rot="0">
            <a:off x="787428" y="2843084"/>
            <a:ext cx="5486854"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5" action="ppaction://hlinksldjump"/>
              </a:rPr>
              <a:t>0.1 Introducción Plan de Integración Social</a:t>
            </a:r>
            <a:r>
              <a:rPr lang="en-US" sz="999">
                <a:solidFill>
                  <a:srgbClr val="222525"/>
                </a:solidFill>
                <a:latin typeface="Montserrat"/>
                <a:ea typeface="Montserrat"/>
                <a:cs typeface="Montserrat"/>
                <a:sym typeface="Montserrat"/>
              </a:rPr>
              <a:t>                                                                              04</a:t>
            </a:r>
          </a:p>
        </p:txBody>
      </p:sp>
      <p:sp>
        <p:nvSpPr>
          <p:cNvPr name="AutoShape 12" id="12"/>
          <p:cNvSpPr/>
          <p:nvPr/>
        </p:nvSpPr>
        <p:spPr>
          <a:xfrm flipV="true">
            <a:off x="756016" y="2794484"/>
            <a:ext cx="5549676" cy="19050"/>
          </a:xfrm>
          <a:prstGeom prst="line">
            <a:avLst/>
          </a:prstGeom>
          <a:ln cap="flat" w="9525">
            <a:solidFill>
              <a:srgbClr val="03989E"/>
            </a:solidFill>
            <a:prstDash val="solid"/>
            <a:headEnd type="none" len="sm" w="sm"/>
            <a:tailEnd type="none" len="sm" w="sm"/>
          </a:ln>
        </p:spPr>
      </p:sp>
      <p:sp>
        <p:nvSpPr>
          <p:cNvPr name="TextBox 13" id="13"/>
          <p:cNvSpPr txBox="true"/>
          <p:nvPr/>
        </p:nvSpPr>
        <p:spPr>
          <a:xfrm rot="0">
            <a:off x="756000" y="3386054"/>
            <a:ext cx="2721970" cy="299571"/>
          </a:xfrm>
          <a:prstGeom prst="rect">
            <a:avLst/>
          </a:prstGeom>
        </p:spPr>
        <p:txBody>
          <a:bodyPr anchor="t" rtlCol="false" tIns="0" lIns="0" bIns="0" rIns="0">
            <a:spAutoFit/>
          </a:bodyPr>
          <a:lstStyle/>
          <a:p>
            <a:pPr algn="l">
              <a:lnSpc>
                <a:spcPts val="2559"/>
              </a:lnSpc>
            </a:pPr>
            <a:r>
              <a:rPr lang="en-US" sz="1599">
                <a:solidFill>
                  <a:srgbClr val="222525"/>
                </a:solidFill>
                <a:latin typeface="Montserrat Semi-Bold"/>
                <a:ea typeface="Montserrat Semi-Bold"/>
                <a:cs typeface="Montserrat Semi-Bold"/>
                <a:sym typeface="Montserrat Semi-Bold"/>
              </a:rPr>
              <a:t>01. Visita a la obra</a:t>
            </a:r>
          </a:p>
        </p:txBody>
      </p:sp>
      <p:sp>
        <p:nvSpPr>
          <p:cNvPr name="TextBox 14" id="14"/>
          <p:cNvSpPr txBox="true"/>
          <p:nvPr/>
        </p:nvSpPr>
        <p:spPr>
          <a:xfrm rot="0">
            <a:off x="802961" y="3849501"/>
            <a:ext cx="5455788"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6" action="ppaction://hlinksldjump"/>
              </a:rPr>
              <a:t>1.1 Proceso constructivo de la obra                                                                                                11</a:t>
            </a:r>
          </a:p>
        </p:txBody>
      </p:sp>
      <p:sp>
        <p:nvSpPr>
          <p:cNvPr name="AutoShape 15" id="15"/>
          <p:cNvSpPr/>
          <p:nvPr/>
        </p:nvSpPr>
        <p:spPr>
          <a:xfrm flipV="true">
            <a:off x="756016" y="3800901"/>
            <a:ext cx="5549676" cy="19050"/>
          </a:xfrm>
          <a:prstGeom prst="line">
            <a:avLst/>
          </a:prstGeom>
          <a:ln cap="flat" w="9525">
            <a:solidFill>
              <a:srgbClr val="03989E"/>
            </a:solidFill>
            <a:prstDash val="solid"/>
            <a:headEnd type="none" len="sm" w="sm"/>
            <a:tailEnd type="none" len="sm" w="sm"/>
          </a:ln>
        </p:spPr>
      </p:sp>
      <p:sp>
        <p:nvSpPr>
          <p:cNvPr name="TextBox 16" id="16"/>
          <p:cNvSpPr txBox="true"/>
          <p:nvPr/>
        </p:nvSpPr>
        <p:spPr>
          <a:xfrm rot="0">
            <a:off x="756000" y="5913284"/>
            <a:ext cx="2721970" cy="299571"/>
          </a:xfrm>
          <a:prstGeom prst="rect">
            <a:avLst/>
          </a:prstGeom>
        </p:spPr>
        <p:txBody>
          <a:bodyPr anchor="t" rtlCol="false" tIns="0" lIns="0" bIns="0" rIns="0">
            <a:spAutoFit/>
          </a:bodyPr>
          <a:lstStyle/>
          <a:p>
            <a:pPr algn="l">
              <a:lnSpc>
                <a:spcPts val="2559"/>
              </a:lnSpc>
            </a:pPr>
            <a:r>
              <a:rPr lang="en-US" sz="1599">
                <a:solidFill>
                  <a:srgbClr val="222525"/>
                </a:solidFill>
                <a:latin typeface="Montserrat Semi-Bold"/>
                <a:ea typeface="Montserrat Semi-Bold"/>
                <a:cs typeface="Montserrat Semi-Bold"/>
                <a:sym typeface="Montserrat Semi-Bold"/>
              </a:rPr>
              <a:t>03. Derechos y deberes</a:t>
            </a:r>
          </a:p>
        </p:txBody>
      </p:sp>
      <p:sp>
        <p:nvSpPr>
          <p:cNvPr name="TextBox 17" id="17"/>
          <p:cNvSpPr txBox="true"/>
          <p:nvPr/>
        </p:nvSpPr>
        <p:spPr>
          <a:xfrm rot="0">
            <a:off x="783750" y="6376730"/>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rPr>
              <a:t>3.1. Patrimonio reservado mujer casada                                                                                      25</a:t>
            </a:r>
          </a:p>
        </p:txBody>
      </p:sp>
      <p:sp>
        <p:nvSpPr>
          <p:cNvPr name="AutoShape 18" id="18"/>
          <p:cNvSpPr/>
          <p:nvPr/>
        </p:nvSpPr>
        <p:spPr>
          <a:xfrm flipV="true">
            <a:off x="756016" y="6328130"/>
            <a:ext cx="5549676" cy="19050"/>
          </a:xfrm>
          <a:prstGeom prst="line">
            <a:avLst/>
          </a:prstGeom>
          <a:ln cap="flat" w="9525">
            <a:solidFill>
              <a:srgbClr val="03989E"/>
            </a:solidFill>
            <a:prstDash val="solid"/>
            <a:headEnd type="none" len="sm" w="sm"/>
            <a:tailEnd type="none" len="sm" w="sm"/>
          </a:ln>
        </p:spPr>
      </p:sp>
      <p:sp>
        <p:nvSpPr>
          <p:cNvPr name="TextBox 19" id="19"/>
          <p:cNvSpPr txBox="true"/>
          <p:nvPr/>
        </p:nvSpPr>
        <p:spPr>
          <a:xfrm rot="0">
            <a:off x="756000" y="4649669"/>
            <a:ext cx="3279393" cy="299571"/>
          </a:xfrm>
          <a:prstGeom prst="rect">
            <a:avLst/>
          </a:prstGeom>
        </p:spPr>
        <p:txBody>
          <a:bodyPr anchor="t" rtlCol="false" tIns="0" lIns="0" bIns="0" rIns="0">
            <a:spAutoFit/>
          </a:bodyPr>
          <a:lstStyle/>
          <a:p>
            <a:pPr algn="l">
              <a:lnSpc>
                <a:spcPts val="2559"/>
              </a:lnSpc>
            </a:pPr>
            <a:r>
              <a:rPr lang="en-US" sz="1599">
                <a:solidFill>
                  <a:srgbClr val="222525"/>
                </a:solidFill>
                <a:latin typeface="Montserrat Semi-Bold"/>
                <a:ea typeface="Montserrat Semi-Bold"/>
                <a:cs typeface="Montserrat Semi-Bold"/>
                <a:sym typeface="Montserrat Semi-Bold"/>
              </a:rPr>
              <a:t>02. Uso, cuidado y mantención</a:t>
            </a:r>
          </a:p>
        </p:txBody>
      </p:sp>
      <p:sp>
        <p:nvSpPr>
          <p:cNvPr name="TextBox 20" id="20"/>
          <p:cNvSpPr txBox="true"/>
          <p:nvPr/>
        </p:nvSpPr>
        <p:spPr>
          <a:xfrm rot="0">
            <a:off x="771533" y="5113115"/>
            <a:ext cx="5518643"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7" action="ppaction://hlinksldjump"/>
              </a:rPr>
              <a:t>2.1. Garantías y modificaciones de las viviendas.                                                                        16</a:t>
            </a:r>
          </a:p>
        </p:txBody>
      </p:sp>
      <p:sp>
        <p:nvSpPr>
          <p:cNvPr name="AutoShape 21" id="21"/>
          <p:cNvSpPr/>
          <p:nvPr/>
        </p:nvSpPr>
        <p:spPr>
          <a:xfrm flipV="true">
            <a:off x="756016" y="5064515"/>
            <a:ext cx="5549676" cy="19050"/>
          </a:xfrm>
          <a:prstGeom prst="line">
            <a:avLst/>
          </a:prstGeom>
          <a:ln cap="flat" w="9525">
            <a:solidFill>
              <a:srgbClr val="03989E"/>
            </a:solidFill>
            <a:prstDash val="solid"/>
            <a:headEnd type="none" len="sm" w="sm"/>
            <a:tailEnd type="none" len="sm" w="sm"/>
          </a:ln>
        </p:spPr>
      </p:sp>
      <p:sp>
        <p:nvSpPr>
          <p:cNvPr name="TextBox 22" id="22"/>
          <p:cNvSpPr txBox="true"/>
          <p:nvPr/>
        </p:nvSpPr>
        <p:spPr>
          <a:xfrm rot="0">
            <a:off x="756000" y="7948492"/>
            <a:ext cx="3279393" cy="299571"/>
          </a:xfrm>
          <a:prstGeom prst="rect">
            <a:avLst/>
          </a:prstGeom>
        </p:spPr>
        <p:txBody>
          <a:bodyPr anchor="t" rtlCol="false" tIns="0" lIns="0" bIns="0" rIns="0">
            <a:spAutoFit/>
          </a:bodyPr>
          <a:lstStyle/>
          <a:p>
            <a:pPr algn="l">
              <a:lnSpc>
                <a:spcPts val="2559"/>
              </a:lnSpc>
            </a:pPr>
            <a:r>
              <a:rPr lang="en-US" sz="1599">
                <a:solidFill>
                  <a:srgbClr val="222525"/>
                </a:solidFill>
                <a:latin typeface="Montserrat Semi-Bold"/>
                <a:ea typeface="Montserrat Semi-Bold"/>
                <a:cs typeface="Montserrat Semi-Bold"/>
                <a:sym typeface="Montserrat Semi-Bold"/>
              </a:rPr>
              <a:t>04. Organización comunitaria</a:t>
            </a:r>
          </a:p>
        </p:txBody>
      </p:sp>
      <p:sp>
        <p:nvSpPr>
          <p:cNvPr name="TextBox 23" id="23"/>
          <p:cNvSpPr txBox="true"/>
          <p:nvPr/>
        </p:nvSpPr>
        <p:spPr>
          <a:xfrm rot="0">
            <a:off x="786243" y="8411938"/>
            <a:ext cx="5489224"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8" action="ppaction://hlinksldjump"/>
              </a:rPr>
              <a:t>4.1 Organizaciones comunitarias                                                                                                  40</a:t>
            </a:r>
          </a:p>
        </p:txBody>
      </p:sp>
      <p:sp>
        <p:nvSpPr>
          <p:cNvPr name="AutoShape 24" id="24"/>
          <p:cNvSpPr/>
          <p:nvPr/>
        </p:nvSpPr>
        <p:spPr>
          <a:xfrm flipV="true">
            <a:off x="756016" y="8363338"/>
            <a:ext cx="5549676" cy="19050"/>
          </a:xfrm>
          <a:prstGeom prst="line">
            <a:avLst/>
          </a:prstGeom>
          <a:ln cap="flat" w="9525">
            <a:solidFill>
              <a:srgbClr val="03989E"/>
            </a:solidFill>
            <a:prstDash val="solid"/>
            <a:headEnd type="none" len="sm" w="sm"/>
            <a:tailEnd type="none" len="sm" w="sm"/>
          </a:ln>
        </p:spPr>
      </p:sp>
      <p:sp>
        <p:nvSpPr>
          <p:cNvPr name="TextBox 25" id="25"/>
          <p:cNvSpPr txBox="true"/>
          <p:nvPr/>
        </p:nvSpPr>
        <p:spPr>
          <a:xfrm rot="0">
            <a:off x="797975" y="3100281"/>
            <a:ext cx="546575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5" action="ppaction://hlinksldjump"/>
              </a:rPr>
              <a:t>0.2 Introducción a las actividades del PIS                                                                                  05</a:t>
            </a:r>
          </a:p>
        </p:txBody>
      </p:sp>
      <p:sp>
        <p:nvSpPr>
          <p:cNvPr name="TextBox 26" id="26"/>
          <p:cNvSpPr txBox="true"/>
          <p:nvPr/>
        </p:nvSpPr>
        <p:spPr>
          <a:xfrm rot="0">
            <a:off x="802961" y="4106698"/>
            <a:ext cx="5455788"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9" action="ppaction://hlinksldjump"/>
              </a:rPr>
              <a:t>1.2. Aspectos generales entrega viviendas                                                                                  12</a:t>
            </a:r>
          </a:p>
        </p:txBody>
      </p:sp>
      <p:sp>
        <p:nvSpPr>
          <p:cNvPr name="TextBox 27" id="27"/>
          <p:cNvSpPr txBox="true"/>
          <p:nvPr/>
        </p:nvSpPr>
        <p:spPr>
          <a:xfrm rot="0">
            <a:off x="802961" y="4363896"/>
            <a:ext cx="5455788"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0" action="ppaction://hlinksldjump"/>
              </a:rPr>
              <a:t>1.3. Pasos día de la entrega</a:t>
            </a:r>
            <a:r>
              <a:rPr lang="en-US" sz="999">
                <a:solidFill>
                  <a:srgbClr val="222525"/>
                </a:solidFill>
                <a:latin typeface="Montserrat"/>
                <a:ea typeface="Montserrat"/>
                <a:cs typeface="Montserrat"/>
                <a:sym typeface="Montserrat"/>
                <a:hlinkClick r:id="rId10" action="ppaction://hlinksldjump"/>
              </a:rPr>
              <a:t>                                                                                                              13</a:t>
            </a:r>
          </a:p>
        </p:txBody>
      </p:sp>
      <p:sp>
        <p:nvSpPr>
          <p:cNvPr name="TextBox 28" id="28"/>
          <p:cNvSpPr txBox="true"/>
          <p:nvPr/>
        </p:nvSpPr>
        <p:spPr>
          <a:xfrm rot="0">
            <a:off x="766547" y="5370313"/>
            <a:ext cx="5528614"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1" action="ppaction://hlinksldjump"/>
              </a:rPr>
              <a:t>2.2. Sello verde                                                                                                                                      22</a:t>
            </a:r>
          </a:p>
        </p:txBody>
      </p:sp>
      <p:sp>
        <p:nvSpPr>
          <p:cNvPr name="TextBox 29" id="29"/>
          <p:cNvSpPr txBox="true"/>
          <p:nvPr/>
        </p:nvSpPr>
        <p:spPr>
          <a:xfrm rot="0">
            <a:off x="766547" y="5627511"/>
            <a:ext cx="5528614"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1" action="ppaction://hlinksldjump"/>
              </a:rPr>
              <a:t>2.3. Gas de las viviendas                                                                                                                     22</a:t>
            </a:r>
          </a:p>
        </p:txBody>
      </p:sp>
      <p:sp>
        <p:nvSpPr>
          <p:cNvPr name="TextBox 30" id="30"/>
          <p:cNvSpPr txBox="true"/>
          <p:nvPr/>
        </p:nvSpPr>
        <p:spPr>
          <a:xfrm rot="0">
            <a:off x="783750" y="6633928"/>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2" action="ppaction://hlinksldjump"/>
              </a:rPr>
              <a:t>3.2. Administración del condominio                                                                                             28</a:t>
            </a:r>
          </a:p>
        </p:txBody>
      </p:sp>
      <p:sp>
        <p:nvSpPr>
          <p:cNvPr name="TextBox 31" id="31"/>
          <p:cNvSpPr txBox="true"/>
          <p:nvPr/>
        </p:nvSpPr>
        <p:spPr>
          <a:xfrm rot="0">
            <a:off x="783750" y="6891126"/>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3" action="ppaction://hlinksldjump"/>
              </a:rPr>
              <a:t>3.3. Asambleas                                                                                                                                     31</a:t>
            </a:r>
          </a:p>
        </p:txBody>
      </p:sp>
      <p:sp>
        <p:nvSpPr>
          <p:cNvPr name="TextBox 32" id="32"/>
          <p:cNvSpPr txBox="true"/>
          <p:nvPr/>
        </p:nvSpPr>
        <p:spPr>
          <a:xfrm rot="0">
            <a:off x="783750" y="7148324"/>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4" action="ppaction://hlinksldjump"/>
              </a:rPr>
              <a:t>3.4. Comité de Administración                                                                                                       33</a:t>
            </a:r>
          </a:p>
        </p:txBody>
      </p:sp>
      <p:sp>
        <p:nvSpPr>
          <p:cNvPr name="TextBox 33" id="33"/>
          <p:cNvSpPr txBox="true"/>
          <p:nvPr/>
        </p:nvSpPr>
        <p:spPr>
          <a:xfrm rot="0">
            <a:off x="783750" y="7405521"/>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5" action="ppaction://hlinksldjump"/>
              </a:rPr>
              <a:t>3.5. Reglamento de Copropiedad                                                                                                 34</a:t>
            </a:r>
          </a:p>
        </p:txBody>
      </p:sp>
      <p:sp>
        <p:nvSpPr>
          <p:cNvPr name="TextBox 34" id="34"/>
          <p:cNvSpPr txBox="true"/>
          <p:nvPr/>
        </p:nvSpPr>
        <p:spPr>
          <a:xfrm rot="0">
            <a:off x="783750" y="7662719"/>
            <a:ext cx="5494209"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6" action="ppaction://hlinksldjump"/>
              </a:rPr>
              <a:t>3.6. Gastos comunes                                                                                                                         36</a:t>
            </a:r>
          </a:p>
        </p:txBody>
      </p:sp>
      <p:sp>
        <p:nvSpPr>
          <p:cNvPr name="TextBox 35" id="35"/>
          <p:cNvSpPr txBox="true"/>
          <p:nvPr/>
        </p:nvSpPr>
        <p:spPr>
          <a:xfrm rot="0">
            <a:off x="786243" y="8669136"/>
            <a:ext cx="5489224" cy="232410"/>
          </a:xfrm>
          <a:prstGeom prst="rect">
            <a:avLst/>
          </a:prstGeom>
        </p:spPr>
        <p:txBody>
          <a:bodyPr anchor="t" rtlCol="false" tIns="0" lIns="0" bIns="0" rIns="0">
            <a:spAutoFit/>
          </a:bodyPr>
          <a:lstStyle/>
          <a:p>
            <a:pPr algn="l">
              <a:lnSpc>
                <a:spcPts val="2069"/>
              </a:lnSpc>
            </a:pPr>
            <a:r>
              <a:rPr lang="en-US" sz="999">
                <a:solidFill>
                  <a:srgbClr val="222525"/>
                </a:solidFill>
                <a:latin typeface="Montserrat"/>
                <a:ea typeface="Montserrat"/>
                <a:cs typeface="Montserrat"/>
                <a:sym typeface="Montserrat"/>
                <a:hlinkClick r:id="rId17" action="ppaction://hlinksldjump"/>
              </a:rPr>
              <a:t>4.2 Seguridad comunitarias                                                                                                           45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7602252"/>
            <a:ext cx="4809708" cy="1729442"/>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a:t>
            </a:r>
          </a:p>
          <a:p>
            <a:pPr algn="l">
              <a:lnSpc>
                <a:spcPts val="6758"/>
              </a:lnSpc>
            </a:pPr>
            <a:r>
              <a:rPr lang="en-US" sz="6376">
                <a:solidFill>
                  <a:srgbClr val="222525"/>
                </a:solidFill>
                <a:latin typeface="DM Serif Display"/>
                <a:ea typeface="DM Serif Display"/>
                <a:cs typeface="DM Serif Display"/>
                <a:sym typeface="DM Serif Display"/>
              </a:rPr>
              <a:t>Introducción</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6" id="6"/>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sp>
        <p:nvSpPr>
          <p:cNvPr name="TextBox 7" id="7"/>
          <p:cNvSpPr txBox="true"/>
          <p:nvPr/>
        </p:nvSpPr>
        <p:spPr>
          <a:xfrm rot="0">
            <a:off x="589521" y="1660589"/>
            <a:ext cx="6048000" cy="698500"/>
          </a:xfrm>
          <a:prstGeom prst="rect">
            <a:avLst/>
          </a:prstGeom>
        </p:spPr>
        <p:txBody>
          <a:bodyPr anchor="t" rtlCol="false" tIns="0" lIns="0" bIns="0" rIns="0">
            <a:spAutoFit/>
          </a:bodyPr>
          <a:lstStyle/>
          <a:p>
            <a:pPr algn="l">
              <a:lnSpc>
                <a:spcPts val="5300"/>
              </a:lnSpc>
            </a:pPr>
            <a:r>
              <a:rPr lang="en-US" sz="5000">
                <a:solidFill>
                  <a:srgbClr val="222525"/>
                </a:solidFill>
                <a:latin typeface="DM Serif Display"/>
                <a:ea typeface="DM Serif Display"/>
                <a:cs typeface="DM Serif Display"/>
                <a:sym typeface="DM Serif Display"/>
              </a:rPr>
              <a:t>0.Introducción </a:t>
            </a:r>
          </a:p>
        </p:txBody>
      </p:sp>
      <p:sp>
        <p:nvSpPr>
          <p:cNvPr name="TextBox 8" id="8"/>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04</a:t>
            </a:r>
          </a:p>
        </p:txBody>
      </p:sp>
      <p:sp>
        <p:nvSpPr>
          <p:cNvPr name="TextBox 10" id="10"/>
          <p:cNvSpPr txBox="true"/>
          <p:nvPr/>
        </p:nvSpPr>
        <p:spPr>
          <a:xfrm rot="0">
            <a:off x="589521" y="3328147"/>
            <a:ext cx="2912631" cy="5998944"/>
          </a:xfrm>
          <a:prstGeom prst="rect">
            <a:avLst/>
          </a:prstGeom>
        </p:spPr>
        <p:txBody>
          <a:bodyPr anchor="t" rtlCol="false" tIns="0" lIns="0" bIns="0" rIns="0">
            <a:spAutoFit/>
          </a:bodyPr>
          <a:lstStyle/>
          <a:p>
            <a:pPr algn="l">
              <a:lnSpc>
                <a:spcPts val="2236"/>
              </a:lnSpc>
            </a:pPr>
            <a:r>
              <a:rPr lang="en-US" sz="1398" b="true">
                <a:solidFill>
                  <a:srgbClr val="000000"/>
                </a:solidFill>
                <a:latin typeface="Montserrat Bold"/>
                <a:ea typeface="Montserrat Bold"/>
                <a:cs typeface="Montserrat Bold"/>
                <a:sym typeface="Montserrat Bold"/>
              </a:rPr>
              <a:t>A.  ¿Qué es el Plan de Integración Social? (PIS)</a:t>
            </a:r>
          </a:p>
          <a:p>
            <a:pPr algn="l">
              <a:lnSpc>
                <a:spcPts val="2076"/>
              </a:lnSpc>
            </a:pPr>
          </a:p>
          <a:p>
            <a:pPr algn="l">
              <a:lnSpc>
                <a:spcPts val="2076"/>
              </a:lnSpc>
            </a:pPr>
            <a:r>
              <a:rPr lang="en-US" sz="1298">
                <a:solidFill>
                  <a:srgbClr val="122424"/>
                </a:solidFill>
                <a:latin typeface="Montserrat"/>
                <a:ea typeface="Montserrat"/>
                <a:cs typeface="Montserrat"/>
                <a:sym typeface="Montserrat"/>
              </a:rPr>
              <a:t>Es un conjunto de actividades exigidas por SERVIU para entregar apoyo a las personas y familias beneficiarias del Subsidio Habitacional regulado por el D.S.19 donde se entrega información y asesoría en materia de derechos y deberes como propietarios /as. </a:t>
            </a:r>
          </a:p>
          <a:p>
            <a:pPr algn="l">
              <a:lnSpc>
                <a:spcPts val="2076"/>
              </a:lnSpc>
            </a:pPr>
          </a:p>
          <a:p>
            <a:pPr algn="l">
              <a:lnSpc>
                <a:spcPts val="2076"/>
              </a:lnSpc>
            </a:pPr>
          </a:p>
          <a:p>
            <a:pPr algn="l">
              <a:lnSpc>
                <a:spcPts val="2236"/>
              </a:lnSpc>
            </a:pPr>
            <a:r>
              <a:rPr lang="en-US" sz="1398">
                <a:solidFill>
                  <a:srgbClr val="000000"/>
                </a:solidFill>
                <a:latin typeface="Montserrat"/>
                <a:ea typeface="Montserrat"/>
                <a:cs typeface="Montserrat"/>
                <a:sym typeface="Montserrat"/>
              </a:rPr>
              <a:t>B. </a:t>
            </a:r>
            <a:r>
              <a:rPr lang="en-US" sz="1398" b="true">
                <a:solidFill>
                  <a:srgbClr val="000000"/>
                </a:solidFill>
                <a:latin typeface="Montserrat Bold"/>
                <a:ea typeface="Montserrat Bold"/>
                <a:cs typeface="Montserrat Bold"/>
                <a:sym typeface="Montserrat Bold"/>
              </a:rPr>
              <a:t>¿De qué manera se entrega apoyo a las personas beneficiarias del subsidio?</a:t>
            </a:r>
          </a:p>
          <a:p>
            <a:pPr algn="l">
              <a:lnSpc>
                <a:spcPts val="2076"/>
              </a:lnSpc>
            </a:pPr>
          </a:p>
          <a:p>
            <a:pPr algn="l">
              <a:lnSpc>
                <a:spcPts val="2076"/>
              </a:lnSpc>
            </a:pPr>
            <a:r>
              <a:rPr lang="en-US" sz="1298">
                <a:solidFill>
                  <a:srgbClr val="122424"/>
                </a:solidFill>
                <a:latin typeface="Montserrat"/>
                <a:ea typeface="Montserrat"/>
                <a:cs typeface="Montserrat"/>
                <a:sym typeface="Montserrat"/>
              </a:rPr>
              <a:t>Se entrega información y asesoría en materia de derechos y deberes como copropietarios/as, y se realiza acompañamiento en el proceso de integración de su nuevo barrio.</a:t>
            </a:r>
          </a:p>
          <a:p>
            <a:pPr algn="l">
              <a:lnSpc>
                <a:spcPts val="2076"/>
              </a:lnSpc>
            </a:pPr>
          </a:p>
        </p:txBody>
      </p:sp>
      <p:sp>
        <p:nvSpPr>
          <p:cNvPr name="TextBox 11" id="11"/>
          <p:cNvSpPr txBox="true"/>
          <p:nvPr/>
        </p:nvSpPr>
        <p:spPr>
          <a:xfrm rot="0">
            <a:off x="3940898" y="3328147"/>
            <a:ext cx="2863102" cy="6713220"/>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C. ¿Cuáles son sus objetivos?</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Entregar información y asesoría en diferentes materias.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Promover el cuidado de los espacios comunes y de viviendas.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Apoyar a las personas y familias beneficiarias del subsidio.</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Fomentar la sana convivencia</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Fortalecer la organización comunitaria.</a:t>
            </a:r>
          </a:p>
          <a:p>
            <a:pPr algn="l">
              <a:lnSpc>
                <a:spcPts val="2080"/>
              </a:lnSpc>
            </a:pPr>
          </a:p>
          <a:p>
            <a:pPr algn="l">
              <a:lnSpc>
                <a:spcPts val="2240"/>
              </a:lnSpc>
            </a:pPr>
            <a:r>
              <a:rPr lang="en-US" sz="1400">
                <a:solidFill>
                  <a:srgbClr val="222525"/>
                </a:solidFill>
                <a:latin typeface="Montserrat"/>
                <a:ea typeface="Montserrat"/>
                <a:cs typeface="Montserrat"/>
                <a:sym typeface="Montserrat"/>
              </a:rPr>
              <a:t>D.</a:t>
            </a:r>
            <a:r>
              <a:rPr lang="en-US" sz="1400" b="true">
                <a:solidFill>
                  <a:srgbClr val="000000"/>
                </a:solidFill>
                <a:latin typeface="Montserrat Bold"/>
                <a:ea typeface="Montserrat Bold"/>
                <a:cs typeface="Montserrat Bold"/>
                <a:sym typeface="Montserrat Bold"/>
              </a:rPr>
              <a:t> ¿Quién lo implementa?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En este caso, la inmobiliaria ha designado a </a:t>
            </a:r>
            <a:r>
              <a:rPr lang="en-US" sz="1300" b="true">
                <a:solidFill>
                  <a:srgbClr val="122424"/>
                </a:solidFill>
                <a:latin typeface="Montserrat Bold"/>
                <a:ea typeface="Montserrat Bold"/>
                <a:cs typeface="Montserrat Bold"/>
                <a:sym typeface="Montserrat Bold"/>
              </a:rPr>
              <a:t>Equidad Urbana Consultora</a:t>
            </a:r>
            <a:r>
              <a:rPr lang="en-US" sz="1300">
                <a:solidFill>
                  <a:srgbClr val="122424"/>
                </a:solidFill>
                <a:latin typeface="Montserrat"/>
                <a:ea typeface="Montserrat"/>
                <a:cs typeface="Montserrat"/>
                <a:sym typeface="Montserrat"/>
              </a:rPr>
              <a:t> para llevar a cabo dicho plan, contando con un equipo especializado en trabajo vecinal y consolidación de barrios. </a:t>
            </a:r>
          </a:p>
          <a:p>
            <a:pPr algn="l">
              <a:lnSpc>
                <a:spcPts val="2080"/>
              </a:lnSpc>
            </a:pPr>
          </a:p>
          <a:p>
            <a:pPr algn="l">
              <a:lnSpc>
                <a:spcPts val="2080"/>
              </a:lnSpc>
            </a:pPr>
          </a:p>
          <a:p>
            <a:pPr algn="l">
              <a:lnSpc>
                <a:spcPts val="2080"/>
              </a:lnSpc>
            </a:pPr>
          </a:p>
        </p:txBody>
      </p:sp>
      <p:sp>
        <p:nvSpPr>
          <p:cNvPr name="TextBox 12" id="12"/>
          <p:cNvSpPr txBox="true"/>
          <p:nvPr/>
        </p:nvSpPr>
        <p:spPr>
          <a:xfrm rot="0">
            <a:off x="606923" y="2574527"/>
            <a:ext cx="2895229" cy="538182"/>
          </a:xfrm>
          <a:prstGeom prst="rect">
            <a:avLst/>
          </a:prstGeom>
        </p:spPr>
        <p:txBody>
          <a:bodyPr anchor="t" rtlCol="false" tIns="0" lIns="0" bIns="0" rIns="0">
            <a:spAutoFit/>
          </a:bodyPr>
          <a:lstStyle/>
          <a:p>
            <a:pPr algn="l">
              <a:lnSpc>
                <a:spcPts val="2240"/>
              </a:lnSpc>
            </a:pPr>
            <a:r>
              <a:rPr lang="en-US" b="true" sz="1400" i="true">
                <a:solidFill>
                  <a:srgbClr val="03989E"/>
                </a:solidFill>
                <a:latin typeface="Montserrat Semi-Bold Bold Italics"/>
                <a:ea typeface="Montserrat Semi-Bold Bold Italics"/>
                <a:cs typeface="Montserrat Semi-Bold Bold Italics"/>
                <a:sym typeface="Montserrat Semi-Bold Bold Italics"/>
              </a:rPr>
              <a:t>0.1 Introducción Plan de Integración Social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6" id="6"/>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sp>
        <p:nvSpPr>
          <p:cNvPr name="Freeform 7" id="7"/>
          <p:cNvSpPr/>
          <p:nvPr/>
        </p:nvSpPr>
        <p:spPr>
          <a:xfrm flipH="false" flipV="false" rot="0">
            <a:off x="3924062" y="4826965"/>
            <a:ext cx="2713459" cy="2817955"/>
          </a:xfrm>
          <a:custGeom>
            <a:avLst/>
            <a:gdLst/>
            <a:ahLst/>
            <a:cxnLst/>
            <a:rect r="r" b="b" t="t" l="l"/>
            <a:pathLst>
              <a:path h="2817955" w="2713459">
                <a:moveTo>
                  <a:pt x="0" y="0"/>
                </a:moveTo>
                <a:lnTo>
                  <a:pt x="2713459" y="0"/>
                </a:lnTo>
                <a:lnTo>
                  <a:pt x="2713459" y="2817956"/>
                </a:lnTo>
                <a:lnTo>
                  <a:pt x="0" y="2817956"/>
                </a:lnTo>
                <a:lnTo>
                  <a:pt x="0" y="0"/>
                </a:lnTo>
                <a:close/>
              </a:path>
            </a:pathLst>
          </a:custGeom>
          <a:blipFill>
            <a:blip r:embed="rId5"/>
            <a:stretch>
              <a:fillRect l="-31945" t="-4944" r="-13369" b="0"/>
            </a:stretch>
          </a:blipFill>
        </p:spPr>
      </p:sp>
      <p:sp>
        <p:nvSpPr>
          <p:cNvPr name="Freeform 8" id="8"/>
          <p:cNvSpPr/>
          <p:nvPr/>
        </p:nvSpPr>
        <p:spPr>
          <a:xfrm flipH="false" flipV="false" rot="0">
            <a:off x="1887230" y="7751515"/>
            <a:ext cx="1892770" cy="1847497"/>
          </a:xfrm>
          <a:custGeom>
            <a:avLst/>
            <a:gdLst/>
            <a:ahLst/>
            <a:cxnLst/>
            <a:rect r="r" b="b" t="t" l="l"/>
            <a:pathLst>
              <a:path h="1847497" w="1892770">
                <a:moveTo>
                  <a:pt x="0" y="0"/>
                </a:moveTo>
                <a:lnTo>
                  <a:pt x="1892770" y="0"/>
                </a:lnTo>
                <a:lnTo>
                  <a:pt x="1892770" y="1847496"/>
                </a:lnTo>
                <a:lnTo>
                  <a:pt x="0" y="1847496"/>
                </a:lnTo>
                <a:lnTo>
                  <a:pt x="0" y="0"/>
                </a:lnTo>
                <a:close/>
              </a:path>
            </a:pathLst>
          </a:custGeom>
          <a:blipFill>
            <a:blip r:embed="rId6"/>
            <a:stretch>
              <a:fillRect l="0" t="0" r="-30158" b="-10"/>
            </a:stretch>
          </a:blipFill>
        </p:spPr>
      </p:sp>
      <p:sp>
        <p:nvSpPr>
          <p:cNvPr name="Freeform 9" id="9"/>
          <p:cNvSpPr/>
          <p:nvPr/>
        </p:nvSpPr>
        <p:spPr>
          <a:xfrm flipH="false" flipV="false" rot="0">
            <a:off x="486491" y="4826965"/>
            <a:ext cx="3293509" cy="2828666"/>
          </a:xfrm>
          <a:custGeom>
            <a:avLst/>
            <a:gdLst/>
            <a:ahLst/>
            <a:cxnLst/>
            <a:rect r="r" b="b" t="t" l="l"/>
            <a:pathLst>
              <a:path h="2828666" w="3293509">
                <a:moveTo>
                  <a:pt x="0" y="0"/>
                </a:moveTo>
                <a:lnTo>
                  <a:pt x="3293509" y="0"/>
                </a:lnTo>
                <a:lnTo>
                  <a:pt x="3293509" y="2828666"/>
                </a:lnTo>
                <a:lnTo>
                  <a:pt x="0" y="2828666"/>
                </a:lnTo>
                <a:lnTo>
                  <a:pt x="0" y="0"/>
                </a:lnTo>
                <a:close/>
              </a:path>
            </a:pathLst>
          </a:custGeom>
          <a:blipFill>
            <a:blip r:embed="rId7"/>
            <a:stretch>
              <a:fillRect l="-3078" t="0" r="-16643" b="-4547"/>
            </a:stretch>
          </a:blipFill>
        </p:spPr>
      </p:sp>
      <p:sp>
        <p:nvSpPr>
          <p:cNvPr name="Freeform 10" id="10"/>
          <p:cNvSpPr/>
          <p:nvPr/>
        </p:nvSpPr>
        <p:spPr>
          <a:xfrm flipH="false" flipV="false" rot="0">
            <a:off x="486491" y="7751515"/>
            <a:ext cx="1275266" cy="1851567"/>
          </a:xfrm>
          <a:custGeom>
            <a:avLst/>
            <a:gdLst/>
            <a:ahLst/>
            <a:cxnLst/>
            <a:rect r="r" b="b" t="t" l="l"/>
            <a:pathLst>
              <a:path h="1851567" w="1275266">
                <a:moveTo>
                  <a:pt x="0" y="0"/>
                </a:moveTo>
                <a:lnTo>
                  <a:pt x="1275266" y="0"/>
                </a:lnTo>
                <a:lnTo>
                  <a:pt x="1275266" y="1851567"/>
                </a:lnTo>
                <a:lnTo>
                  <a:pt x="0" y="1851567"/>
                </a:lnTo>
                <a:lnTo>
                  <a:pt x="0" y="0"/>
                </a:lnTo>
                <a:close/>
              </a:path>
            </a:pathLst>
          </a:custGeom>
          <a:blipFill>
            <a:blip r:embed="rId8"/>
            <a:stretch>
              <a:fillRect l="0" t="0" r="-8892" b="0"/>
            </a:stretch>
          </a:blipFill>
        </p:spPr>
      </p:sp>
      <p:sp>
        <p:nvSpPr>
          <p:cNvPr name="Freeform 11" id="11"/>
          <p:cNvSpPr/>
          <p:nvPr/>
        </p:nvSpPr>
        <p:spPr>
          <a:xfrm flipH="false" flipV="false" rot="0">
            <a:off x="3903825" y="7746080"/>
            <a:ext cx="2733696" cy="1852932"/>
          </a:xfrm>
          <a:custGeom>
            <a:avLst/>
            <a:gdLst/>
            <a:ahLst/>
            <a:cxnLst/>
            <a:rect r="r" b="b" t="t" l="l"/>
            <a:pathLst>
              <a:path h="1852932" w="2733696">
                <a:moveTo>
                  <a:pt x="0" y="0"/>
                </a:moveTo>
                <a:lnTo>
                  <a:pt x="2733696" y="0"/>
                </a:lnTo>
                <a:lnTo>
                  <a:pt x="2733696" y="1852931"/>
                </a:lnTo>
                <a:lnTo>
                  <a:pt x="0" y="1852931"/>
                </a:lnTo>
                <a:lnTo>
                  <a:pt x="0" y="0"/>
                </a:lnTo>
                <a:close/>
              </a:path>
            </a:pathLst>
          </a:custGeom>
          <a:blipFill>
            <a:blip r:embed="rId9"/>
            <a:stretch>
              <a:fillRect l="-6845" t="-3546" r="0" b="-1542"/>
            </a:stretch>
          </a:blipFill>
        </p:spPr>
      </p:sp>
      <p:sp>
        <p:nvSpPr>
          <p:cNvPr name="TextBox 12" id="12"/>
          <p:cNvSpPr txBox="true"/>
          <p:nvPr/>
        </p:nvSpPr>
        <p:spPr>
          <a:xfrm rot="0">
            <a:off x="589521" y="1825615"/>
            <a:ext cx="2934541" cy="2854727"/>
          </a:xfrm>
          <a:prstGeom prst="rect">
            <a:avLst/>
          </a:prstGeom>
        </p:spPr>
        <p:txBody>
          <a:bodyPr anchor="t" rtlCol="false" tIns="0" lIns="0" bIns="0" rIns="0">
            <a:spAutoFit/>
          </a:bodyPr>
          <a:lstStyle/>
          <a:p>
            <a:pPr algn="l">
              <a:lnSpc>
                <a:spcPts val="2236"/>
              </a:lnSpc>
            </a:pPr>
            <a:r>
              <a:rPr lang="en-US" sz="1398" b="true">
                <a:solidFill>
                  <a:srgbClr val="000000"/>
                </a:solidFill>
                <a:latin typeface="Montserrat Bold"/>
                <a:ea typeface="Montserrat Bold"/>
                <a:cs typeface="Montserrat Bold"/>
                <a:sym typeface="Montserrat Bold"/>
              </a:rPr>
              <a:t>A. ¿Cuáles son las actividades del Plan de Integración Social?</a:t>
            </a:r>
          </a:p>
          <a:p>
            <a:pPr algn="l">
              <a:lnSpc>
                <a:spcPts val="2076"/>
              </a:lnSpc>
            </a:pPr>
          </a:p>
          <a:p>
            <a:pPr algn="l">
              <a:lnSpc>
                <a:spcPts val="2076"/>
              </a:lnSpc>
            </a:pPr>
            <a:r>
              <a:rPr lang="en-US" sz="1298">
                <a:solidFill>
                  <a:srgbClr val="122424"/>
                </a:solidFill>
                <a:latin typeface="Montserrat"/>
                <a:ea typeface="Montserrat"/>
                <a:cs typeface="Montserrat"/>
                <a:sym typeface="Montserrat"/>
              </a:rPr>
              <a:t>El Plan de Integración Social consta de </a:t>
            </a:r>
            <a:r>
              <a:rPr lang="en-US" sz="1298" b="true">
                <a:solidFill>
                  <a:srgbClr val="000000"/>
                </a:solidFill>
                <a:latin typeface="Montserrat Bold"/>
                <a:ea typeface="Montserrat Bold"/>
                <a:cs typeface="Montserrat Bold"/>
                <a:sym typeface="Montserrat Bold"/>
              </a:rPr>
              <a:t>5 </a:t>
            </a:r>
            <a:r>
              <a:rPr lang="en-US" sz="1298">
                <a:solidFill>
                  <a:srgbClr val="122424"/>
                </a:solidFill>
                <a:latin typeface="Montserrat"/>
                <a:ea typeface="Montserrat"/>
                <a:cs typeface="Montserrat"/>
                <a:sym typeface="Montserrat"/>
              </a:rPr>
              <a:t>actividades en total en las cuales se abordan diferentes temáticas y se brindan orientaciones según el tema revisado. Las actividades son:</a:t>
            </a:r>
          </a:p>
          <a:p>
            <a:pPr algn="l">
              <a:lnSpc>
                <a:spcPts val="2076"/>
              </a:lnSpc>
            </a:pPr>
          </a:p>
          <a:p>
            <a:pPr algn="l">
              <a:lnSpc>
                <a:spcPts val="2076"/>
              </a:lnSpc>
            </a:pPr>
          </a:p>
        </p:txBody>
      </p:sp>
      <p:sp>
        <p:nvSpPr>
          <p:cNvPr name="TextBox 13" id="13"/>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4" id="14"/>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05</a:t>
            </a:r>
          </a:p>
        </p:txBody>
      </p:sp>
      <p:sp>
        <p:nvSpPr>
          <p:cNvPr name="TextBox 15" id="15"/>
          <p:cNvSpPr txBox="true"/>
          <p:nvPr/>
        </p:nvSpPr>
        <p:spPr>
          <a:xfrm rot="0">
            <a:off x="3870332" y="1825615"/>
            <a:ext cx="2863102" cy="2083326"/>
          </a:xfrm>
          <a:prstGeom prst="rect">
            <a:avLst/>
          </a:prstGeom>
        </p:spPr>
        <p:txBody>
          <a:bodyPr anchor="t" rtlCol="false" tIns="0" lIns="0" bIns="0" rIns="0">
            <a:spAutoFit/>
          </a:bodyPr>
          <a:lstStyle/>
          <a:p>
            <a:pPr algn="l">
              <a:lnSpc>
                <a:spcPts val="2240"/>
              </a:lnSpc>
            </a:pPr>
            <a:r>
              <a:rPr lang="en-US" sz="1400" i="true" b="true">
                <a:solidFill>
                  <a:srgbClr val="122424"/>
                </a:solidFill>
                <a:latin typeface="Montserrat Bold Italics"/>
                <a:ea typeface="Montserrat Bold Italics"/>
                <a:cs typeface="Montserrat Bold Italics"/>
                <a:sym typeface="Montserrat Bold Italics"/>
              </a:rPr>
              <a:t> 1) Visita a la obra:</a:t>
            </a:r>
          </a:p>
          <a:p>
            <a:pPr algn="l">
              <a:lnSpc>
                <a:spcPts val="2240"/>
              </a:lnSpc>
            </a:pPr>
          </a:p>
          <a:p>
            <a:pPr algn="l">
              <a:lnSpc>
                <a:spcPts val="2079"/>
              </a:lnSpc>
            </a:pPr>
            <a:r>
              <a:rPr lang="en-US" sz="1299">
                <a:solidFill>
                  <a:srgbClr val="122424"/>
                </a:solidFill>
                <a:latin typeface="Montserrat"/>
                <a:ea typeface="Montserrat"/>
                <a:cs typeface="Montserrat"/>
                <a:sym typeface="Montserrat"/>
              </a:rPr>
              <a:t>El objetivo de esta instancia es revisar los avances del proceso de construcción, características de las viviendas y de los espacios comunes.</a:t>
            </a:r>
          </a:p>
          <a:p>
            <a:pPr algn="l">
              <a:lnSpc>
                <a:spcPts val="2079"/>
              </a:lnSpc>
            </a:pPr>
          </a:p>
        </p:txBody>
      </p:sp>
      <p:sp>
        <p:nvSpPr>
          <p:cNvPr name="TextBox 16" id="16"/>
          <p:cNvSpPr txBox="true"/>
          <p:nvPr/>
        </p:nvSpPr>
        <p:spPr>
          <a:xfrm rot="0">
            <a:off x="589521" y="1411109"/>
            <a:ext cx="3173077" cy="262106"/>
          </a:xfrm>
          <a:prstGeom prst="rect">
            <a:avLst/>
          </a:prstGeom>
        </p:spPr>
        <p:txBody>
          <a:bodyPr anchor="t" rtlCol="false" tIns="0" lIns="0" bIns="0" rIns="0">
            <a:spAutoFit/>
          </a:bodyPr>
          <a:lstStyle/>
          <a:p>
            <a:pPr algn="l">
              <a:lnSpc>
                <a:spcPts val="2240"/>
              </a:lnSpc>
            </a:pPr>
            <a:r>
              <a:rPr lang="en-US" b="true" sz="1400" i="true">
                <a:solidFill>
                  <a:srgbClr val="03989E"/>
                </a:solidFill>
                <a:latin typeface="Montserrat Semi-Bold Bold Italics"/>
                <a:ea typeface="Montserrat Semi-Bold Bold Italics"/>
                <a:cs typeface="Montserrat Semi-Bold Bold Italics"/>
                <a:sym typeface="Montserrat Semi-Bold Bold Italics"/>
              </a:rPr>
              <a:t>0.2. Actividades del PIS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6" id="6"/>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grpSp>
        <p:nvGrpSpPr>
          <p:cNvPr name="Group 7" id="7"/>
          <p:cNvGrpSpPr/>
          <p:nvPr/>
        </p:nvGrpSpPr>
        <p:grpSpPr>
          <a:xfrm rot="0">
            <a:off x="603915" y="4901932"/>
            <a:ext cx="2912631" cy="4136006"/>
            <a:chOff x="0" y="0"/>
            <a:chExt cx="3883508" cy="5514675"/>
          </a:xfrm>
        </p:grpSpPr>
        <p:pic>
          <p:nvPicPr>
            <p:cNvPr name="Picture 8" id="8"/>
            <p:cNvPicPr>
              <a:picLocks noChangeAspect="true"/>
            </p:cNvPicPr>
            <p:nvPr/>
          </p:nvPicPr>
          <p:blipFill>
            <a:blip r:embed="rId5"/>
            <a:srcRect l="15387" t="0" r="31796" b="0"/>
            <a:stretch>
              <a:fillRect/>
            </a:stretch>
          </p:blipFill>
          <p:spPr>
            <a:xfrm flipH="false" flipV="false">
              <a:off x="0" y="0"/>
              <a:ext cx="3883508" cy="5514675"/>
            </a:xfrm>
            <a:prstGeom prst="rect">
              <a:avLst/>
            </a:prstGeom>
          </p:spPr>
        </p:pic>
      </p:grpSp>
      <p:sp>
        <p:nvSpPr>
          <p:cNvPr name="Freeform 9" id="9"/>
          <p:cNvSpPr/>
          <p:nvPr/>
        </p:nvSpPr>
        <p:spPr>
          <a:xfrm flipH="false" flipV="false" rot="0">
            <a:off x="3705091" y="4901932"/>
            <a:ext cx="2932430" cy="2315963"/>
          </a:xfrm>
          <a:custGeom>
            <a:avLst/>
            <a:gdLst/>
            <a:ahLst/>
            <a:cxnLst/>
            <a:rect r="r" b="b" t="t" l="l"/>
            <a:pathLst>
              <a:path h="2315963" w="2932430">
                <a:moveTo>
                  <a:pt x="0" y="0"/>
                </a:moveTo>
                <a:lnTo>
                  <a:pt x="2932430" y="0"/>
                </a:lnTo>
                <a:lnTo>
                  <a:pt x="2932430" y="2315963"/>
                </a:lnTo>
                <a:lnTo>
                  <a:pt x="0" y="2315963"/>
                </a:lnTo>
                <a:lnTo>
                  <a:pt x="0" y="0"/>
                </a:lnTo>
                <a:close/>
              </a:path>
            </a:pathLst>
          </a:custGeom>
          <a:blipFill>
            <a:blip r:embed="rId6"/>
            <a:stretch>
              <a:fillRect l="-4725" t="-3572" r="-17972" b="0"/>
            </a:stretch>
          </a:blipFill>
        </p:spPr>
      </p:sp>
      <p:sp>
        <p:nvSpPr>
          <p:cNvPr name="Freeform 10" id="10"/>
          <p:cNvSpPr/>
          <p:nvPr/>
        </p:nvSpPr>
        <p:spPr>
          <a:xfrm flipH="false" flipV="false" rot="0">
            <a:off x="3705091" y="7310669"/>
            <a:ext cx="2932430" cy="1727269"/>
          </a:xfrm>
          <a:custGeom>
            <a:avLst/>
            <a:gdLst/>
            <a:ahLst/>
            <a:cxnLst/>
            <a:rect r="r" b="b" t="t" l="l"/>
            <a:pathLst>
              <a:path h="1727269" w="2932430">
                <a:moveTo>
                  <a:pt x="0" y="0"/>
                </a:moveTo>
                <a:lnTo>
                  <a:pt x="2932430" y="0"/>
                </a:lnTo>
                <a:lnTo>
                  <a:pt x="2932430" y="1727269"/>
                </a:lnTo>
                <a:lnTo>
                  <a:pt x="0" y="1727269"/>
                </a:lnTo>
                <a:lnTo>
                  <a:pt x="0" y="0"/>
                </a:lnTo>
                <a:close/>
              </a:path>
            </a:pathLst>
          </a:custGeom>
          <a:blipFill>
            <a:blip r:embed="rId7"/>
            <a:stretch>
              <a:fillRect l="0" t="-34028" r="-14278" b="-11481"/>
            </a:stretch>
          </a:blipFill>
        </p:spPr>
      </p:sp>
      <p:sp>
        <p:nvSpPr>
          <p:cNvPr name="TextBox 11" id="11"/>
          <p:cNvSpPr txBox="true"/>
          <p:nvPr/>
        </p:nvSpPr>
        <p:spPr>
          <a:xfrm rot="0">
            <a:off x="603915" y="1825615"/>
            <a:ext cx="3170504" cy="1350075"/>
          </a:xfrm>
          <a:prstGeom prst="rect">
            <a:avLst/>
          </a:prstGeom>
        </p:spPr>
        <p:txBody>
          <a:bodyPr anchor="t" rtlCol="false" tIns="0" lIns="0" bIns="0" rIns="0">
            <a:spAutoFit/>
          </a:bodyPr>
          <a:lstStyle/>
          <a:p>
            <a:pPr algn="l">
              <a:lnSpc>
                <a:spcPts val="2236"/>
              </a:lnSpc>
            </a:pPr>
            <a:r>
              <a:rPr lang="en-US" sz="1398" i="true" b="true">
                <a:solidFill>
                  <a:srgbClr val="000000"/>
                </a:solidFill>
                <a:latin typeface="Montserrat Bold Italics"/>
                <a:ea typeface="Montserrat Bold Italics"/>
                <a:cs typeface="Montserrat Bold Italics"/>
                <a:sym typeface="Montserrat Bold Italics"/>
              </a:rPr>
              <a:t>2) Uso, cuidado y mantención de las viviendas y de los espacios comunes:</a:t>
            </a:r>
          </a:p>
          <a:p>
            <a:pPr algn="l">
              <a:lnSpc>
                <a:spcPts val="2236"/>
              </a:lnSpc>
            </a:pPr>
          </a:p>
          <a:p>
            <a:pPr algn="l">
              <a:lnSpc>
                <a:spcPts val="2076"/>
              </a:lnSpc>
            </a:pPr>
          </a:p>
        </p:txBody>
      </p:sp>
      <p:sp>
        <p:nvSpPr>
          <p:cNvPr name="TextBox 12" id="12"/>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3" id="13"/>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06</a:t>
            </a:r>
          </a:p>
        </p:txBody>
      </p:sp>
      <p:sp>
        <p:nvSpPr>
          <p:cNvPr name="TextBox 14" id="14"/>
          <p:cNvSpPr txBox="true"/>
          <p:nvPr/>
        </p:nvSpPr>
        <p:spPr>
          <a:xfrm rot="0">
            <a:off x="3705091" y="2910472"/>
            <a:ext cx="2863102" cy="752887"/>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viviendas, como también el proceso de post-venta de la Inmobiliaria. </a:t>
            </a:r>
          </a:p>
        </p:txBody>
      </p:sp>
      <p:sp>
        <p:nvSpPr>
          <p:cNvPr name="TextBox 15" id="15"/>
          <p:cNvSpPr txBox="true"/>
          <p:nvPr/>
        </p:nvSpPr>
        <p:spPr>
          <a:xfrm rot="0">
            <a:off x="603915" y="2910472"/>
            <a:ext cx="2912631" cy="1781909"/>
          </a:xfrm>
          <a:prstGeom prst="rect">
            <a:avLst/>
          </a:prstGeom>
        </p:spPr>
        <p:txBody>
          <a:bodyPr anchor="t" rtlCol="false" tIns="0" lIns="0" bIns="0" rIns="0">
            <a:spAutoFit/>
          </a:bodyPr>
          <a:lstStyle/>
          <a:p>
            <a:pPr algn="l">
              <a:lnSpc>
                <a:spcPts val="2076"/>
              </a:lnSpc>
            </a:pPr>
            <a:r>
              <a:rPr lang="en-US" sz="1298">
                <a:solidFill>
                  <a:srgbClr val="122424"/>
                </a:solidFill>
                <a:latin typeface="Montserrat"/>
                <a:ea typeface="Montserrat"/>
                <a:cs typeface="Montserrat"/>
                <a:sym typeface="Montserrat"/>
              </a:rPr>
              <a:t>En esta instancia se brindan consejos para dar buen uso y cuidado de las viviendas como también de los espacios comunes.</a:t>
            </a:r>
          </a:p>
          <a:p>
            <a:pPr algn="l">
              <a:lnSpc>
                <a:spcPts val="2076"/>
              </a:lnSpc>
            </a:pPr>
            <a:r>
              <a:rPr lang="en-US" sz="1298">
                <a:solidFill>
                  <a:srgbClr val="122424"/>
                </a:solidFill>
                <a:latin typeface="Montserrat"/>
                <a:ea typeface="Montserrat"/>
                <a:cs typeface="Montserrat"/>
                <a:sym typeface="Montserrat"/>
              </a:rPr>
              <a:t>En esta actividad también se revisan las garantías legales de las</a:t>
            </a:r>
          </a:p>
          <a:p>
            <a:pPr algn="l">
              <a:lnSpc>
                <a:spcPts val="207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6" id="6"/>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grpSp>
        <p:nvGrpSpPr>
          <p:cNvPr name="Group 7" id="7"/>
          <p:cNvGrpSpPr/>
          <p:nvPr/>
        </p:nvGrpSpPr>
        <p:grpSpPr>
          <a:xfrm rot="0">
            <a:off x="3774419" y="4901932"/>
            <a:ext cx="2863102" cy="4093684"/>
            <a:chOff x="0" y="0"/>
            <a:chExt cx="3817469" cy="5458245"/>
          </a:xfrm>
        </p:grpSpPr>
        <p:pic>
          <p:nvPicPr>
            <p:cNvPr name="Picture 8" id="8"/>
            <p:cNvPicPr>
              <a:picLocks noChangeAspect="true"/>
            </p:cNvPicPr>
            <p:nvPr/>
          </p:nvPicPr>
          <p:blipFill>
            <a:blip r:embed="rId5"/>
            <a:srcRect l="3373" t="0" r="3373" b="0"/>
            <a:stretch>
              <a:fillRect/>
            </a:stretch>
          </p:blipFill>
          <p:spPr>
            <a:xfrm flipH="false" flipV="false">
              <a:off x="0" y="0"/>
              <a:ext cx="3817469" cy="5458245"/>
            </a:xfrm>
            <a:prstGeom prst="rect">
              <a:avLst/>
            </a:prstGeom>
          </p:spPr>
        </p:pic>
      </p:grpSp>
      <p:grpSp>
        <p:nvGrpSpPr>
          <p:cNvPr name="Group 9" id="9"/>
          <p:cNvGrpSpPr/>
          <p:nvPr/>
        </p:nvGrpSpPr>
        <p:grpSpPr>
          <a:xfrm rot="0">
            <a:off x="603915" y="4901932"/>
            <a:ext cx="2898236" cy="1789423"/>
            <a:chOff x="0" y="0"/>
            <a:chExt cx="3864315" cy="2385897"/>
          </a:xfrm>
        </p:grpSpPr>
        <p:pic>
          <p:nvPicPr>
            <p:cNvPr name="Picture 10" id="10"/>
            <p:cNvPicPr>
              <a:picLocks noChangeAspect="true"/>
            </p:cNvPicPr>
            <p:nvPr/>
          </p:nvPicPr>
          <p:blipFill>
            <a:blip r:embed="rId6"/>
            <a:srcRect l="0" t="8838" r="0" b="8838"/>
            <a:stretch>
              <a:fillRect/>
            </a:stretch>
          </p:blipFill>
          <p:spPr>
            <a:xfrm flipH="false" flipV="false">
              <a:off x="0" y="0"/>
              <a:ext cx="3864315" cy="2385897"/>
            </a:xfrm>
            <a:prstGeom prst="rect">
              <a:avLst/>
            </a:prstGeom>
          </p:spPr>
        </p:pic>
      </p:grpSp>
      <p:grpSp>
        <p:nvGrpSpPr>
          <p:cNvPr name="Group 11" id="11"/>
          <p:cNvGrpSpPr/>
          <p:nvPr/>
        </p:nvGrpSpPr>
        <p:grpSpPr>
          <a:xfrm rot="0">
            <a:off x="603915" y="6819631"/>
            <a:ext cx="2898236" cy="2175984"/>
            <a:chOff x="0" y="0"/>
            <a:chExt cx="3864315" cy="2901312"/>
          </a:xfrm>
        </p:grpSpPr>
        <p:pic>
          <p:nvPicPr>
            <p:cNvPr name="Picture 12" id="12"/>
            <p:cNvPicPr>
              <a:picLocks noChangeAspect="true"/>
            </p:cNvPicPr>
            <p:nvPr/>
          </p:nvPicPr>
          <p:blipFill>
            <a:blip r:embed="rId7"/>
            <a:srcRect l="53" t="0" r="53" b="0"/>
            <a:stretch>
              <a:fillRect/>
            </a:stretch>
          </p:blipFill>
          <p:spPr>
            <a:xfrm flipH="false" flipV="false">
              <a:off x="0" y="0"/>
              <a:ext cx="3864315" cy="2901312"/>
            </a:xfrm>
            <a:prstGeom prst="rect">
              <a:avLst/>
            </a:prstGeom>
          </p:spPr>
        </p:pic>
      </p:grpSp>
      <p:sp>
        <p:nvSpPr>
          <p:cNvPr name="TextBox 13" id="13"/>
          <p:cNvSpPr txBox="true"/>
          <p:nvPr/>
        </p:nvSpPr>
        <p:spPr>
          <a:xfrm rot="0">
            <a:off x="589521" y="1832815"/>
            <a:ext cx="2912631" cy="2340476"/>
          </a:xfrm>
          <a:prstGeom prst="rect">
            <a:avLst/>
          </a:prstGeom>
        </p:spPr>
        <p:txBody>
          <a:bodyPr anchor="t" rtlCol="false" tIns="0" lIns="0" bIns="0" rIns="0">
            <a:spAutoFit/>
          </a:bodyPr>
          <a:lstStyle/>
          <a:p>
            <a:pPr algn="l">
              <a:lnSpc>
                <a:spcPts val="2236"/>
              </a:lnSpc>
            </a:pPr>
            <a:r>
              <a:rPr lang="en-US" sz="1398" i="true" b="true">
                <a:solidFill>
                  <a:srgbClr val="000000"/>
                </a:solidFill>
                <a:latin typeface="Montserrat Bold Italics"/>
                <a:ea typeface="Montserrat Bold Italics"/>
                <a:cs typeface="Montserrat Bold Italics"/>
                <a:sym typeface="Montserrat Bold Italics"/>
              </a:rPr>
              <a:t>3) Derechos y deberes:</a:t>
            </a:r>
          </a:p>
          <a:p>
            <a:pPr algn="l">
              <a:lnSpc>
                <a:spcPts val="2236"/>
              </a:lnSpc>
            </a:pPr>
          </a:p>
          <a:p>
            <a:pPr algn="l">
              <a:lnSpc>
                <a:spcPts val="2079"/>
              </a:lnSpc>
            </a:pPr>
            <a:r>
              <a:rPr lang="en-US" sz="1299">
                <a:solidFill>
                  <a:srgbClr val="122424"/>
                </a:solidFill>
                <a:latin typeface="Montserrat"/>
                <a:ea typeface="Montserrat"/>
                <a:cs typeface="Montserrat"/>
                <a:sym typeface="Montserrat"/>
              </a:rPr>
              <a:t>Se revisan cuáles son las implicancias legales de ser propietario/a de una vivienda en condominio, y también se orienta respecto a las formas de organizarse en comunidad.  En este taller también se revisan otras</a:t>
            </a:r>
          </a:p>
        </p:txBody>
      </p:sp>
      <p:sp>
        <p:nvSpPr>
          <p:cNvPr name="TextBox 14" id="14"/>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5" id="15"/>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07</a:t>
            </a:r>
          </a:p>
        </p:txBody>
      </p:sp>
      <p:sp>
        <p:nvSpPr>
          <p:cNvPr name="TextBox 16" id="16"/>
          <p:cNvSpPr txBox="true"/>
          <p:nvPr/>
        </p:nvSpPr>
        <p:spPr>
          <a:xfrm rot="0">
            <a:off x="3774419" y="2434322"/>
            <a:ext cx="2863102" cy="152463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materiales tales como las prohibiciones y obligaciones como beneficiarios/as del subsidio, escenarios en caso de divorcio según el régimen matrimonial, herencias, entre otros.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grpSp>
        <p:nvGrpSpPr>
          <p:cNvPr name="Group 4" id="4"/>
          <p:cNvGrpSpPr/>
          <p:nvPr/>
        </p:nvGrpSpPr>
        <p:grpSpPr>
          <a:xfrm rot="0">
            <a:off x="3780000" y="4955209"/>
            <a:ext cx="2857521" cy="4541092"/>
            <a:chOff x="0" y="0"/>
            <a:chExt cx="3810028" cy="6054789"/>
          </a:xfrm>
        </p:grpSpPr>
        <p:pic>
          <p:nvPicPr>
            <p:cNvPr name="Picture 5" id="5"/>
            <p:cNvPicPr>
              <a:picLocks noChangeAspect="true"/>
            </p:cNvPicPr>
            <p:nvPr/>
          </p:nvPicPr>
          <p:blipFill>
            <a:blip r:embed="rId3"/>
            <a:srcRect l="46373" t="0" r="6431" b="0"/>
            <a:stretch>
              <a:fillRect/>
            </a:stretch>
          </p:blipFill>
          <p:spPr>
            <a:xfrm flipH="false" flipV="false">
              <a:off x="0" y="0"/>
              <a:ext cx="3810028" cy="6054789"/>
            </a:xfrm>
            <a:prstGeom prst="rect">
              <a:avLst/>
            </a:prstGeom>
          </p:spPr>
        </p:pic>
      </p:grpSp>
      <p:grpSp>
        <p:nvGrpSpPr>
          <p:cNvPr name="Group 6" id="6"/>
          <p:cNvGrpSpPr/>
          <p:nvPr/>
        </p:nvGrpSpPr>
        <p:grpSpPr>
          <a:xfrm rot="0">
            <a:off x="589521" y="4915949"/>
            <a:ext cx="2912631" cy="2161823"/>
            <a:chOff x="0" y="0"/>
            <a:chExt cx="3883508" cy="2882431"/>
          </a:xfrm>
        </p:grpSpPr>
        <p:pic>
          <p:nvPicPr>
            <p:cNvPr name="Picture 7" id="7"/>
            <p:cNvPicPr>
              <a:picLocks noChangeAspect="true"/>
            </p:cNvPicPr>
            <p:nvPr/>
          </p:nvPicPr>
          <p:blipFill>
            <a:blip r:embed="rId4"/>
            <a:srcRect l="0" t="518" r="0" b="518"/>
            <a:stretch>
              <a:fillRect/>
            </a:stretch>
          </p:blipFill>
          <p:spPr>
            <a:xfrm flipH="false" flipV="false">
              <a:off x="0" y="0"/>
              <a:ext cx="3883508" cy="2882431"/>
            </a:xfrm>
            <a:prstGeom prst="rect">
              <a:avLst/>
            </a:prstGeom>
          </p:spPr>
        </p:pic>
      </p:grpSp>
      <p:grpSp>
        <p:nvGrpSpPr>
          <p:cNvPr name="Group 8" id="8"/>
          <p:cNvGrpSpPr/>
          <p:nvPr/>
        </p:nvGrpSpPr>
        <p:grpSpPr>
          <a:xfrm rot="0">
            <a:off x="589521" y="7225755"/>
            <a:ext cx="2912631" cy="2270546"/>
            <a:chOff x="0" y="0"/>
            <a:chExt cx="3883508" cy="3027395"/>
          </a:xfrm>
        </p:grpSpPr>
        <p:pic>
          <p:nvPicPr>
            <p:cNvPr name="Picture 9" id="9"/>
            <p:cNvPicPr>
              <a:picLocks noChangeAspect="true"/>
            </p:cNvPicPr>
            <p:nvPr/>
          </p:nvPicPr>
          <p:blipFill>
            <a:blip r:embed="rId5"/>
            <a:srcRect l="1895" t="0" r="1895" b="0"/>
            <a:stretch>
              <a:fillRect/>
            </a:stretch>
          </p:blipFill>
          <p:spPr>
            <a:xfrm flipH="false" flipV="false">
              <a:off x="0" y="0"/>
              <a:ext cx="3883508" cy="3027395"/>
            </a:xfrm>
            <a:prstGeom prst="rect">
              <a:avLst/>
            </a:prstGeom>
          </p:spPr>
        </p:pic>
      </p:grpSp>
      <p:sp>
        <p:nvSpPr>
          <p:cNvPr name="TextBox 10" id="10"/>
          <p:cNvSpPr txBox="true"/>
          <p:nvPr/>
        </p:nvSpPr>
        <p:spPr>
          <a:xfrm rot="0">
            <a:off x="589521" y="1832815"/>
            <a:ext cx="2912631" cy="2340526"/>
          </a:xfrm>
          <a:prstGeom prst="rect">
            <a:avLst/>
          </a:prstGeom>
        </p:spPr>
        <p:txBody>
          <a:bodyPr anchor="t" rtlCol="false" tIns="0" lIns="0" bIns="0" rIns="0">
            <a:spAutoFit/>
          </a:bodyPr>
          <a:lstStyle/>
          <a:p>
            <a:pPr algn="l">
              <a:lnSpc>
                <a:spcPts val="2236"/>
              </a:lnSpc>
            </a:pPr>
            <a:r>
              <a:rPr lang="en-US" sz="1398" i="true" b="true">
                <a:solidFill>
                  <a:srgbClr val="000000"/>
                </a:solidFill>
                <a:latin typeface="Montserrat Bold Italics"/>
                <a:ea typeface="Montserrat Bold Italics"/>
                <a:cs typeface="Montserrat Bold Italics"/>
                <a:sym typeface="Montserrat Bold Italics"/>
              </a:rPr>
              <a:t>4) Organización comunitaria: </a:t>
            </a:r>
          </a:p>
          <a:p>
            <a:pPr algn="l">
              <a:lnSpc>
                <a:spcPts val="2236"/>
              </a:lnSpc>
            </a:pPr>
          </a:p>
          <a:p>
            <a:pPr algn="l">
              <a:lnSpc>
                <a:spcPts val="2076"/>
              </a:lnSpc>
            </a:pPr>
            <a:r>
              <a:rPr lang="en-US" sz="1298">
                <a:solidFill>
                  <a:srgbClr val="122424"/>
                </a:solidFill>
                <a:latin typeface="Montserrat"/>
                <a:ea typeface="Montserrat"/>
                <a:cs typeface="Montserrat"/>
                <a:sym typeface="Montserrat"/>
              </a:rPr>
              <a:t>Se trabajan temáticas que sean del interés de las familias, con el fin de reforzar la organización comunitaria y promover al mismo tiempo la identidad barrial. En este taller se suelen trabajar temáticas asociadas a la seguridad, confor-</a:t>
            </a:r>
          </a:p>
        </p:txBody>
      </p:sp>
      <p:sp>
        <p:nvSpPr>
          <p:cNvPr name="TextBox 11" id="11"/>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2" id="12"/>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08</a:t>
            </a:r>
          </a:p>
        </p:txBody>
      </p:sp>
      <p:sp>
        <p:nvSpPr>
          <p:cNvPr name="TextBox 13" id="13"/>
          <p:cNvSpPr txBox="true"/>
          <p:nvPr/>
        </p:nvSpPr>
        <p:spPr>
          <a:xfrm rot="0">
            <a:off x="3940898" y="2390483"/>
            <a:ext cx="2863102" cy="1267088"/>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mación del comité de administración, convivencia vecinal, limpieza y administración, reglamento de copropiedad, entre otros.  </a:t>
            </a:r>
          </a:p>
        </p:txBody>
      </p:sp>
      <p:sp>
        <p:nvSpPr>
          <p:cNvPr name="Freeform 14" id="1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grpSp>
        <p:nvGrpSpPr>
          <p:cNvPr name="Group 4" id="4"/>
          <p:cNvGrpSpPr/>
          <p:nvPr/>
        </p:nvGrpSpPr>
        <p:grpSpPr>
          <a:xfrm rot="0">
            <a:off x="603915" y="4954391"/>
            <a:ext cx="2898236" cy="4541092"/>
            <a:chOff x="0" y="0"/>
            <a:chExt cx="3864315" cy="6054789"/>
          </a:xfrm>
        </p:grpSpPr>
        <p:pic>
          <p:nvPicPr>
            <p:cNvPr name="Picture 5" id="5"/>
            <p:cNvPicPr>
              <a:picLocks noChangeAspect="true"/>
            </p:cNvPicPr>
            <p:nvPr/>
          </p:nvPicPr>
          <p:blipFill>
            <a:blip r:embed="rId3"/>
            <a:srcRect l="26066" t="0" r="26066" b="0"/>
            <a:stretch>
              <a:fillRect/>
            </a:stretch>
          </p:blipFill>
          <p:spPr>
            <a:xfrm flipH="false" flipV="false">
              <a:off x="0" y="0"/>
              <a:ext cx="3864315" cy="6054789"/>
            </a:xfrm>
            <a:prstGeom prst="rect">
              <a:avLst/>
            </a:prstGeom>
          </p:spPr>
        </p:pic>
      </p:grpSp>
      <p:grpSp>
        <p:nvGrpSpPr>
          <p:cNvPr name="Group 6" id="6"/>
          <p:cNvGrpSpPr/>
          <p:nvPr/>
        </p:nvGrpSpPr>
        <p:grpSpPr>
          <a:xfrm rot="0">
            <a:off x="3780000" y="4954391"/>
            <a:ext cx="2857521" cy="2161823"/>
            <a:chOff x="0" y="0"/>
            <a:chExt cx="3810028" cy="2882431"/>
          </a:xfrm>
        </p:grpSpPr>
        <p:pic>
          <p:nvPicPr>
            <p:cNvPr name="Picture 7" id="7"/>
            <p:cNvPicPr>
              <a:picLocks noChangeAspect="true"/>
            </p:cNvPicPr>
            <p:nvPr/>
          </p:nvPicPr>
          <p:blipFill>
            <a:blip r:embed="rId4"/>
            <a:srcRect l="432" t="0" r="432" b="0"/>
            <a:stretch>
              <a:fillRect/>
            </a:stretch>
          </p:blipFill>
          <p:spPr>
            <a:xfrm flipH="false" flipV="false">
              <a:off x="0" y="0"/>
              <a:ext cx="3810028" cy="2882431"/>
            </a:xfrm>
            <a:prstGeom prst="rect">
              <a:avLst/>
            </a:prstGeom>
          </p:spPr>
        </p:pic>
      </p:grpSp>
      <p:grpSp>
        <p:nvGrpSpPr>
          <p:cNvPr name="Group 8" id="8"/>
          <p:cNvGrpSpPr/>
          <p:nvPr/>
        </p:nvGrpSpPr>
        <p:grpSpPr>
          <a:xfrm rot="0">
            <a:off x="3776992" y="7224937"/>
            <a:ext cx="2860529" cy="2270546"/>
            <a:chOff x="0" y="0"/>
            <a:chExt cx="3814038" cy="3027395"/>
          </a:xfrm>
        </p:grpSpPr>
        <p:pic>
          <p:nvPicPr>
            <p:cNvPr name="Picture 9" id="9"/>
            <p:cNvPicPr>
              <a:picLocks noChangeAspect="true"/>
            </p:cNvPicPr>
            <p:nvPr/>
          </p:nvPicPr>
          <p:blipFill>
            <a:blip r:embed="rId5"/>
            <a:srcRect l="8005" t="0" r="8005" b="0"/>
            <a:stretch>
              <a:fillRect/>
            </a:stretch>
          </p:blipFill>
          <p:spPr>
            <a:xfrm flipH="false" flipV="false">
              <a:off x="0" y="0"/>
              <a:ext cx="3814038" cy="3027395"/>
            </a:xfrm>
            <a:prstGeom prst="rect">
              <a:avLst/>
            </a:prstGeom>
          </p:spPr>
        </p:pic>
      </p:grpSp>
      <p:sp>
        <p:nvSpPr>
          <p:cNvPr name="Freeform 10" id="10"/>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589521" y="1832815"/>
            <a:ext cx="2912631" cy="2598519"/>
          </a:xfrm>
          <a:prstGeom prst="rect">
            <a:avLst/>
          </a:prstGeom>
        </p:spPr>
        <p:txBody>
          <a:bodyPr anchor="t" rtlCol="false" tIns="0" lIns="0" bIns="0" rIns="0">
            <a:spAutoFit/>
          </a:bodyPr>
          <a:lstStyle/>
          <a:p>
            <a:pPr algn="l">
              <a:lnSpc>
                <a:spcPts val="2236"/>
              </a:lnSpc>
            </a:pPr>
            <a:r>
              <a:rPr lang="en-US" sz="1398" i="true" b="true">
                <a:solidFill>
                  <a:srgbClr val="000000"/>
                </a:solidFill>
                <a:latin typeface="Montserrat Bold Italics"/>
                <a:ea typeface="Montserrat Bold Italics"/>
                <a:cs typeface="Montserrat Bold Italics"/>
                <a:sym typeface="Montserrat Bold Italics"/>
              </a:rPr>
              <a:t>5) Redes comunitarias: </a:t>
            </a:r>
          </a:p>
          <a:p>
            <a:pPr algn="l">
              <a:lnSpc>
                <a:spcPts val="2236"/>
              </a:lnSpc>
            </a:pPr>
          </a:p>
          <a:p>
            <a:pPr algn="l">
              <a:lnSpc>
                <a:spcPts val="2076"/>
              </a:lnSpc>
            </a:pPr>
            <a:r>
              <a:rPr lang="en-US" sz="1298">
                <a:solidFill>
                  <a:srgbClr val="222525"/>
                </a:solidFill>
                <a:latin typeface="Montserrat"/>
                <a:ea typeface="Montserrat"/>
                <a:cs typeface="Montserrat"/>
                <a:sym typeface="Montserrat"/>
              </a:rPr>
              <a:t>En esta instancia se busca vincular a las familias con las redes comunitarias presentes en el territorio, a través de la entrega de información relevante. De esta forma, se invita a participar a diferentes actores e instituciones presentes en el territorio para que </a:t>
            </a:r>
          </a:p>
        </p:txBody>
      </p:sp>
      <p:sp>
        <p:nvSpPr>
          <p:cNvPr name="TextBox 14" id="14"/>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5" id="15"/>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09</a:t>
            </a:r>
          </a:p>
        </p:txBody>
      </p:sp>
      <p:sp>
        <p:nvSpPr>
          <p:cNvPr name="TextBox 16" id="16"/>
          <p:cNvSpPr txBox="true"/>
          <p:nvPr/>
        </p:nvSpPr>
        <p:spPr>
          <a:xfrm rot="0">
            <a:off x="3940898" y="2390483"/>
            <a:ext cx="2863102" cy="178181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puedan conocer</a:t>
            </a:r>
            <a:r>
              <a:rPr lang="en-US" sz="1300">
                <a:solidFill>
                  <a:srgbClr val="122424"/>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cómo operan, de qué forma pueden contactarse y resolver preguntas relevantes respecto a su funcionamiento. Se invita a participar por ejemplo a la Municipalidad, Bomberos, entre otros.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6746589"/>
            <a:ext cx="4809708" cy="2585106"/>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01</a:t>
            </a:r>
          </a:p>
          <a:p>
            <a:pPr algn="l">
              <a:lnSpc>
                <a:spcPts val="6758"/>
              </a:lnSpc>
            </a:pPr>
            <a:r>
              <a:rPr lang="en-US" sz="6376">
                <a:solidFill>
                  <a:srgbClr val="222525"/>
                </a:solidFill>
                <a:latin typeface="DM Serif Display"/>
                <a:ea typeface="DM Serif Display"/>
                <a:cs typeface="DM Serif Display"/>
                <a:sym typeface="DM Serif Display"/>
              </a:rPr>
              <a:t>Visita a la obra</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TextBox 4" id="4"/>
          <p:cNvSpPr txBox="true"/>
          <p:nvPr/>
        </p:nvSpPr>
        <p:spPr>
          <a:xfrm rot="0">
            <a:off x="589521" y="3328147"/>
            <a:ext cx="2912631" cy="5722620"/>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1.1. ¿Cómo es el proceso constructivo de la obra? </a:t>
            </a:r>
          </a:p>
          <a:p>
            <a:pPr algn="l">
              <a:lnSpc>
                <a:spcPts val="2240"/>
              </a:lnSpc>
            </a:pPr>
            <a:r>
              <a:rPr lang="en-US" sz="1400">
                <a:solidFill>
                  <a:srgbClr val="122424"/>
                </a:solidFill>
                <a:latin typeface="Montserrat"/>
                <a:ea typeface="Montserrat"/>
                <a:cs typeface="Montserrat"/>
                <a:sym typeface="Montserrat"/>
              </a:rPr>
              <a:t>A continuación, se resume cómo es este proceso:</a:t>
            </a:r>
          </a:p>
          <a:p>
            <a:pPr algn="l">
              <a:lnSpc>
                <a:spcPts val="2080"/>
              </a:lnSpc>
            </a:pPr>
          </a:p>
          <a:p>
            <a:pPr algn="l">
              <a:lnSpc>
                <a:spcPts val="2080"/>
              </a:lnSpc>
            </a:pPr>
            <a:r>
              <a:rPr lang="en-US" sz="1300" i="true" b="true">
                <a:solidFill>
                  <a:srgbClr val="000000"/>
                </a:solidFill>
                <a:latin typeface="Montserrat Bold Italics"/>
                <a:ea typeface="Montserrat Bold Italics"/>
                <a:cs typeface="Montserrat Bold Italics"/>
                <a:sym typeface="Montserrat Bold Italics"/>
              </a:rPr>
              <a:t>A) Preparación</a:t>
            </a:r>
            <a:r>
              <a:rPr lang="en-US" sz="1300" b="true">
                <a:solidFill>
                  <a:srgbClr val="000000"/>
                </a:solidFill>
                <a:latin typeface="Montserrat Bold"/>
                <a:ea typeface="Montserrat Bold"/>
                <a:cs typeface="Montserrat Bold"/>
                <a:sym typeface="Montserrat Bold"/>
              </a:rPr>
              <a:t>: </a:t>
            </a:r>
            <a:r>
              <a:rPr lang="en-US" sz="1300">
                <a:solidFill>
                  <a:srgbClr val="122424"/>
                </a:solidFill>
                <a:latin typeface="Montserrat"/>
                <a:ea typeface="Montserrat"/>
                <a:cs typeface="Montserrat"/>
                <a:sym typeface="Montserrat"/>
              </a:rPr>
              <a:t>en esta etapa se comienza a preparar el área de construcción para dar inicio a la obra. Se realiza un cierre perimetral, se despeja el terreno y según las condiciones del suelo se realizan excavaciones. </a:t>
            </a:r>
          </a:p>
          <a:p>
            <a:pPr algn="l">
              <a:lnSpc>
                <a:spcPts val="2080"/>
              </a:lnSpc>
            </a:pPr>
          </a:p>
          <a:p>
            <a:pPr algn="l">
              <a:lnSpc>
                <a:spcPts val="2080"/>
              </a:lnSpc>
            </a:pPr>
            <a:r>
              <a:rPr lang="en-US" b="true" sz="1300" i="true">
                <a:solidFill>
                  <a:srgbClr val="000000"/>
                </a:solidFill>
                <a:latin typeface="Montserrat Bold Italics"/>
                <a:ea typeface="Montserrat Bold Italics"/>
                <a:cs typeface="Montserrat Bold Italics"/>
                <a:sym typeface="Montserrat Bold Italics"/>
              </a:rPr>
              <a:t>B) Obra Gruesa</a:t>
            </a:r>
            <a:r>
              <a:rPr lang="en-US" b="true" sz="1300" i="true">
                <a:solidFill>
                  <a:srgbClr val="122424"/>
                </a:solidFill>
                <a:latin typeface="Montserrat Bold Italics"/>
                <a:ea typeface="Montserrat Bold Italics"/>
                <a:cs typeface="Montserrat Bold Italics"/>
                <a:sym typeface="Montserrat Bold Italics"/>
              </a:rPr>
              <a:t>:</a:t>
            </a:r>
            <a:r>
              <a:rPr lang="en-US" sz="1300">
                <a:solidFill>
                  <a:srgbClr val="122424"/>
                </a:solidFill>
                <a:latin typeface="Montserrat"/>
                <a:ea typeface="Montserrat"/>
                <a:cs typeface="Montserrat"/>
                <a:sym typeface="Montserrat"/>
              </a:rPr>
              <a:t> una vez que el terreno se encuentra preparado, se comienzan a instalar la fontanería (redes de tuberías)  y los cimientos. Se realizan diferentes inspecciones, para luego comenzar a m</a:t>
            </a:r>
            <a:r>
              <a:rPr lang="en-US" sz="1300">
                <a:solidFill>
                  <a:srgbClr val="122424"/>
                </a:solidFill>
                <a:latin typeface="Montserrat"/>
                <a:ea typeface="Montserrat"/>
                <a:cs typeface="Montserrat"/>
                <a:sym typeface="Montserrat"/>
              </a:rPr>
              <a:t>ontar la estructura del edificio o casas, esto implica la instala-</a:t>
            </a:r>
          </a:p>
        </p:txBody>
      </p:sp>
      <p:sp>
        <p:nvSpPr>
          <p:cNvPr name="TextBox 5" id="5"/>
          <p:cNvSpPr txBox="true"/>
          <p:nvPr/>
        </p:nvSpPr>
        <p:spPr>
          <a:xfrm rot="0">
            <a:off x="589521" y="1660589"/>
            <a:ext cx="6048000" cy="698500"/>
          </a:xfrm>
          <a:prstGeom prst="rect">
            <a:avLst/>
          </a:prstGeom>
        </p:spPr>
        <p:txBody>
          <a:bodyPr anchor="t" rtlCol="false" tIns="0" lIns="0" bIns="0" rIns="0">
            <a:spAutoFit/>
          </a:bodyPr>
          <a:lstStyle/>
          <a:p>
            <a:pPr algn="l">
              <a:lnSpc>
                <a:spcPts val="5300"/>
              </a:lnSpc>
            </a:pPr>
            <a:r>
              <a:rPr lang="en-US" sz="5000">
                <a:solidFill>
                  <a:srgbClr val="222525"/>
                </a:solidFill>
                <a:latin typeface="DM Serif Display"/>
                <a:ea typeface="DM Serif Display"/>
                <a:cs typeface="DM Serif Display"/>
                <a:sym typeface="DM Serif Display"/>
              </a:rPr>
              <a:t>01.Visita a la obra </a:t>
            </a:r>
          </a:p>
        </p:txBody>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7" id="7"/>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11</a:t>
            </a:r>
          </a:p>
        </p:txBody>
      </p:sp>
      <p:sp>
        <p:nvSpPr>
          <p:cNvPr name="TextBox 8" id="8"/>
          <p:cNvSpPr txBox="true"/>
          <p:nvPr/>
        </p:nvSpPr>
        <p:spPr>
          <a:xfrm rot="0">
            <a:off x="3940898" y="3337672"/>
            <a:ext cx="2863102" cy="512508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ción de diferentes elementos como los revestimientos, techo, puertas y ventanas exteriores. En este punto, la construcción adquiere prácticamente su forma final y cuenta con los elementos más importantes. </a:t>
            </a:r>
          </a:p>
          <a:p>
            <a:pPr algn="l">
              <a:lnSpc>
                <a:spcPts val="2080"/>
              </a:lnSpc>
            </a:pPr>
          </a:p>
          <a:p>
            <a:pPr algn="l">
              <a:lnSpc>
                <a:spcPts val="2080"/>
              </a:lnSpc>
            </a:pPr>
            <a:r>
              <a:rPr lang="en-US" sz="1300" i="true" b="true">
                <a:solidFill>
                  <a:srgbClr val="000000"/>
                </a:solidFill>
                <a:latin typeface="Montserrat Bold Italics"/>
                <a:ea typeface="Montserrat Bold Italics"/>
                <a:cs typeface="Montserrat Bold Italics"/>
                <a:sym typeface="Montserrat Bold Italics"/>
              </a:rPr>
              <a:t>C) Instalaciones:</a:t>
            </a:r>
            <a:r>
              <a:rPr lang="en-US" sz="1300">
                <a:solidFill>
                  <a:srgbClr val="000000"/>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en esta fase, se instalan los servicios de la vivienda o edificio tales como  el cableado eléctrico, tuberías de residuos, iluminación, entre otros. </a:t>
            </a:r>
          </a:p>
          <a:p>
            <a:pPr algn="l">
              <a:lnSpc>
                <a:spcPts val="2080"/>
              </a:lnSpc>
            </a:pPr>
          </a:p>
          <a:p>
            <a:pPr algn="l">
              <a:lnSpc>
                <a:spcPts val="2080"/>
              </a:lnSpc>
            </a:pPr>
            <a:r>
              <a:rPr lang="en-US" b="true" sz="1300" i="true">
                <a:solidFill>
                  <a:srgbClr val="000000"/>
                </a:solidFill>
                <a:latin typeface="Montserrat Bold Italics"/>
                <a:ea typeface="Montserrat Bold Italics"/>
                <a:cs typeface="Montserrat Bold Italics"/>
                <a:sym typeface="Montserrat Bold Italics"/>
              </a:rPr>
              <a:t>D) Terminaciones: </a:t>
            </a:r>
            <a:r>
              <a:rPr lang="en-US" sz="1300">
                <a:solidFill>
                  <a:srgbClr val="122424"/>
                </a:solidFill>
                <a:latin typeface="Montserrat"/>
                <a:ea typeface="Montserrat"/>
                <a:cs typeface="Montserrat"/>
                <a:sym typeface="Montserrat"/>
              </a:rPr>
              <a:t>en la última etapa se ven los detalles finales como la pintura, la instalación de los marcos de las ventanas, puertas, revestimientos,  iluminación, entre otros. </a:t>
            </a:r>
          </a:p>
        </p:txBody>
      </p:sp>
      <p:sp>
        <p:nvSpPr>
          <p:cNvPr name="Freeform 9" id="9"/>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TextBox 4" id="4"/>
          <p:cNvSpPr txBox="true"/>
          <p:nvPr/>
        </p:nvSpPr>
        <p:spPr>
          <a:xfrm rot="0">
            <a:off x="589521" y="1842340"/>
            <a:ext cx="2912631" cy="7220585"/>
          </a:xfrm>
          <a:prstGeom prst="rect">
            <a:avLst/>
          </a:prstGeom>
        </p:spPr>
        <p:txBody>
          <a:bodyPr anchor="t" rtlCol="false" tIns="0" lIns="0" bIns="0" rIns="0">
            <a:spAutoFit/>
          </a:bodyPr>
          <a:lstStyle/>
          <a:p>
            <a:pPr algn="l">
              <a:lnSpc>
                <a:spcPts val="2080"/>
              </a:lnSpc>
            </a:pPr>
            <a:r>
              <a:rPr lang="en-US" sz="1300" i="true" b="true">
                <a:solidFill>
                  <a:srgbClr val="000000"/>
                </a:solidFill>
                <a:latin typeface="Montserrat Bold Italics"/>
                <a:ea typeface="Montserrat Bold Italics"/>
                <a:cs typeface="Montserrat Bold Italics"/>
                <a:sym typeface="Montserrat Bold Italics"/>
              </a:rPr>
              <a:t>E) C</a:t>
            </a:r>
            <a:r>
              <a:rPr lang="en-US" sz="1300" i="true" b="true">
                <a:solidFill>
                  <a:srgbClr val="122424"/>
                </a:solidFill>
                <a:latin typeface="Montserrat Bold Italics"/>
                <a:ea typeface="Montserrat Bold Italics"/>
                <a:cs typeface="Montserrat Bold Italics"/>
                <a:sym typeface="Montserrat Bold Italics"/>
              </a:rPr>
              <a:t>ertificaciones: </a:t>
            </a:r>
            <a:r>
              <a:rPr lang="en-US" sz="1300">
                <a:solidFill>
                  <a:srgbClr val="122424"/>
                </a:solidFill>
                <a:latin typeface="Montserrat"/>
                <a:ea typeface="Montserrat"/>
                <a:cs typeface="Montserrat"/>
                <a:sym typeface="Montserrat"/>
              </a:rPr>
              <a:t>Una vez que la obra esté finalizada, comenzará el proceso de la recepción municipal. En esta etapa,  el municipio debe dar el visto bueno al proyecto. Esto quiere decir, que la Dirección de Obras Municipal revisará que el proyecto esté en cumplimiento de la normativa. Una vez que sea aprobado, se emitirá un certificado de aprobación del proyecto para ser. Por medio de este certificado se reconoce a la edificación como tal.  En paralelo, SERVIU también realiza una revisión final del proyecto y de las instalaciones.</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1.2. </a:t>
            </a:r>
            <a:r>
              <a:rPr lang="en-US" sz="1400" b="true">
                <a:solidFill>
                  <a:srgbClr val="000000"/>
                </a:solidFill>
                <a:latin typeface="Montserrat Bold"/>
                <a:ea typeface="Montserrat Bold"/>
                <a:cs typeface="Montserrat Bold"/>
                <a:sym typeface="Montserrat Bold"/>
              </a:rPr>
              <a:t>¿Cuáles son los aspectos generales de entrega? </a:t>
            </a:r>
          </a:p>
          <a:p>
            <a:pPr algn="l">
              <a:lnSpc>
                <a:spcPts val="2080"/>
              </a:lnSpc>
            </a:pPr>
          </a:p>
          <a:p>
            <a:pPr algn="l">
              <a:lnSpc>
                <a:spcPts val="2080"/>
              </a:lnSpc>
            </a:pPr>
            <a:r>
              <a:rPr lang="en-US" sz="1300">
                <a:solidFill>
                  <a:srgbClr val="122424"/>
                </a:solidFill>
                <a:latin typeface="Montserrat"/>
                <a:ea typeface="Montserrat"/>
                <a:cs typeface="Montserrat"/>
                <a:sym typeface="Montserrat"/>
              </a:rPr>
              <a:t>Cuando se cumplan las condiciones definidas por la Inmobiliaria, se dará aviso a los futuros propietarios/as para iniciar los trámites con las instituciones correspondientes y firmar la escritura de compraventa. Para preparar la escrituración es posible</a:t>
            </a:r>
          </a:p>
        </p:txBody>
      </p:sp>
      <p:sp>
        <p:nvSpPr>
          <p:cNvPr name="TextBox 5" id="5"/>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6" id="6"/>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12</a:t>
            </a:r>
          </a:p>
        </p:txBody>
      </p:sp>
      <p:sp>
        <p:nvSpPr>
          <p:cNvPr name="Freeform 7" id="7"/>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3940898" y="1842340"/>
            <a:ext cx="2863102" cy="718248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que la inmobiliaria solicite la revisión de diferentes antecedes</a:t>
            </a:r>
            <a:r>
              <a:rPr lang="en-US" sz="1300">
                <a:solidFill>
                  <a:srgbClr val="122424"/>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tales como: </a:t>
            </a:r>
          </a:p>
          <a:p>
            <a:pPr algn="l">
              <a:lnSpc>
                <a:spcPts val="2080"/>
              </a:lnSpc>
            </a:pP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Cuentas de servicio al día y contribuciones.</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Verificación de datos de vivienda y propietario.</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Cuadre de saldo de precio y pago de fondo</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Coordinación con Banco o Institución Financiera </a:t>
            </a:r>
          </a:p>
          <a:p>
            <a:pPr algn="l">
              <a:lnSpc>
                <a:spcPts val="2080"/>
              </a:lnSpc>
            </a:pPr>
          </a:p>
          <a:p>
            <a:pPr algn="l">
              <a:lnSpc>
                <a:spcPts val="2080"/>
              </a:lnSpc>
            </a:pPr>
            <a:r>
              <a:rPr lang="en-US" sz="1300">
                <a:solidFill>
                  <a:srgbClr val="122424"/>
                </a:solidFill>
                <a:latin typeface="Montserrat"/>
                <a:ea typeface="Montserrat"/>
                <a:cs typeface="Montserrat"/>
                <a:sym typeface="Montserrat"/>
              </a:rPr>
              <a:t>* Esto puede variar según el caso a caso, importante tener en consideración * </a:t>
            </a:r>
          </a:p>
          <a:p>
            <a:pPr algn="l">
              <a:lnSpc>
                <a:spcPts val="2080"/>
              </a:lnSpc>
            </a:pPr>
          </a:p>
          <a:p>
            <a:pPr algn="l">
              <a:lnSpc>
                <a:spcPts val="2080"/>
              </a:lnSpc>
            </a:pPr>
            <a:r>
              <a:rPr lang="en-US" sz="1300">
                <a:solidFill>
                  <a:srgbClr val="122424"/>
                </a:solidFill>
                <a:latin typeface="Montserrat"/>
                <a:ea typeface="Montserrat"/>
                <a:cs typeface="Montserrat"/>
                <a:sym typeface="Montserrat"/>
              </a:rPr>
              <a:t>Una vez que la escritura esté firmada, se deberá inscribir en el Conservador de Bienes Raíces respectivo. Luego, la Inmobiliaria verificará si se cumplen los requisitos respectivos y si la escritura de compraventa ha si</a:t>
            </a:r>
            <a:r>
              <a:rPr lang="en-US" sz="1300">
                <a:solidFill>
                  <a:srgbClr val="000000"/>
                </a:solidFill>
                <a:latin typeface="Montserrat"/>
                <a:ea typeface="Montserrat"/>
                <a:cs typeface="Montserrat"/>
                <a:sym typeface="Montserrat"/>
              </a:rPr>
              <a:t>do firmada por el propietario/a para coordinar la fecha de entrega. En la eventualidad de que sea un tercero quien reciba la propiedad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13</a:t>
            </a:r>
          </a:p>
        </p:txBody>
      </p:sp>
      <p:sp>
        <p:nvSpPr>
          <p:cNvPr name="TextBox 9" id="9"/>
          <p:cNvSpPr txBox="true"/>
          <p:nvPr/>
        </p:nvSpPr>
        <p:spPr>
          <a:xfrm rot="0">
            <a:off x="916898" y="1842340"/>
            <a:ext cx="2863102" cy="723963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y no el nuevo propietario/a, infórmese con la Inmobiliaria respecto al procedimiento de</a:t>
            </a:r>
            <a:r>
              <a:rPr lang="en-US" sz="1300">
                <a:solidFill>
                  <a:srgbClr val="122424"/>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recepción de la vivienda por parte de un tercero (Cámara Chilena de la Construcción).</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1.</a:t>
            </a:r>
            <a:r>
              <a:rPr lang="en-US" sz="1400" b="true">
                <a:solidFill>
                  <a:srgbClr val="000000"/>
                </a:solidFill>
                <a:latin typeface="Montserrat Bold"/>
                <a:ea typeface="Montserrat Bold"/>
                <a:cs typeface="Montserrat Bold"/>
                <a:sym typeface="Montserrat Bold"/>
              </a:rPr>
              <a:t>3. ¿Cuáles son los pasos a seguir el día de la entrega?</a:t>
            </a:r>
          </a:p>
          <a:p>
            <a:pPr algn="l">
              <a:lnSpc>
                <a:spcPts val="2240"/>
              </a:lnSpc>
            </a:pPr>
          </a:p>
          <a:p>
            <a:pPr algn="l">
              <a:lnSpc>
                <a:spcPts val="2080"/>
              </a:lnSpc>
            </a:pPr>
            <a:r>
              <a:rPr lang="en-US" sz="1300">
                <a:solidFill>
                  <a:srgbClr val="122424"/>
                </a:solidFill>
                <a:latin typeface="Montserrat"/>
                <a:ea typeface="Montserrat"/>
                <a:cs typeface="Montserrat"/>
                <a:sym typeface="Montserrat"/>
              </a:rPr>
              <a:t> A continuación, se describe el proceso en términos generales, por lo que pueden haber variaciones dependiendo de la inmobiliaria. El día de la entrega, un representante de la Inmobiliaria explicará los pasos a seguir durante este proceso. Se estima que el tiempo para realizar la entrega será entre 30 a 90 minutos, dependiendo de las características de la unidad (consulte con la Inmobiliaria). Se revisará el estado de la propiedad, como también un proceso de inducción. Al revisar el estado de la propiedad, se recomienda revisar el funcionamiento de cada  </a:t>
            </a:r>
          </a:p>
        </p:txBody>
      </p:sp>
      <p:sp>
        <p:nvSpPr>
          <p:cNvPr name="TextBox 10" id="10"/>
          <p:cNvSpPr txBox="true"/>
          <p:nvPr/>
        </p:nvSpPr>
        <p:spPr>
          <a:xfrm rot="0">
            <a:off x="3940898" y="1842340"/>
            <a:ext cx="2863102" cy="718248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eq﻿uipo e instalación de la vivienda, tales como la iluminación, electricidad, calefón, entre otros. Se debe poner mucha atención a la inducción del correcto funcionamiento y uso de los equipamientos. Es importante identificar la ubicación de las llaves de paso del gas, agua potable, medidores y tableros eléctricos, para que en caso de que ocurra un problema relacionado con estas instalaciones tenga conocimiento de como y dónde administrar el suministro respectivo para prevenir posibles daños o pérdidas. Si encuentran fallas o defectos, se debe dejar registro de estas observaciones al momento de la entrega. Es importante considerar que si existen observaciones, sólo podrá presentarlas al momento de la entrega, tales como rayas, manchas, piquetes, abolladuras, dado que este tipo de daños posteriores a la entrega </a:t>
            </a:r>
            <a:r>
              <a:rPr lang="en-US" sz="1300" b="true">
                <a:solidFill>
                  <a:srgbClr val="122424"/>
                </a:solidFill>
                <a:latin typeface="Montserrat Bold"/>
                <a:ea typeface="Montserrat Bold"/>
                <a:cs typeface="Montserrat Bold"/>
                <a:sym typeface="Montserrat Bold"/>
              </a:rPr>
              <a:t>no </a:t>
            </a:r>
            <a:r>
              <a:rPr lang="en-US" sz="1300">
                <a:solidFill>
                  <a:srgbClr val="122424"/>
                </a:solidFill>
                <a:latin typeface="Montserrat"/>
                <a:ea typeface="Montserrat"/>
                <a:cs typeface="Montserrat"/>
                <a:sym typeface="Montserrat"/>
              </a:rPr>
              <a:t>serán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14</a:t>
            </a:r>
          </a:p>
        </p:txBody>
      </p:sp>
      <p:sp>
        <p:nvSpPr>
          <p:cNvPr name="TextBox 9" id="9"/>
          <p:cNvSpPr txBox="true"/>
          <p:nvPr/>
        </p:nvSpPr>
        <p:spPr>
          <a:xfrm rot="0">
            <a:off x="916898" y="1842340"/>
            <a:ext cx="2863102" cy="255333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responsabilidad de la Inmobiliaria. Luego, se realizará la entrega de documentación respectiva de la vivienda. Dentro de esta documentación podría encontrarse un manual de uso y recomendaciones generales, reglamento de copropiedad, manual de uso y mantenimiento de la vivienda, entre otros. </a:t>
            </a:r>
          </a:p>
        </p:txBody>
      </p:sp>
      <p:sp>
        <p:nvSpPr>
          <p:cNvPr name="TextBox 10" id="10"/>
          <p:cNvSpPr txBox="true"/>
          <p:nvPr/>
        </p:nvSpPr>
        <p:spPr>
          <a:xfrm rot="0">
            <a:off x="3940898" y="1842340"/>
            <a:ext cx="2863102" cy="203872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Dependerá de la Inmobiliaria cuáles documentos serán entregados.</a:t>
            </a:r>
            <a:r>
              <a:rPr lang="en-US" sz="1300">
                <a:solidFill>
                  <a:srgbClr val="122424"/>
                </a:solidFill>
                <a:latin typeface="Montserrat"/>
                <a:ea typeface="Montserrat"/>
                <a:cs typeface="Montserrat"/>
                <a:sym typeface="Montserrat"/>
              </a:rPr>
              <a:t> Finalmente, se realizará la firma del Acta de Entrega de la vivienda, en donde se formaliza la entrega y la recepción de la vivienda, en conjunto con las llaves. </a:t>
            </a:r>
          </a:p>
        </p:txBody>
      </p:sp>
      <p:sp>
        <p:nvSpPr>
          <p:cNvPr name="Freeform 11" id="11"/>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grpSp>
        <p:nvGrpSpPr>
          <p:cNvPr name="Group 12" id="12"/>
          <p:cNvGrpSpPr/>
          <p:nvPr/>
        </p:nvGrpSpPr>
        <p:grpSpPr>
          <a:xfrm rot="0">
            <a:off x="603915" y="8286800"/>
            <a:ext cx="1112011" cy="730100"/>
            <a:chOff x="0" y="0"/>
            <a:chExt cx="425343" cy="279263"/>
          </a:xfrm>
        </p:grpSpPr>
        <p:sp>
          <p:nvSpPr>
            <p:cNvPr name="Freeform 13" id="13"/>
            <p:cNvSpPr/>
            <p:nvPr/>
          </p:nvSpPr>
          <p:spPr>
            <a:xfrm flipH="false" flipV="false" rot="0">
              <a:off x="0" y="0"/>
              <a:ext cx="425343" cy="279263"/>
            </a:xfrm>
            <a:custGeom>
              <a:avLst/>
              <a:gdLst/>
              <a:ahLst/>
              <a:cxnLst/>
              <a:rect r="r" b="b" t="t" l="l"/>
              <a:pathLst>
                <a:path h="279263" w="425343">
                  <a:moveTo>
                    <a:pt x="139631" y="0"/>
                  </a:moveTo>
                  <a:lnTo>
                    <a:pt x="285712" y="0"/>
                  </a:lnTo>
                  <a:cubicBezTo>
                    <a:pt x="362828" y="0"/>
                    <a:pt x="425343" y="62515"/>
                    <a:pt x="425343" y="139631"/>
                  </a:cubicBezTo>
                  <a:lnTo>
                    <a:pt x="425343" y="139631"/>
                  </a:lnTo>
                  <a:cubicBezTo>
                    <a:pt x="425343" y="176664"/>
                    <a:pt x="410632" y="212180"/>
                    <a:pt x="384446" y="238366"/>
                  </a:cubicBezTo>
                  <a:cubicBezTo>
                    <a:pt x="358260" y="264551"/>
                    <a:pt x="322744" y="279263"/>
                    <a:pt x="285712"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97B2"/>
            </a:solidFill>
          </p:spPr>
        </p:sp>
        <p:sp>
          <p:nvSpPr>
            <p:cNvPr name="TextBox 14" id="14"/>
            <p:cNvSpPr txBox="true"/>
            <p:nvPr/>
          </p:nvSpPr>
          <p:spPr>
            <a:xfrm>
              <a:off x="0" y="-28575"/>
              <a:ext cx="425343"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Recepción final: títulos aprobados</a:t>
              </a:r>
            </a:p>
          </p:txBody>
        </p:sp>
      </p:grpSp>
      <p:sp>
        <p:nvSpPr>
          <p:cNvPr name="AutoShape 15" id="15"/>
          <p:cNvSpPr/>
          <p:nvPr/>
        </p:nvSpPr>
        <p:spPr>
          <a:xfrm flipV="true">
            <a:off x="1291262" y="6740368"/>
            <a:ext cx="538039" cy="5418"/>
          </a:xfrm>
          <a:prstGeom prst="line">
            <a:avLst/>
          </a:prstGeom>
          <a:ln cap="flat" w="38100">
            <a:solidFill>
              <a:srgbClr val="004AAD"/>
            </a:solidFill>
            <a:prstDash val="solid"/>
            <a:headEnd type="none" len="sm" w="sm"/>
            <a:tailEnd type="none" len="sm" w="sm"/>
          </a:ln>
        </p:spPr>
      </p:sp>
      <p:sp>
        <p:nvSpPr>
          <p:cNvPr name="AutoShape 16" id="16"/>
          <p:cNvSpPr/>
          <p:nvPr/>
        </p:nvSpPr>
        <p:spPr>
          <a:xfrm flipV="true">
            <a:off x="2623025" y="6760925"/>
            <a:ext cx="538039" cy="5418"/>
          </a:xfrm>
          <a:prstGeom prst="line">
            <a:avLst/>
          </a:prstGeom>
          <a:ln cap="flat" w="38100">
            <a:solidFill>
              <a:srgbClr val="004AAD"/>
            </a:solidFill>
            <a:prstDash val="solid"/>
            <a:headEnd type="none" len="sm" w="sm"/>
            <a:tailEnd type="none" len="sm" w="sm"/>
          </a:ln>
        </p:spPr>
      </p:sp>
      <p:sp>
        <p:nvSpPr>
          <p:cNvPr name="AutoShape 17" id="17"/>
          <p:cNvSpPr/>
          <p:nvPr/>
        </p:nvSpPr>
        <p:spPr>
          <a:xfrm flipH="true">
            <a:off x="2158297" y="5441675"/>
            <a:ext cx="16255" cy="1294432"/>
          </a:xfrm>
          <a:prstGeom prst="line">
            <a:avLst/>
          </a:prstGeom>
          <a:ln cap="flat" w="38100">
            <a:solidFill>
              <a:srgbClr val="5271FF"/>
            </a:solidFill>
            <a:prstDash val="sysDash"/>
            <a:headEnd type="none" len="sm" w="sm"/>
            <a:tailEnd type="none" len="sm" w="sm"/>
          </a:ln>
        </p:spPr>
      </p:sp>
      <p:grpSp>
        <p:nvGrpSpPr>
          <p:cNvPr name="Group 18" id="18"/>
          <p:cNvGrpSpPr/>
          <p:nvPr/>
        </p:nvGrpSpPr>
        <p:grpSpPr>
          <a:xfrm rot="0">
            <a:off x="1654360" y="6347901"/>
            <a:ext cx="1076078" cy="730100"/>
            <a:chOff x="0" y="0"/>
            <a:chExt cx="411599" cy="279263"/>
          </a:xfrm>
        </p:grpSpPr>
        <p:sp>
          <p:nvSpPr>
            <p:cNvPr name="Freeform 19" id="19"/>
            <p:cNvSpPr/>
            <p:nvPr/>
          </p:nvSpPr>
          <p:spPr>
            <a:xfrm flipH="false" flipV="false" rot="0">
              <a:off x="0" y="0"/>
              <a:ext cx="411599" cy="279263"/>
            </a:xfrm>
            <a:custGeom>
              <a:avLst/>
              <a:gdLst/>
              <a:ahLst/>
              <a:cxnLst/>
              <a:rect r="r" b="b" t="t" l="l"/>
              <a:pathLst>
                <a:path h="279263" w="411599">
                  <a:moveTo>
                    <a:pt x="139631" y="0"/>
                  </a:moveTo>
                  <a:lnTo>
                    <a:pt x="271968" y="0"/>
                  </a:lnTo>
                  <a:cubicBezTo>
                    <a:pt x="309000" y="0"/>
                    <a:pt x="344516" y="14711"/>
                    <a:pt x="370702" y="40897"/>
                  </a:cubicBezTo>
                  <a:cubicBezTo>
                    <a:pt x="396888" y="67083"/>
                    <a:pt x="411599" y="102599"/>
                    <a:pt x="411599" y="139631"/>
                  </a:cubicBezTo>
                  <a:lnTo>
                    <a:pt x="411599" y="139631"/>
                  </a:lnTo>
                  <a:cubicBezTo>
                    <a:pt x="411599" y="216748"/>
                    <a:pt x="349084" y="279263"/>
                    <a:pt x="271968"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4AAD"/>
            </a:solidFill>
          </p:spPr>
        </p:sp>
        <p:sp>
          <p:nvSpPr>
            <p:cNvPr name="TextBox 20" id="20"/>
            <p:cNvSpPr txBox="true"/>
            <p:nvPr/>
          </p:nvSpPr>
          <p:spPr>
            <a:xfrm>
              <a:off x="0" y="-28575"/>
              <a:ext cx="411599"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2. Preparación para la escrituración</a:t>
              </a:r>
            </a:p>
          </p:txBody>
        </p:sp>
      </p:grpSp>
      <p:grpSp>
        <p:nvGrpSpPr>
          <p:cNvPr name="Group 21" id="21"/>
          <p:cNvGrpSpPr/>
          <p:nvPr/>
        </p:nvGrpSpPr>
        <p:grpSpPr>
          <a:xfrm rot="0">
            <a:off x="2791440" y="8286800"/>
            <a:ext cx="1014576" cy="730100"/>
            <a:chOff x="0" y="0"/>
            <a:chExt cx="388075" cy="279263"/>
          </a:xfrm>
        </p:grpSpPr>
        <p:sp>
          <p:nvSpPr>
            <p:cNvPr name="Freeform 22" id="22"/>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97B2"/>
            </a:solidFill>
          </p:spPr>
        </p:sp>
        <p:sp>
          <p:nvSpPr>
            <p:cNvPr name="TextBox 23" id="23"/>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Inscripción Dominio C.B.R</a:t>
              </a:r>
            </a:p>
          </p:txBody>
        </p:sp>
      </p:grpSp>
      <p:sp>
        <p:nvSpPr>
          <p:cNvPr name="AutoShape 24" id="24"/>
          <p:cNvSpPr/>
          <p:nvPr/>
        </p:nvSpPr>
        <p:spPr>
          <a:xfrm flipV="true">
            <a:off x="3536996" y="6760925"/>
            <a:ext cx="538039" cy="5418"/>
          </a:xfrm>
          <a:prstGeom prst="line">
            <a:avLst/>
          </a:prstGeom>
          <a:ln cap="flat" w="38100">
            <a:solidFill>
              <a:srgbClr val="004AAD"/>
            </a:solidFill>
            <a:prstDash val="solid"/>
            <a:headEnd type="none" len="sm" w="sm"/>
            <a:tailEnd type="none" len="sm" w="sm"/>
          </a:ln>
        </p:spPr>
      </p:sp>
      <p:sp>
        <p:nvSpPr>
          <p:cNvPr name="AutoShape 25" id="25"/>
          <p:cNvSpPr/>
          <p:nvPr/>
        </p:nvSpPr>
        <p:spPr>
          <a:xfrm flipV="true">
            <a:off x="4760125" y="6743077"/>
            <a:ext cx="1367059" cy="2709"/>
          </a:xfrm>
          <a:prstGeom prst="line">
            <a:avLst/>
          </a:prstGeom>
          <a:ln cap="flat" w="38100">
            <a:solidFill>
              <a:srgbClr val="004AAD"/>
            </a:solidFill>
            <a:prstDash val="solid"/>
            <a:headEnd type="none" len="sm" w="sm"/>
            <a:tailEnd type="none" len="sm" w="sm"/>
          </a:ln>
        </p:spPr>
      </p:sp>
      <p:sp>
        <p:nvSpPr>
          <p:cNvPr name="AutoShape 26" id="26"/>
          <p:cNvSpPr/>
          <p:nvPr/>
        </p:nvSpPr>
        <p:spPr>
          <a:xfrm flipH="true">
            <a:off x="4449646" y="5430573"/>
            <a:ext cx="16255" cy="1294432"/>
          </a:xfrm>
          <a:prstGeom prst="line">
            <a:avLst/>
          </a:prstGeom>
          <a:ln cap="flat" w="38100">
            <a:solidFill>
              <a:srgbClr val="5271FF"/>
            </a:solidFill>
            <a:prstDash val="sysDash"/>
            <a:headEnd type="none" len="sm" w="sm"/>
            <a:tailEnd type="none" len="sm" w="sm"/>
          </a:ln>
        </p:spPr>
      </p:sp>
      <p:grpSp>
        <p:nvGrpSpPr>
          <p:cNvPr name="Group 27" id="27"/>
          <p:cNvGrpSpPr/>
          <p:nvPr/>
        </p:nvGrpSpPr>
        <p:grpSpPr>
          <a:xfrm rot="0">
            <a:off x="3924510" y="6347901"/>
            <a:ext cx="1014576" cy="730100"/>
            <a:chOff x="0" y="0"/>
            <a:chExt cx="388075" cy="279263"/>
          </a:xfrm>
        </p:grpSpPr>
        <p:sp>
          <p:nvSpPr>
            <p:cNvPr name="Freeform 28" id="28"/>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4AAD"/>
            </a:solidFill>
          </p:spPr>
        </p:sp>
        <p:sp>
          <p:nvSpPr>
            <p:cNvPr name="TextBox 29" id="29"/>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4. Validación escritura</a:t>
              </a:r>
            </a:p>
          </p:txBody>
        </p:sp>
      </p:grpSp>
      <p:sp>
        <p:nvSpPr>
          <p:cNvPr name="AutoShape 30" id="30"/>
          <p:cNvSpPr/>
          <p:nvPr/>
        </p:nvSpPr>
        <p:spPr>
          <a:xfrm>
            <a:off x="6558677" y="6821662"/>
            <a:ext cx="0" cy="1830188"/>
          </a:xfrm>
          <a:prstGeom prst="line">
            <a:avLst/>
          </a:prstGeom>
          <a:ln cap="flat" w="38100">
            <a:solidFill>
              <a:srgbClr val="004AAD"/>
            </a:solidFill>
            <a:prstDash val="solid"/>
            <a:headEnd type="none" len="sm" w="sm"/>
            <a:tailEnd type="triangle" len="med" w="lg"/>
          </a:ln>
        </p:spPr>
      </p:sp>
      <p:sp>
        <p:nvSpPr>
          <p:cNvPr name="AutoShape 31" id="31"/>
          <p:cNvSpPr/>
          <p:nvPr/>
        </p:nvSpPr>
        <p:spPr>
          <a:xfrm flipH="true">
            <a:off x="6594373" y="5418295"/>
            <a:ext cx="16255" cy="1294432"/>
          </a:xfrm>
          <a:prstGeom prst="line">
            <a:avLst/>
          </a:prstGeom>
          <a:ln cap="flat" w="38100">
            <a:solidFill>
              <a:srgbClr val="5271FF"/>
            </a:solidFill>
            <a:prstDash val="sysDash"/>
            <a:headEnd type="none" len="sm" w="sm"/>
            <a:tailEnd type="none" len="sm" w="sm"/>
          </a:ln>
        </p:spPr>
      </p:sp>
      <p:sp>
        <p:nvSpPr>
          <p:cNvPr name="AutoShape 32" id="32"/>
          <p:cNvSpPr/>
          <p:nvPr/>
        </p:nvSpPr>
        <p:spPr>
          <a:xfrm>
            <a:off x="6558676" y="6986851"/>
            <a:ext cx="2965" cy="332107"/>
          </a:xfrm>
          <a:prstGeom prst="line">
            <a:avLst/>
          </a:prstGeom>
          <a:ln cap="flat" w="38100">
            <a:solidFill>
              <a:srgbClr val="545454"/>
            </a:solidFill>
            <a:prstDash val="solid"/>
            <a:headEnd type="none" len="sm" w="sm"/>
            <a:tailEnd type="triangle" len="med" w="lg"/>
          </a:ln>
        </p:spPr>
      </p:sp>
      <p:grpSp>
        <p:nvGrpSpPr>
          <p:cNvPr name="Group 33" id="33"/>
          <p:cNvGrpSpPr/>
          <p:nvPr/>
        </p:nvGrpSpPr>
        <p:grpSpPr>
          <a:xfrm rot="0">
            <a:off x="6019556" y="6347901"/>
            <a:ext cx="1014576" cy="730100"/>
            <a:chOff x="0" y="0"/>
            <a:chExt cx="388075" cy="279263"/>
          </a:xfrm>
        </p:grpSpPr>
        <p:sp>
          <p:nvSpPr>
            <p:cNvPr name="Freeform 34" id="34"/>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4AAD"/>
            </a:solidFill>
          </p:spPr>
        </p:sp>
        <p:sp>
          <p:nvSpPr>
            <p:cNvPr name="TextBox 35" id="35"/>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5. Coordinar entrega</a:t>
              </a:r>
            </a:p>
          </p:txBody>
        </p:sp>
      </p:grpSp>
      <p:grpSp>
        <p:nvGrpSpPr>
          <p:cNvPr name="Group 36" id="36"/>
          <p:cNvGrpSpPr/>
          <p:nvPr/>
        </p:nvGrpSpPr>
        <p:grpSpPr>
          <a:xfrm rot="0">
            <a:off x="3924510" y="5018747"/>
            <a:ext cx="1014576" cy="730100"/>
            <a:chOff x="0" y="0"/>
            <a:chExt cx="388075" cy="279263"/>
          </a:xfrm>
        </p:grpSpPr>
        <p:sp>
          <p:nvSpPr>
            <p:cNvPr name="Freeform 37" id="37"/>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97B2"/>
            </a:solidFill>
          </p:spPr>
        </p:sp>
        <p:sp>
          <p:nvSpPr>
            <p:cNvPr name="TextBox 38" id="38"/>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Gestionar corrección de escritura</a:t>
              </a:r>
            </a:p>
          </p:txBody>
        </p:sp>
      </p:grpSp>
      <p:sp>
        <p:nvSpPr>
          <p:cNvPr name="AutoShape 39" id="39"/>
          <p:cNvSpPr/>
          <p:nvPr/>
        </p:nvSpPr>
        <p:spPr>
          <a:xfrm>
            <a:off x="6553821" y="7964653"/>
            <a:ext cx="2965" cy="332107"/>
          </a:xfrm>
          <a:prstGeom prst="line">
            <a:avLst/>
          </a:prstGeom>
          <a:ln cap="flat" w="38100">
            <a:solidFill>
              <a:srgbClr val="545454"/>
            </a:solidFill>
            <a:prstDash val="solid"/>
            <a:headEnd type="none" len="sm" w="sm"/>
            <a:tailEnd type="triangle" len="med" w="lg"/>
          </a:ln>
        </p:spPr>
      </p:sp>
      <p:grpSp>
        <p:nvGrpSpPr>
          <p:cNvPr name="Group 40" id="40"/>
          <p:cNvGrpSpPr/>
          <p:nvPr/>
        </p:nvGrpSpPr>
        <p:grpSpPr>
          <a:xfrm rot="0">
            <a:off x="6019556" y="7315744"/>
            <a:ext cx="1014576" cy="730100"/>
            <a:chOff x="0" y="0"/>
            <a:chExt cx="388075" cy="279263"/>
          </a:xfrm>
        </p:grpSpPr>
        <p:sp>
          <p:nvSpPr>
            <p:cNvPr name="Freeform 41" id="41"/>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4AAD"/>
            </a:solidFill>
          </p:spPr>
        </p:sp>
        <p:sp>
          <p:nvSpPr>
            <p:cNvPr name="TextBox 42" id="42"/>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6. Entrega</a:t>
              </a:r>
            </a:p>
          </p:txBody>
        </p:sp>
      </p:grpSp>
      <p:grpSp>
        <p:nvGrpSpPr>
          <p:cNvPr name="Group 43" id="43"/>
          <p:cNvGrpSpPr/>
          <p:nvPr/>
        </p:nvGrpSpPr>
        <p:grpSpPr>
          <a:xfrm rot="0">
            <a:off x="6019556" y="8286800"/>
            <a:ext cx="1014576" cy="730100"/>
            <a:chOff x="0" y="0"/>
            <a:chExt cx="388075" cy="279263"/>
          </a:xfrm>
        </p:grpSpPr>
        <p:sp>
          <p:nvSpPr>
            <p:cNvPr name="Freeform 44" id="44"/>
            <p:cNvSpPr/>
            <p:nvPr/>
          </p:nvSpPr>
          <p:spPr>
            <a:xfrm flipH="false" flipV="false" rot="0">
              <a:off x="0" y="0"/>
              <a:ext cx="388075" cy="279263"/>
            </a:xfrm>
            <a:custGeom>
              <a:avLst/>
              <a:gdLst/>
              <a:ahLst/>
              <a:cxnLst/>
              <a:rect r="r" b="b" t="t" l="l"/>
              <a:pathLst>
                <a:path h="279263" w="388075">
                  <a:moveTo>
                    <a:pt x="139631" y="0"/>
                  </a:moveTo>
                  <a:lnTo>
                    <a:pt x="248443" y="0"/>
                  </a:lnTo>
                  <a:cubicBezTo>
                    <a:pt x="285476" y="0"/>
                    <a:pt x="320992" y="14711"/>
                    <a:pt x="347178" y="40897"/>
                  </a:cubicBezTo>
                  <a:cubicBezTo>
                    <a:pt x="373363" y="67083"/>
                    <a:pt x="388075" y="102599"/>
                    <a:pt x="388075" y="139631"/>
                  </a:cubicBezTo>
                  <a:lnTo>
                    <a:pt x="388075" y="139631"/>
                  </a:lnTo>
                  <a:cubicBezTo>
                    <a:pt x="388075" y="216748"/>
                    <a:pt x="325560" y="279263"/>
                    <a:pt x="248443"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4AAD"/>
            </a:solidFill>
          </p:spPr>
        </p:sp>
        <p:sp>
          <p:nvSpPr>
            <p:cNvPr name="TextBox 45" id="45"/>
            <p:cNvSpPr txBox="true"/>
            <p:nvPr/>
          </p:nvSpPr>
          <p:spPr>
            <a:xfrm>
              <a:off x="0" y="-28575"/>
              <a:ext cx="388075" cy="307838"/>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7. Post - Venta</a:t>
              </a:r>
            </a:p>
          </p:txBody>
        </p:sp>
      </p:grpSp>
      <p:sp>
        <p:nvSpPr>
          <p:cNvPr name="AutoShape 46" id="46"/>
          <p:cNvSpPr/>
          <p:nvPr/>
        </p:nvSpPr>
        <p:spPr>
          <a:xfrm>
            <a:off x="1106690" y="6395824"/>
            <a:ext cx="0" cy="1830188"/>
          </a:xfrm>
          <a:prstGeom prst="line">
            <a:avLst/>
          </a:prstGeom>
          <a:ln cap="flat" w="38100">
            <a:solidFill>
              <a:srgbClr val="004AAD"/>
            </a:solidFill>
            <a:prstDash val="solid"/>
            <a:headEnd type="none" len="sm" w="sm"/>
            <a:tailEnd type="triangle" len="med" w="lg"/>
          </a:ln>
        </p:spPr>
      </p:sp>
      <p:grpSp>
        <p:nvGrpSpPr>
          <p:cNvPr name="Group 47" id="47"/>
          <p:cNvGrpSpPr/>
          <p:nvPr/>
        </p:nvGrpSpPr>
        <p:grpSpPr>
          <a:xfrm rot="0">
            <a:off x="617402" y="6306267"/>
            <a:ext cx="942879" cy="873620"/>
            <a:chOff x="0" y="0"/>
            <a:chExt cx="923832" cy="855972"/>
          </a:xfrm>
        </p:grpSpPr>
        <p:sp>
          <p:nvSpPr>
            <p:cNvPr name="Freeform 48" id="48"/>
            <p:cNvSpPr/>
            <p:nvPr/>
          </p:nvSpPr>
          <p:spPr>
            <a:xfrm flipH="false" flipV="false" rot="0">
              <a:off x="0" y="0"/>
              <a:ext cx="923832" cy="855972"/>
            </a:xfrm>
            <a:custGeom>
              <a:avLst/>
              <a:gdLst/>
              <a:ahLst/>
              <a:cxnLst/>
              <a:rect r="r" b="b" t="t" l="l"/>
              <a:pathLst>
                <a:path h="855972" w="923832">
                  <a:moveTo>
                    <a:pt x="461916" y="0"/>
                  </a:moveTo>
                  <a:cubicBezTo>
                    <a:pt x="206807" y="0"/>
                    <a:pt x="0" y="191616"/>
                    <a:pt x="0" y="427986"/>
                  </a:cubicBezTo>
                  <a:cubicBezTo>
                    <a:pt x="0" y="664356"/>
                    <a:pt x="206807" y="855972"/>
                    <a:pt x="461916" y="855972"/>
                  </a:cubicBezTo>
                  <a:cubicBezTo>
                    <a:pt x="717025" y="855972"/>
                    <a:pt x="923832" y="664356"/>
                    <a:pt x="923832" y="427986"/>
                  </a:cubicBezTo>
                  <a:cubicBezTo>
                    <a:pt x="923832" y="191616"/>
                    <a:pt x="717025" y="0"/>
                    <a:pt x="461916" y="0"/>
                  </a:cubicBezTo>
                  <a:close/>
                </a:path>
              </a:pathLst>
            </a:custGeom>
            <a:solidFill>
              <a:srgbClr val="8C52FF"/>
            </a:solidFill>
          </p:spPr>
        </p:sp>
        <p:sp>
          <p:nvSpPr>
            <p:cNvPr name="TextBox 49" id="49"/>
            <p:cNvSpPr txBox="true"/>
            <p:nvPr/>
          </p:nvSpPr>
          <p:spPr>
            <a:xfrm>
              <a:off x="86609" y="51672"/>
              <a:ext cx="750614" cy="724052"/>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1. Aviso inmobiliaria</a:t>
              </a:r>
            </a:p>
          </p:txBody>
        </p:sp>
      </p:grpSp>
      <p:sp>
        <p:nvSpPr>
          <p:cNvPr name="AutoShape 50" id="50"/>
          <p:cNvSpPr/>
          <p:nvPr/>
        </p:nvSpPr>
        <p:spPr>
          <a:xfrm>
            <a:off x="3298728" y="6395824"/>
            <a:ext cx="0" cy="1830188"/>
          </a:xfrm>
          <a:prstGeom prst="line">
            <a:avLst/>
          </a:prstGeom>
          <a:ln cap="flat" w="38100">
            <a:solidFill>
              <a:srgbClr val="004AAD"/>
            </a:solidFill>
            <a:prstDash val="solid"/>
            <a:headEnd type="none" len="sm" w="sm"/>
            <a:tailEnd type="triangle" len="med" w="lg"/>
          </a:ln>
        </p:spPr>
      </p:sp>
      <p:grpSp>
        <p:nvGrpSpPr>
          <p:cNvPr name="Group 51" id="51"/>
          <p:cNvGrpSpPr/>
          <p:nvPr/>
        </p:nvGrpSpPr>
        <p:grpSpPr>
          <a:xfrm rot="0">
            <a:off x="2874196" y="6240160"/>
            <a:ext cx="813367" cy="813367"/>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53" id="53"/>
            <p:cNvSpPr txBox="true"/>
            <p:nvPr/>
          </p:nvSpPr>
          <p:spPr>
            <a:xfrm>
              <a:off x="76200" y="47625"/>
              <a:ext cx="660400" cy="688975"/>
            </a:xfrm>
            <a:prstGeom prst="rect">
              <a:avLst/>
            </a:prstGeom>
          </p:spPr>
          <p:txBody>
            <a:bodyPr anchor="ctr" rtlCol="false" tIns="50800" lIns="50800" bIns="50800" rIns="50800"/>
            <a:lstStyle/>
            <a:p>
              <a:pPr algn="ctr">
                <a:lnSpc>
                  <a:spcPts val="1280"/>
                </a:lnSpc>
              </a:pPr>
              <a:r>
                <a:rPr lang="en-US" sz="800">
                  <a:solidFill>
                    <a:srgbClr val="FFFFFF"/>
                  </a:solidFill>
                  <a:latin typeface="Montserrat Semi-Bold"/>
                  <a:ea typeface="Montserrat Semi-Bold"/>
                  <a:cs typeface="Montserrat Semi-Bold"/>
                  <a:sym typeface="Montserrat Semi-Bold"/>
                </a:rPr>
                <a:t>3. Firma escritura</a:t>
              </a:r>
            </a:p>
          </p:txBody>
        </p:sp>
      </p:grpSp>
      <p:sp>
        <p:nvSpPr>
          <p:cNvPr name="AutoShape 54" id="54"/>
          <p:cNvSpPr/>
          <p:nvPr/>
        </p:nvSpPr>
        <p:spPr>
          <a:xfrm flipV="true">
            <a:off x="5713503" y="6735648"/>
            <a:ext cx="320416" cy="8924"/>
          </a:xfrm>
          <a:prstGeom prst="line">
            <a:avLst/>
          </a:prstGeom>
          <a:ln cap="flat" w="38100">
            <a:solidFill>
              <a:srgbClr val="545454"/>
            </a:solidFill>
            <a:prstDash val="solid"/>
            <a:headEnd type="none" len="sm" w="sm"/>
            <a:tailEnd type="triangle" len="med" w="lg"/>
          </a:ln>
        </p:spPr>
      </p:sp>
      <p:grpSp>
        <p:nvGrpSpPr>
          <p:cNvPr name="Group 55" id="55"/>
          <p:cNvGrpSpPr/>
          <p:nvPr/>
        </p:nvGrpSpPr>
        <p:grpSpPr>
          <a:xfrm rot="0">
            <a:off x="5162195" y="6395824"/>
            <a:ext cx="634253" cy="634253"/>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38B6FF"/>
            </a:solidFill>
          </p:spPr>
        </p:sp>
        <p:sp>
          <p:nvSpPr>
            <p:cNvPr name="TextBox 57" id="57"/>
            <p:cNvSpPr txBox="true"/>
            <p:nvPr/>
          </p:nvSpPr>
          <p:spPr>
            <a:xfrm>
              <a:off x="88900" y="41275"/>
              <a:ext cx="635000" cy="682625"/>
            </a:xfrm>
            <a:prstGeom prst="rect">
              <a:avLst/>
            </a:prstGeom>
          </p:spPr>
          <p:txBody>
            <a:bodyPr anchor="ctr" rtlCol="false" tIns="50800" lIns="50800" bIns="50800" rIns="50800"/>
            <a:lstStyle/>
            <a:p>
              <a:pPr algn="ctr">
                <a:lnSpc>
                  <a:spcPts val="1759"/>
                </a:lnSpc>
              </a:pPr>
              <a:r>
                <a:rPr lang="en-US" sz="1099">
                  <a:solidFill>
                    <a:srgbClr val="FFFFFF"/>
                  </a:solidFill>
                  <a:latin typeface="Montserrat Semi-Bold"/>
                  <a:ea typeface="Montserrat Semi-Bold"/>
                  <a:cs typeface="Montserrat Semi-Bold"/>
                  <a:sym typeface="Montserrat Semi-Bold"/>
                </a:rPr>
                <a:t>¿OK?</a:t>
              </a:r>
            </a:p>
          </p:txBody>
        </p:sp>
      </p:grpSp>
      <p:grpSp>
        <p:nvGrpSpPr>
          <p:cNvPr name="Group 58" id="58"/>
          <p:cNvGrpSpPr/>
          <p:nvPr/>
        </p:nvGrpSpPr>
        <p:grpSpPr>
          <a:xfrm rot="0">
            <a:off x="864133" y="4875483"/>
            <a:ext cx="2901540" cy="1003605"/>
            <a:chOff x="0" y="0"/>
            <a:chExt cx="1109836" cy="383878"/>
          </a:xfrm>
        </p:grpSpPr>
        <p:sp>
          <p:nvSpPr>
            <p:cNvPr name="Freeform 59" id="59"/>
            <p:cNvSpPr/>
            <p:nvPr/>
          </p:nvSpPr>
          <p:spPr>
            <a:xfrm flipH="false" flipV="false" rot="0">
              <a:off x="0" y="0"/>
              <a:ext cx="1109836" cy="383878"/>
            </a:xfrm>
            <a:custGeom>
              <a:avLst/>
              <a:gdLst/>
              <a:ahLst/>
              <a:cxnLst/>
              <a:rect r="r" b="b" t="t" l="l"/>
              <a:pathLst>
                <a:path h="383878" w="1109836">
                  <a:moveTo>
                    <a:pt x="0" y="0"/>
                  </a:moveTo>
                  <a:lnTo>
                    <a:pt x="1109836" y="0"/>
                  </a:lnTo>
                  <a:lnTo>
                    <a:pt x="1109836" y="383878"/>
                  </a:lnTo>
                  <a:lnTo>
                    <a:pt x="0" y="383878"/>
                  </a:lnTo>
                  <a:close/>
                </a:path>
              </a:pathLst>
            </a:custGeom>
            <a:solidFill>
              <a:srgbClr val="004AAD"/>
            </a:solidFill>
          </p:spPr>
        </p:sp>
        <p:sp>
          <p:nvSpPr>
            <p:cNvPr name="TextBox 60" id="60"/>
            <p:cNvSpPr txBox="true"/>
            <p:nvPr/>
          </p:nvSpPr>
          <p:spPr>
            <a:xfrm>
              <a:off x="0" y="-38100"/>
              <a:ext cx="1109836" cy="421978"/>
            </a:xfrm>
            <a:prstGeom prst="rect">
              <a:avLst/>
            </a:prstGeom>
          </p:spPr>
          <p:txBody>
            <a:bodyPr anchor="ctr" rtlCol="false" tIns="50800" lIns="50800" bIns="50800" rIns="50800"/>
            <a:lstStyle/>
            <a:p>
              <a:pPr algn="just" marL="194310" indent="-97155" lvl="1">
                <a:lnSpc>
                  <a:spcPts val="1440"/>
                </a:lnSpc>
                <a:buFont typeface="Arial"/>
                <a:buChar char="•"/>
              </a:pPr>
              <a:r>
                <a:rPr lang="en-US" sz="900">
                  <a:solidFill>
                    <a:srgbClr val="FFFFFF"/>
                  </a:solidFill>
                  <a:latin typeface="Montserrat Semi-Bold"/>
                  <a:ea typeface="Montserrat Semi-Bold"/>
                  <a:cs typeface="Montserrat Semi-Bold"/>
                  <a:sym typeface="Montserrat Semi-Bold"/>
                </a:rPr>
                <a:t>Cuadre de saldo inicial de precio y pago de fondo inicial, si corresponde.</a:t>
              </a:r>
            </a:p>
            <a:p>
              <a:pPr algn="just" marL="194310" indent="-97155" lvl="1">
                <a:lnSpc>
                  <a:spcPts val="1440"/>
                </a:lnSpc>
                <a:buFont typeface="Arial"/>
                <a:buChar char="•"/>
              </a:pPr>
              <a:r>
                <a:rPr lang="en-US" sz="900">
                  <a:solidFill>
                    <a:srgbClr val="FFFFFF"/>
                  </a:solidFill>
                  <a:latin typeface="Montserrat Semi-Bold"/>
                  <a:ea typeface="Montserrat Semi-Bold"/>
                  <a:cs typeface="Montserrat Semi-Bold"/>
                  <a:sym typeface="Montserrat Semi-Bold"/>
                </a:rPr>
                <a:t>Cuentas de servicios al día y contribuciones.</a:t>
              </a:r>
            </a:p>
            <a:p>
              <a:pPr algn="just" marL="194310" indent="-97155" lvl="1">
                <a:lnSpc>
                  <a:spcPts val="1440"/>
                </a:lnSpc>
                <a:buFont typeface="Arial"/>
                <a:buChar char="•"/>
              </a:pPr>
              <a:r>
                <a:rPr lang="en-US" sz="900">
                  <a:solidFill>
                    <a:srgbClr val="FFFFFF"/>
                  </a:solidFill>
                  <a:latin typeface="Montserrat Semi-Bold"/>
                  <a:ea typeface="Montserrat Semi-Bold"/>
                  <a:cs typeface="Montserrat Semi-Bold"/>
                  <a:sym typeface="Montserrat Semi-Bold"/>
                </a:rPr>
                <a:t>Coordinación con Institución Financiera o banco, según corresponda.</a:t>
              </a:r>
            </a:p>
          </p:txBody>
        </p:sp>
      </p:grpSp>
      <p:grpSp>
        <p:nvGrpSpPr>
          <p:cNvPr name="Group 61" id="61"/>
          <p:cNvGrpSpPr/>
          <p:nvPr/>
        </p:nvGrpSpPr>
        <p:grpSpPr>
          <a:xfrm rot="0">
            <a:off x="6024296" y="5018747"/>
            <a:ext cx="1068761" cy="730100"/>
            <a:chOff x="0" y="0"/>
            <a:chExt cx="408800" cy="279263"/>
          </a:xfrm>
        </p:grpSpPr>
        <p:sp>
          <p:nvSpPr>
            <p:cNvPr name="Freeform 62" id="62"/>
            <p:cNvSpPr/>
            <p:nvPr/>
          </p:nvSpPr>
          <p:spPr>
            <a:xfrm flipH="false" flipV="false" rot="0">
              <a:off x="0" y="0"/>
              <a:ext cx="408800" cy="279263"/>
            </a:xfrm>
            <a:custGeom>
              <a:avLst/>
              <a:gdLst/>
              <a:ahLst/>
              <a:cxnLst/>
              <a:rect r="r" b="b" t="t" l="l"/>
              <a:pathLst>
                <a:path h="279263" w="408800">
                  <a:moveTo>
                    <a:pt x="139631" y="0"/>
                  </a:moveTo>
                  <a:lnTo>
                    <a:pt x="269169" y="0"/>
                  </a:lnTo>
                  <a:cubicBezTo>
                    <a:pt x="346285" y="0"/>
                    <a:pt x="408800" y="62515"/>
                    <a:pt x="408800" y="139631"/>
                  </a:cubicBezTo>
                  <a:lnTo>
                    <a:pt x="408800" y="139631"/>
                  </a:lnTo>
                  <a:cubicBezTo>
                    <a:pt x="408800" y="176664"/>
                    <a:pt x="394089" y="212180"/>
                    <a:pt x="367903" y="238366"/>
                  </a:cubicBezTo>
                  <a:cubicBezTo>
                    <a:pt x="341717" y="264551"/>
                    <a:pt x="306201" y="279263"/>
                    <a:pt x="269169" y="279263"/>
                  </a:cubicBezTo>
                  <a:lnTo>
                    <a:pt x="139631" y="279263"/>
                  </a:lnTo>
                  <a:cubicBezTo>
                    <a:pt x="102599" y="279263"/>
                    <a:pt x="67083" y="264551"/>
                    <a:pt x="40897" y="238366"/>
                  </a:cubicBezTo>
                  <a:cubicBezTo>
                    <a:pt x="14711" y="212180"/>
                    <a:pt x="0" y="176664"/>
                    <a:pt x="0" y="139631"/>
                  </a:cubicBezTo>
                  <a:lnTo>
                    <a:pt x="0" y="139631"/>
                  </a:lnTo>
                  <a:cubicBezTo>
                    <a:pt x="0" y="102599"/>
                    <a:pt x="14711" y="67083"/>
                    <a:pt x="40897" y="40897"/>
                  </a:cubicBezTo>
                  <a:cubicBezTo>
                    <a:pt x="67083" y="14711"/>
                    <a:pt x="102599" y="0"/>
                    <a:pt x="139631" y="0"/>
                  </a:cubicBezTo>
                  <a:close/>
                </a:path>
              </a:pathLst>
            </a:custGeom>
            <a:solidFill>
              <a:srgbClr val="0097B2"/>
            </a:solidFill>
          </p:spPr>
        </p:sp>
        <p:sp>
          <p:nvSpPr>
            <p:cNvPr name="TextBox 63" id="63"/>
            <p:cNvSpPr txBox="true"/>
            <p:nvPr/>
          </p:nvSpPr>
          <p:spPr>
            <a:xfrm>
              <a:off x="0" y="-38100"/>
              <a:ext cx="408800" cy="317363"/>
            </a:xfrm>
            <a:prstGeom prst="rect">
              <a:avLst/>
            </a:prstGeom>
          </p:spPr>
          <p:txBody>
            <a:bodyPr anchor="ctr" rtlCol="false" tIns="50800" lIns="50800" bIns="50800" rIns="50800"/>
            <a:lstStyle/>
            <a:p>
              <a:pPr algn="ctr">
                <a:lnSpc>
                  <a:spcPts val="1440"/>
                </a:lnSpc>
              </a:pPr>
              <a:r>
                <a:rPr lang="en-US" sz="900">
                  <a:solidFill>
                    <a:srgbClr val="FFFFFF"/>
                  </a:solidFill>
                  <a:latin typeface="Montserrat Semi-Bold"/>
                  <a:ea typeface="Montserrat Semi-Bold"/>
                  <a:cs typeface="Montserrat Semi-Bold"/>
                  <a:sym typeface="Montserrat Semi-Bold"/>
                </a:rPr>
                <a:t>Confirmación y recordatorio asistencia</a:t>
              </a:r>
            </a:p>
          </p:txBody>
        </p:sp>
      </p:grpSp>
      <p:sp>
        <p:nvSpPr>
          <p:cNvPr name="TextBox 64" id="64"/>
          <p:cNvSpPr txBox="true"/>
          <p:nvPr/>
        </p:nvSpPr>
        <p:spPr>
          <a:xfrm rot="0">
            <a:off x="648455" y="9259148"/>
            <a:ext cx="1946226" cy="309410"/>
          </a:xfrm>
          <a:prstGeom prst="rect">
            <a:avLst/>
          </a:prstGeom>
        </p:spPr>
        <p:txBody>
          <a:bodyPr anchor="t" rtlCol="false" tIns="0" lIns="0" bIns="0" rIns="0">
            <a:spAutoFit/>
          </a:bodyPr>
          <a:lstStyle/>
          <a:p>
            <a:pPr algn="just">
              <a:lnSpc>
                <a:spcPts val="1280"/>
              </a:lnSpc>
            </a:pPr>
            <a:r>
              <a:rPr lang="en-US" sz="800">
                <a:solidFill>
                  <a:srgbClr val="03989E"/>
                </a:solidFill>
                <a:latin typeface="Montserrat"/>
                <a:ea typeface="Montserrat"/>
                <a:cs typeface="Montserrat"/>
                <a:sym typeface="Montserrat"/>
              </a:rPr>
              <a:t>(Cámara Chilena de la Construcción).</a:t>
            </a:r>
          </a:p>
          <a:p>
            <a:pPr algn="just">
              <a:lnSpc>
                <a:spcPts val="1280"/>
              </a:lnSpc>
            </a:pPr>
          </a:p>
        </p:txBody>
      </p:sp>
      <p:sp>
        <p:nvSpPr>
          <p:cNvPr name="AutoShape 65" id="65"/>
          <p:cNvSpPr/>
          <p:nvPr/>
        </p:nvSpPr>
        <p:spPr>
          <a:xfrm>
            <a:off x="2730438" y="6762280"/>
            <a:ext cx="226832" cy="1354"/>
          </a:xfrm>
          <a:prstGeom prst="line">
            <a:avLst/>
          </a:prstGeom>
          <a:ln cap="flat" w="38100">
            <a:solidFill>
              <a:srgbClr val="545454"/>
            </a:solidFill>
            <a:prstDash val="solid"/>
            <a:headEnd type="none" len="sm" w="sm"/>
            <a:tailEnd type="triangle" len="med" w="lg"/>
          </a:ln>
        </p:spPr>
      </p:sp>
      <p:sp>
        <p:nvSpPr>
          <p:cNvPr name="AutoShape 66" id="66"/>
          <p:cNvSpPr/>
          <p:nvPr/>
        </p:nvSpPr>
        <p:spPr>
          <a:xfrm>
            <a:off x="3705518" y="6764989"/>
            <a:ext cx="226832" cy="1354"/>
          </a:xfrm>
          <a:prstGeom prst="line">
            <a:avLst/>
          </a:prstGeom>
          <a:ln cap="flat" w="38100">
            <a:solidFill>
              <a:srgbClr val="545454"/>
            </a:solidFill>
            <a:prstDash val="solid"/>
            <a:headEnd type="none" len="sm" w="sm"/>
            <a:tailEnd type="triangle" len="med" w="lg"/>
          </a:ln>
        </p:spPr>
      </p:sp>
      <p:sp>
        <p:nvSpPr>
          <p:cNvPr name="AutoShape 67" id="67"/>
          <p:cNvSpPr/>
          <p:nvPr/>
        </p:nvSpPr>
        <p:spPr>
          <a:xfrm>
            <a:off x="1440913" y="6735654"/>
            <a:ext cx="226832" cy="1354"/>
          </a:xfrm>
          <a:prstGeom prst="line">
            <a:avLst/>
          </a:prstGeom>
          <a:ln cap="flat" w="38100">
            <a:solidFill>
              <a:srgbClr val="000000"/>
            </a:solidFill>
            <a:prstDash val="solid"/>
            <a:headEnd type="none" len="sm" w="sm"/>
            <a:tailEnd type="triangle" len="med" w="lg"/>
          </a:ln>
        </p:spPr>
      </p:sp>
      <p:sp>
        <p:nvSpPr>
          <p:cNvPr name="AutoShape 68" id="68"/>
          <p:cNvSpPr/>
          <p:nvPr/>
        </p:nvSpPr>
        <p:spPr>
          <a:xfrm flipV="true">
            <a:off x="4917164" y="6736331"/>
            <a:ext cx="320416" cy="8924"/>
          </a:xfrm>
          <a:prstGeom prst="line">
            <a:avLst/>
          </a:prstGeom>
          <a:ln cap="flat" w="38100">
            <a:solidFill>
              <a:srgbClr val="545454"/>
            </a:solidFill>
            <a:prstDash val="solid"/>
            <a:headEnd type="none" len="sm" w="sm"/>
            <a:tailEnd type="triangle" len="med" w="lg"/>
          </a:ln>
        </p:spPr>
      </p:sp>
      <p:sp>
        <p:nvSpPr>
          <p:cNvPr name="TextBox 69" id="69"/>
          <p:cNvSpPr txBox="true"/>
          <p:nvPr/>
        </p:nvSpPr>
        <p:spPr>
          <a:xfrm rot="0">
            <a:off x="603915" y="4540717"/>
            <a:ext cx="3544622" cy="224790"/>
          </a:xfrm>
          <a:prstGeom prst="rect">
            <a:avLst/>
          </a:prstGeom>
        </p:spPr>
        <p:txBody>
          <a:bodyPr anchor="t" rtlCol="false" tIns="0" lIns="0" bIns="0" rIns="0">
            <a:spAutoFit/>
          </a:bodyPr>
          <a:lstStyle/>
          <a:p>
            <a:pPr algn="l">
              <a:lnSpc>
                <a:spcPts val="1920"/>
              </a:lnSpc>
            </a:pPr>
            <a:r>
              <a:rPr lang="en-US" sz="1200" b="true">
                <a:solidFill>
                  <a:srgbClr val="03989E"/>
                </a:solidFill>
                <a:latin typeface="Montserrat Semi-Bold Bold"/>
                <a:ea typeface="Montserrat Semi-Bold Bold"/>
                <a:cs typeface="Montserrat Semi-Bold Bold"/>
                <a:sym typeface="Montserrat Semi-Bold Bold"/>
              </a:rPr>
              <a:t>Resumen proceso de entrega: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6800757"/>
            <a:ext cx="4809708" cy="2530937"/>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02</a:t>
            </a:r>
          </a:p>
          <a:p>
            <a:pPr algn="l">
              <a:lnSpc>
                <a:spcPts val="6546"/>
              </a:lnSpc>
            </a:pPr>
            <a:r>
              <a:rPr lang="en-US" sz="6175">
                <a:solidFill>
                  <a:srgbClr val="222525"/>
                </a:solidFill>
                <a:latin typeface="DM Serif Display"/>
                <a:ea typeface="DM Serif Display"/>
                <a:cs typeface="DM Serif Display"/>
                <a:sym typeface="DM Serif Display"/>
              </a:rPr>
              <a:t>Uso, cuidado y mantención</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3747127"/>
            <a:ext cx="2762464" cy="2598420"/>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¿Cuántos años de garantía tienen las viviendas? </a:t>
            </a:r>
          </a:p>
          <a:p>
            <a:pPr algn="l">
              <a:lnSpc>
                <a:spcPts val="2080"/>
              </a:lnSpc>
            </a:pPr>
            <a:r>
              <a:rPr lang="en-US" sz="1300">
                <a:solidFill>
                  <a:srgbClr val="122424"/>
                </a:solidFill>
                <a:latin typeface="Montserrat"/>
                <a:ea typeface="Montserrat"/>
                <a:cs typeface="Montserrat"/>
                <a:sym typeface="Montserrat"/>
              </a:rPr>
              <a:t>La Ley general de Urbanismo y Construcciones, estipula los plazos dentro de los cuales el primer vendedor debe hacerse responsable de las fallas que podría tener la vivienda la construcción o en el diseño. </a:t>
            </a:r>
            <a:r>
              <a:rPr lang="en-US" sz="1300">
                <a:solidFill>
                  <a:srgbClr val="122424"/>
                </a:solidFill>
                <a:latin typeface="Montserrat"/>
                <a:ea typeface="Montserrat"/>
                <a:cs typeface="Montserrat"/>
                <a:sym typeface="Montserrat"/>
              </a:rPr>
              <a:t>Los plazos varían desde los: </a:t>
            </a:r>
            <a:r>
              <a:rPr lang="en-US" sz="1300">
                <a:solidFill>
                  <a:srgbClr val="122424"/>
                </a:solidFill>
                <a:latin typeface="Montserrat"/>
                <a:ea typeface="Montserrat"/>
                <a:cs typeface="Montserrat"/>
                <a:sym typeface="Montserrat"/>
              </a:rPr>
              <a:t> </a:t>
            </a:r>
          </a:p>
        </p:txBody>
      </p:sp>
      <p:sp>
        <p:nvSpPr>
          <p:cNvPr name="TextBox 8" id="8"/>
          <p:cNvSpPr txBox="true"/>
          <p:nvPr/>
        </p:nvSpPr>
        <p:spPr>
          <a:xfrm rot="0">
            <a:off x="589521" y="1670114"/>
            <a:ext cx="5685177" cy="1294870"/>
          </a:xfrm>
          <a:prstGeom prst="rect">
            <a:avLst/>
          </a:prstGeom>
        </p:spPr>
        <p:txBody>
          <a:bodyPr anchor="t" rtlCol="false" tIns="0" lIns="0" bIns="0" rIns="0">
            <a:spAutoFit/>
          </a:bodyPr>
          <a:lstStyle/>
          <a:p>
            <a:pPr algn="l">
              <a:lnSpc>
                <a:spcPts val="5088"/>
              </a:lnSpc>
            </a:pPr>
            <a:r>
              <a:rPr lang="en-US" sz="4800">
                <a:solidFill>
                  <a:srgbClr val="222525"/>
                </a:solidFill>
                <a:latin typeface="DM Serif Display"/>
                <a:ea typeface="DM Serif Display"/>
                <a:cs typeface="DM Serif Display"/>
                <a:sym typeface="DM Serif Display"/>
              </a:rPr>
              <a:t>02.Uso, cuidado y mantención</a:t>
            </a:r>
          </a:p>
        </p:txBody>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16</a:t>
            </a:r>
          </a:p>
        </p:txBody>
      </p:sp>
      <p:sp>
        <p:nvSpPr>
          <p:cNvPr name="TextBox 11" id="11"/>
          <p:cNvSpPr txBox="true"/>
          <p:nvPr/>
        </p:nvSpPr>
        <p:spPr>
          <a:xfrm rot="0">
            <a:off x="603915" y="3086964"/>
            <a:ext cx="2828194" cy="538182"/>
          </a:xfrm>
          <a:prstGeom prst="rect">
            <a:avLst/>
          </a:prstGeom>
        </p:spPr>
        <p:txBody>
          <a:bodyPr anchor="t" rtlCol="false" tIns="0" lIns="0" bIns="0" rIns="0">
            <a:spAutoFit/>
          </a:bodyPr>
          <a:lstStyle/>
          <a:p>
            <a:pPr algn="l">
              <a:lnSpc>
                <a:spcPts val="2240"/>
              </a:lnSpc>
            </a:pPr>
            <a:r>
              <a:rPr lang="en-US" sz="1400" b="true">
                <a:solidFill>
                  <a:srgbClr val="03989E"/>
                </a:solidFill>
                <a:latin typeface="Montserrat Semi-Bold Bold"/>
                <a:ea typeface="Montserrat Semi-Bold Bold"/>
                <a:cs typeface="Montserrat Semi-Bold Bold"/>
                <a:sym typeface="Montserrat Semi-Bold Bold"/>
              </a:rPr>
              <a:t>2.1. Garantías y modificaciones</a:t>
            </a:r>
          </a:p>
        </p:txBody>
      </p:sp>
      <p:sp>
        <p:nvSpPr>
          <p:cNvPr name="TextBox 12" id="12"/>
          <p:cNvSpPr txBox="true"/>
          <p:nvPr/>
        </p:nvSpPr>
        <p:spPr>
          <a:xfrm rot="60000">
            <a:off x="3733928" y="3694303"/>
            <a:ext cx="2748305" cy="510542"/>
          </a:xfrm>
          <a:prstGeom prst="rect">
            <a:avLst/>
          </a:prstGeom>
        </p:spPr>
        <p:txBody>
          <a:bodyPr anchor="t" rtlCol="false" tIns="0" lIns="0" bIns="0" rIns="0">
            <a:spAutoFit/>
          </a:bodyPr>
          <a:lstStyle/>
          <a:p>
            <a:pPr algn="l">
              <a:lnSpc>
                <a:spcPts val="4319"/>
              </a:lnSpc>
            </a:pPr>
            <a:r>
              <a:rPr lang="en-US" sz="2699" b="true">
                <a:solidFill>
                  <a:srgbClr val="000000"/>
                </a:solidFill>
                <a:latin typeface="Montserrat Bold"/>
                <a:ea typeface="Montserrat Bold"/>
                <a:cs typeface="Montserrat Bold"/>
                <a:sym typeface="Montserrat Bold"/>
              </a:rPr>
              <a:t>10 años...</a:t>
            </a:r>
          </a:p>
        </p:txBody>
      </p:sp>
      <p:sp>
        <p:nvSpPr>
          <p:cNvPr name="TextBox 13" id="13"/>
          <p:cNvSpPr txBox="true"/>
          <p:nvPr/>
        </p:nvSpPr>
        <p:spPr>
          <a:xfrm rot="0">
            <a:off x="3729683" y="4257362"/>
            <a:ext cx="2762464" cy="229616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desde la recepción municipal en fallas o defectos de</a:t>
            </a:r>
            <a:r>
              <a:rPr lang="en-US" sz="1300" i="true">
                <a:solidFill>
                  <a:srgbClr val="122424"/>
                </a:solidFill>
                <a:latin typeface="Montserrat Italics"/>
                <a:ea typeface="Montserrat Italics"/>
                <a:cs typeface="Montserrat Italics"/>
                <a:sym typeface="Montserrat Italics"/>
              </a:rPr>
              <a:t> </a:t>
            </a:r>
            <a:r>
              <a:rPr lang="en-US" b="true" sz="1300" i="true">
                <a:solidFill>
                  <a:srgbClr val="122424"/>
                </a:solidFill>
                <a:latin typeface="Montserrat Bold Italics"/>
                <a:ea typeface="Montserrat Bold Italics"/>
                <a:cs typeface="Montserrat Bold Italics"/>
                <a:sym typeface="Montserrat Bold Italics"/>
              </a:rPr>
              <a:t>elementos estructurantes soportantes </a:t>
            </a:r>
            <a:r>
              <a:rPr lang="en-US" sz="1300">
                <a:solidFill>
                  <a:srgbClr val="122424"/>
                </a:solidFill>
                <a:latin typeface="Montserrat"/>
                <a:ea typeface="Montserrat"/>
                <a:cs typeface="Montserrat"/>
                <a:sym typeface="Montserrat"/>
              </a:rPr>
              <a:t>del inmueble, tales como cimientos, fundaciones, muros soportantes, losas, vigas, cadenas, estructura de techumbres, pilares, entramados horizontales o verticales de carácter estructural. </a:t>
            </a:r>
          </a:p>
        </p:txBody>
      </p:sp>
      <p:sp>
        <p:nvSpPr>
          <p:cNvPr name="Freeform 14" id="14"/>
          <p:cNvSpPr/>
          <p:nvPr/>
        </p:nvSpPr>
        <p:spPr>
          <a:xfrm flipH="false" flipV="false" rot="0">
            <a:off x="3729683" y="8371908"/>
            <a:ext cx="1598402" cy="1276342"/>
          </a:xfrm>
          <a:custGeom>
            <a:avLst/>
            <a:gdLst/>
            <a:ahLst/>
            <a:cxnLst/>
            <a:rect r="r" b="b" t="t" l="l"/>
            <a:pathLst>
              <a:path h="1276342" w="1598402">
                <a:moveTo>
                  <a:pt x="0" y="0"/>
                </a:moveTo>
                <a:lnTo>
                  <a:pt x="1598401" y="0"/>
                </a:lnTo>
                <a:lnTo>
                  <a:pt x="1598401" y="1276342"/>
                </a:lnTo>
                <a:lnTo>
                  <a:pt x="0" y="1276342"/>
                </a:lnTo>
                <a:lnTo>
                  <a:pt x="0" y="0"/>
                </a:lnTo>
                <a:close/>
              </a:path>
            </a:pathLst>
          </a:custGeom>
          <a:blipFill>
            <a:blip r:embed="rId5"/>
            <a:stretch>
              <a:fillRect l="-39338" t="-15867" r="-8105" b="-22619"/>
            </a:stretch>
          </a:blipFill>
        </p:spPr>
      </p:sp>
      <p:sp>
        <p:nvSpPr>
          <p:cNvPr name="Freeform 15" id="15"/>
          <p:cNvSpPr/>
          <p:nvPr/>
        </p:nvSpPr>
        <p:spPr>
          <a:xfrm flipH="false" flipV="false" rot="0">
            <a:off x="5432859" y="6797773"/>
            <a:ext cx="1204661" cy="2850478"/>
          </a:xfrm>
          <a:custGeom>
            <a:avLst/>
            <a:gdLst/>
            <a:ahLst/>
            <a:cxnLst/>
            <a:rect r="r" b="b" t="t" l="l"/>
            <a:pathLst>
              <a:path h="2850478" w="1204661">
                <a:moveTo>
                  <a:pt x="0" y="0"/>
                </a:moveTo>
                <a:lnTo>
                  <a:pt x="1204662" y="0"/>
                </a:lnTo>
                <a:lnTo>
                  <a:pt x="1204662" y="2850477"/>
                </a:lnTo>
                <a:lnTo>
                  <a:pt x="0" y="2850477"/>
                </a:lnTo>
                <a:lnTo>
                  <a:pt x="0" y="0"/>
                </a:lnTo>
                <a:close/>
              </a:path>
            </a:pathLst>
          </a:custGeom>
          <a:blipFill>
            <a:blip r:embed="rId6"/>
            <a:stretch>
              <a:fillRect l="-29819" t="0" r="-32343" b="-2863"/>
            </a:stretch>
          </a:blipFill>
        </p:spPr>
      </p:sp>
      <p:sp>
        <p:nvSpPr>
          <p:cNvPr name="Freeform 16" id="16"/>
          <p:cNvSpPr/>
          <p:nvPr/>
        </p:nvSpPr>
        <p:spPr>
          <a:xfrm flipH="false" flipV="false" rot="0">
            <a:off x="603915" y="6783696"/>
            <a:ext cx="1547192" cy="1393200"/>
          </a:xfrm>
          <a:custGeom>
            <a:avLst/>
            <a:gdLst/>
            <a:ahLst/>
            <a:cxnLst/>
            <a:rect r="r" b="b" t="t" l="l"/>
            <a:pathLst>
              <a:path h="1393200" w="1547192">
                <a:moveTo>
                  <a:pt x="0" y="0"/>
                </a:moveTo>
                <a:lnTo>
                  <a:pt x="1547193" y="0"/>
                </a:lnTo>
                <a:lnTo>
                  <a:pt x="1547193" y="1393201"/>
                </a:lnTo>
                <a:lnTo>
                  <a:pt x="0" y="1393201"/>
                </a:lnTo>
                <a:lnTo>
                  <a:pt x="0" y="0"/>
                </a:lnTo>
                <a:close/>
              </a:path>
            </a:pathLst>
          </a:custGeom>
          <a:blipFill>
            <a:blip r:embed="rId7"/>
            <a:stretch>
              <a:fillRect l="-18412" t="-535" r="-18962" b="-535"/>
            </a:stretch>
          </a:blipFill>
        </p:spPr>
      </p:sp>
      <p:sp>
        <p:nvSpPr>
          <p:cNvPr name="Freeform 17" id="17"/>
          <p:cNvSpPr/>
          <p:nvPr/>
        </p:nvSpPr>
        <p:spPr>
          <a:xfrm flipH="false" flipV="false" rot="0">
            <a:off x="3729683" y="6779694"/>
            <a:ext cx="1598402" cy="1520381"/>
          </a:xfrm>
          <a:custGeom>
            <a:avLst/>
            <a:gdLst/>
            <a:ahLst/>
            <a:cxnLst/>
            <a:rect r="r" b="b" t="t" l="l"/>
            <a:pathLst>
              <a:path h="1520381" w="1598402">
                <a:moveTo>
                  <a:pt x="0" y="0"/>
                </a:moveTo>
                <a:lnTo>
                  <a:pt x="1598401" y="0"/>
                </a:lnTo>
                <a:lnTo>
                  <a:pt x="1598401" y="1520381"/>
                </a:lnTo>
                <a:lnTo>
                  <a:pt x="0" y="1520381"/>
                </a:lnTo>
                <a:lnTo>
                  <a:pt x="0" y="0"/>
                </a:lnTo>
                <a:close/>
              </a:path>
            </a:pathLst>
          </a:custGeom>
          <a:blipFill>
            <a:blip r:embed="rId8"/>
            <a:stretch>
              <a:fillRect l="-13841" t="0" r="-28925" b="0"/>
            </a:stretch>
          </a:blipFill>
        </p:spPr>
      </p:sp>
      <p:sp>
        <p:nvSpPr>
          <p:cNvPr name="Freeform 18" id="18"/>
          <p:cNvSpPr/>
          <p:nvPr/>
        </p:nvSpPr>
        <p:spPr>
          <a:xfrm flipH="false" flipV="false" rot="0">
            <a:off x="2252102" y="6783696"/>
            <a:ext cx="1372806" cy="2864554"/>
          </a:xfrm>
          <a:custGeom>
            <a:avLst/>
            <a:gdLst/>
            <a:ahLst/>
            <a:cxnLst/>
            <a:rect r="r" b="b" t="t" l="l"/>
            <a:pathLst>
              <a:path h="2864554" w="1372806">
                <a:moveTo>
                  <a:pt x="0" y="0"/>
                </a:moveTo>
                <a:lnTo>
                  <a:pt x="1372806" y="0"/>
                </a:lnTo>
                <a:lnTo>
                  <a:pt x="1372806" y="2864554"/>
                </a:lnTo>
                <a:lnTo>
                  <a:pt x="0" y="2864554"/>
                </a:lnTo>
                <a:lnTo>
                  <a:pt x="0" y="0"/>
                </a:lnTo>
                <a:close/>
              </a:path>
            </a:pathLst>
          </a:custGeom>
          <a:blipFill>
            <a:blip r:embed="rId9"/>
            <a:stretch>
              <a:fillRect l="-20996" t="0" r="-203771" b="-3890"/>
            </a:stretch>
          </a:blipFill>
        </p:spPr>
      </p:sp>
      <p:sp>
        <p:nvSpPr>
          <p:cNvPr name="Freeform 19" id="19"/>
          <p:cNvSpPr/>
          <p:nvPr/>
        </p:nvSpPr>
        <p:spPr>
          <a:xfrm flipH="false" flipV="false" rot="0">
            <a:off x="603915" y="8300075"/>
            <a:ext cx="1547192" cy="1324231"/>
          </a:xfrm>
          <a:custGeom>
            <a:avLst/>
            <a:gdLst/>
            <a:ahLst/>
            <a:cxnLst/>
            <a:rect r="r" b="b" t="t" l="l"/>
            <a:pathLst>
              <a:path h="1324231" w="1547192">
                <a:moveTo>
                  <a:pt x="0" y="0"/>
                </a:moveTo>
                <a:lnTo>
                  <a:pt x="1547193" y="0"/>
                </a:lnTo>
                <a:lnTo>
                  <a:pt x="1547193" y="1324231"/>
                </a:lnTo>
                <a:lnTo>
                  <a:pt x="0" y="1324231"/>
                </a:lnTo>
                <a:lnTo>
                  <a:pt x="0" y="0"/>
                </a:lnTo>
                <a:close/>
              </a:path>
            </a:pathLst>
          </a:custGeom>
          <a:blipFill>
            <a:blip r:embed="rId10"/>
            <a:stretch>
              <a:fillRect l="-49102" t="-2696" r="0" b="-13368"/>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03915" y="1806220"/>
            <a:ext cx="1652335" cy="1642358"/>
          </a:xfrm>
          <a:custGeom>
            <a:avLst/>
            <a:gdLst/>
            <a:ahLst/>
            <a:cxnLst/>
            <a:rect r="r" b="b" t="t" l="l"/>
            <a:pathLst>
              <a:path h="1642358" w="1652335">
                <a:moveTo>
                  <a:pt x="0" y="0"/>
                </a:moveTo>
                <a:lnTo>
                  <a:pt x="1652336" y="0"/>
                </a:lnTo>
                <a:lnTo>
                  <a:pt x="1652336" y="1642357"/>
                </a:lnTo>
                <a:lnTo>
                  <a:pt x="0" y="1642357"/>
                </a:lnTo>
                <a:lnTo>
                  <a:pt x="0" y="0"/>
                </a:lnTo>
                <a:close/>
              </a:path>
            </a:pathLst>
          </a:custGeom>
          <a:blipFill>
            <a:blip r:embed="rId5"/>
            <a:stretch>
              <a:fillRect l="-15654" t="-2256" r="-28005" b="0"/>
            </a:stretch>
          </a:blipFill>
        </p:spPr>
      </p:sp>
      <p:sp>
        <p:nvSpPr>
          <p:cNvPr name="Freeform 8" id="8"/>
          <p:cNvSpPr/>
          <p:nvPr/>
        </p:nvSpPr>
        <p:spPr>
          <a:xfrm flipH="false" flipV="false" rot="0">
            <a:off x="2302709" y="5967593"/>
            <a:ext cx="1619405" cy="1446150"/>
          </a:xfrm>
          <a:custGeom>
            <a:avLst/>
            <a:gdLst/>
            <a:ahLst/>
            <a:cxnLst/>
            <a:rect r="r" b="b" t="t" l="l"/>
            <a:pathLst>
              <a:path h="1446150" w="1619405">
                <a:moveTo>
                  <a:pt x="0" y="0"/>
                </a:moveTo>
                <a:lnTo>
                  <a:pt x="1619405" y="0"/>
                </a:lnTo>
                <a:lnTo>
                  <a:pt x="1619405" y="1446150"/>
                </a:lnTo>
                <a:lnTo>
                  <a:pt x="0" y="1446150"/>
                </a:lnTo>
                <a:lnTo>
                  <a:pt x="0" y="0"/>
                </a:lnTo>
                <a:close/>
              </a:path>
            </a:pathLst>
          </a:custGeom>
          <a:blipFill>
            <a:blip r:embed="rId6"/>
            <a:stretch>
              <a:fillRect l="-9038" t="0" r="-24997" b="0"/>
            </a:stretch>
          </a:blipFill>
        </p:spPr>
      </p:sp>
      <p:sp>
        <p:nvSpPr>
          <p:cNvPr name="Freeform 9" id="9"/>
          <p:cNvSpPr/>
          <p:nvPr/>
        </p:nvSpPr>
        <p:spPr>
          <a:xfrm flipH="false" flipV="false" rot="0">
            <a:off x="603915" y="3563314"/>
            <a:ext cx="3318198" cy="2289542"/>
          </a:xfrm>
          <a:custGeom>
            <a:avLst/>
            <a:gdLst/>
            <a:ahLst/>
            <a:cxnLst/>
            <a:rect r="r" b="b" t="t" l="l"/>
            <a:pathLst>
              <a:path h="2289542" w="3318198">
                <a:moveTo>
                  <a:pt x="0" y="0"/>
                </a:moveTo>
                <a:lnTo>
                  <a:pt x="3318199" y="0"/>
                </a:lnTo>
                <a:lnTo>
                  <a:pt x="3318199" y="2289542"/>
                </a:lnTo>
                <a:lnTo>
                  <a:pt x="0" y="2289542"/>
                </a:lnTo>
                <a:lnTo>
                  <a:pt x="0" y="0"/>
                </a:lnTo>
                <a:close/>
              </a:path>
            </a:pathLst>
          </a:custGeom>
          <a:blipFill>
            <a:blip r:embed="rId7"/>
            <a:stretch>
              <a:fillRect l="0" t="-19" r="-3605" b="-19"/>
            </a:stretch>
          </a:blipFill>
        </p:spPr>
      </p:sp>
      <p:sp>
        <p:nvSpPr>
          <p:cNvPr name="Freeform 10" id="10"/>
          <p:cNvSpPr/>
          <p:nvPr/>
        </p:nvSpPr>
        <p:spPr>
          <a:xfrm flipH="false" flipV="false" rot="0">
            <a:off x="2302709" y="1806220"/>
            <a:ext cx="1619405" cy="1547545"/>
          </a:xfrm>
          <a:custGeom>
            <a:avLst/>
            <a:gdLst/>
            <a:ahLst/>
            <a:cxnLst/>
            <a:rect r="r" b="b" t="t" l="l"/>
            <a:pathLst>
              <a:path h="1547545" w="1619405">
                <a:moveTo>
                  <a:pt x="0" y="0"/>
                </a:moveTo>
                <a:lnTo>
                  <a:pt x="1619405" y="0"/>
                </a:lnTo>
                <a:lnTo>
                  <a:pt x="1619405" y="1547544"/>
                </a:lnTo>
                <a:lnTo>
                  <a:pt x="0" y="1547544"/>
                </a:lnTo>
                <a:lnTo>
                  <a:pt x="0" y="0"/>
                </a:lnTo>
                <a:close/>
              </a:path>
            </a:pathLst>
          </a:custGeom>
          <a:blipFill>
            <a:blip r:embed="rId8"/>
            <a:stretch>
              <a:fillRect l="-7521" t="-9422" r="-3693" b="-6957"/>
            </a:stretch>
          </a:blipFill>
        </p:spPr>
      </p:sp>
      <p:sp>
        <p:nvSpPr>
          <p:cNvPr name="Freeform 11" id="11"/>
          <p:cNvSpPr/>
          <p:nvPr/>
        </p:nvSpPr>
        <p:spPr>
          <a:xfrm flipH="false" flipV="false" rot="0">
            <a:off x="603915" y="5967156"/>
            <a:ext cx="1618089" cy="1446586"/>
          </a:xfrm>
          <a:custGeom>
            <a:avLst/>
            <a:gdLst/>
            <a:ahLst/>
            <a:cxnLst/>
            <a:rect r="r" b="b" t="t" l="l"/>
            <a:pathLst>
              <a:path h="1446586" w="1618089">
                <a:moveTo>
                  <a:pt x="0" y="0"/>
                </a:moveTo>
                <a:lnTo>
                  <a:pt x="1618089" y="0"/>
                </a:lnTo>
                <a:lnTo>
                  <a:pt x="1618089" y="1446587"/>
                </a:lnTo>
                <a:lnTo>
                  <a:pt x="0" y="1446587"/>
                </a:lnTo>
                <a:lnTo>
                  <a:pt x="0" y="0"/>
                </a:lnTo>
                <a:close/>
              </a:path>
            </a:pathLst>
          </a:custGeom>
          <a:blipFill>
            <a:blip r:embed="rId9"/>
            <a:stretch>
              <a:fillRect l="-20529" t="-3419" r="-26109" b="-5930"/>
            </a:stretch>
          </a:blipFill>
        </p:spPr>
      </p:sp>
      <p:sp>
        <p:nvSpPr>
          <p:cNvPr name="TextBox 12" id="12"/>
          <p:cNvSpPr txBox="true"/>
          <p:nvPr/>
        </p:nvSpPr>
        <p:spPr>
          <a:xfrm rot="0">
            <a:off x="4049031" y="2250318"/>
            <a:ext cx="2912631" cy="486791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desde la recepción municipal en fallas o defectos de </a:t>
            </a:r>
            <a:r>
              <a:rPr lang="en-US" b="true" sz="1300" i="true">
                <a:solidFill>
                  <a:srgbClr val="122424"/>
                </a:solidFill>
                <a:latin typeface="Montserrat Bold Italics"/>
                <a:ea typeface="Montserrat Bold Italics"/>
                <a:cs typeface="Montserrat Bold Italics"/>
                <a:sym typeface="Montserrat Bold Italics"/>
              </a:rPr>
              <a:t>elementos constructivos o de las instalaciones</a:t>
            </a:r>
            <a:r>
              <a:rPr lang="en-US" sz="1300">
                <a:solidFill>
                  <a:srgbClr val="122424"/>
                </a:solidFill>
                <a:latin typeface="Montserrat"/>
                <a:ea typeface="Montserrat"/>
                <a:cs typeface="Montserrat"/>
                <a:sym typeface="Montserrat"/>
              </a:rPr>
              <a:t> tales como cubiertas de techumbres, ventanas, estructuras no soportantes de muro y cielo, bases de pavimentos, estructuras o bases de pisos, impermeabilizaciones, aislamiento térmico y acústico, redes de instalaciones tales como eléctricas, de corrientes débiles, de gas, sanitarias, redes húmedas y secas de incendio, sistema de evacuación de basuras, instalaciones y equipos eléctricos mayores tales como equipos de presurización, calderas colectivas y grupos electrógenos.</a:t>
            </a:r>
          </a:p>
        </p:txBody>
      </p:sp>
      <p:sp>
        <p:nvSpPr>
          <p:cNvPr name="TextBox 13" id="13"/>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4" id="14"/>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17</a:t>
            </a:r>
          </a:p>
        </p:txBody>
      </p:sp>
      <p:sp>
        <p:nvSpPr>
          <p:cNvPr name="TextBox 15" id="15"/>
          <p:cNvSpPr txBox="true"/>
          <p:nvPr/>
        </p:nvSpPr>
        <p:spPr>
          <a:xfrm rot="60000">
            <a:off x="4053277" y="1725404"/>
            <a:ext cx="2748305" cy="510542"/>
          </a:xfrm>
          <a:prstGeom prst="rect">
            <a:avLst/>
          </a:prstGeom>
        </p:spPr>
        <p:txBody>
          <a:bodyPr anchor="t" rtlCol="false" tIns="0" lIns="0" bIns="0" rIns="0">
            <a:spAutoFit/>
          </a:bodyPr>
          <a:lstStyle/>
          <a:p>
            <a:pPr algn="l">
              <a:lnSpc>
                <a:spcPts val="4319"/>
              </a:lnSpc>
            </a:pPr>
            <a:r>
              <a:rPr lang="en-US" sz="2699" b="true">
                <a:solidFill>
                  <a:srgbClr val="000000"/>
                </a:solidFill>
                <a:latin typeface="Montserrat Bold"/>
                <a:ea typeface="Montserrat Bold"/>
                <a:cs typeface="Montserrat Bold"/>
                <a:sym typeface="Montserrat Bold"/>
              </a:rPr>
              <a:t>5 años...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395595" y="1907672"/>
            <a:ext cx="3241926" cy="2488119"/>
          </a:xfrm>
          <a:custGeom>
            <a:avLst/>
            <a:gdLst/>
            <a:ahLst/>
            <a:cxnLst/>
            <a:rect r="r" b="b" t="t" l="l"/>
            <a:pathLst>
              <a:path h="2488119" w="3241926">
                <a:moveTo>
                  <a:pt x="0" y="0"/>
                </a:moveTo>
                <a:lnTo>
                  <a:pt x="3241926" y="0"/>
                </a:lnTo>
                <a:lnTo>
                  <a:pt x="3241926" y="2488119"/>
                </a:lnTo>
                <a:lnTo>
                  <a:pt x="0" y="2488119"/>
                </a:lnTo>
                <a:lnTo>
                  <a:pt x="0" y="0"/>
                </a:lnTo>
                <a:close/>
              </a:path>
            </a:pathLst>
          </a:custGeom>
          <a:blipFill>
            <a:blip r:embed="rId5"/>
            <a:stretch>
              <a:fillRect l="-11792" t="0" r="-3401" b="0"/>
            </a:stretch>
          </a:blipFill>
        </p:spPr>
      </p:sp>
      <p:sp>
        <p:nvSpPr>
          <p:cNvPr name="Freeform 8" id="8"/>
          <p:cNvSpPr/>
          <p:nvPr/>
        </p:nvSpPr>
        <p:spPr>
          <a:xfrm flipH="false" flipV="false" rot="0">
            <a:off x="3391079" y="4481516"/>
            <a:ext cx="1542317" cy="3282390"/>
          </a:xfrm>
          <a:custGeom>
            <a:avLst/>
            <a:gdLst/>
            <a:ahLst/>
            <a:cxnLst/>
            <a:rect r="r" b="b" t="t" l="l"/>
            <a:pathLst>
              <a:path h="3282390" w="1542317">
                <a:moveTo>
                  <a:pt x="0" y="0"/>
                </a:moveTo>
                <a:lnTo>
                  <a:pt x="1542317" y="0"/>
                </a:lnTo>
                <a:lnTo>
                  <a:pt x="1542317" y="3282390"/>
                </a:lnTo>
                <a:lnTo>
                  <a:pt x="0" y="3282390"/>
                </a:lnTo>
                <a:lnTo>
                  <a:pt x="0" y="0"/>
                </a:lnTo>
                <a:close/>
              </a:path>
            </a:pathLst>
          </a:custGeom>
          <a:blipFill>
            <a:blip r:embed="rId6"/>
            <a:stretch>
              <a:fillRect l="0" t="0" r="-41925" b="0"/>
            </a:stretch>
          </a:blipFill>
        </p:spPr>
      </p:sp>
      <p:sp>
        <p:nvSpPr>
          <p:cNvPr name="Freeform 9" id="9"/>
          <p:cNvSpPr/>
          <p:nvPr/>
        </p:nvSpPr>
        <p:spPr>
          <a:xfrm flipH="false" flipV="false" rot="0">
            <a:off x="4989794" y="4481516"/>
            <a:ext cx="1643962" cy="1554187"/>
          </a:xfrm>
          <a:custGeom>
            <a:avLst/>
            <a:gdLst/>
            <a:ahLst/>
            <a:cxnLst/>
            <a:rect r="r" b="b" t="t" l="l"/>
            <a:pathLst>
              <a:path h="1554187" w="1643962">
                <a:moveTo>
                  <a:pt x="0" y="0"/>
                </a:moveTo>
                <a:lnTo>
                  <a:pt x="1643962" y="0"/>
                </a:lnTo>
                <a:lnTo>
                  <a:pt x="1643962" y="1554186"/>
                </a:lnTo>
                <a:lnTo>
                  <a:pt x="0" y="1554186"/>
                </a:lnTo>
                <a:lnTo>
                  <a:pt x="0" y="0"/>
                </a:lnTo>
                <a:close/>
              </a:path>
            </a:pathLst>
          </a:custGeom>
          <a:blipFill>
            <a:blip r:embed="rId7"/>
            <a:stretch>
              <a:fillRect l="-10458" t="0" r="-31439" b="0"/>
            </a:stretch>
          </a:blipFill>
        </p:spPr>
      </p:sp>
      <p:sp>
        <p:nvSpPr>
          <p:cNvPr name="Freeform 10" id="10"/>
          <p:cNvSpPr/>
          <p:nvPr/>
        </p:nvSpPr>
        <p:spPr>
          <a:xfrm flipH="false" flipV="false" rot="0">
            <a:off x="4989794" y="6122711"/>
            <a:ext cx="1647727" cy="1641195"/>
          </a:xfrm>
          <a:custGeom>
            <a:avLst/>
            <a:gdLst/>
            <a:ahLst/>
            <a:cxnLst/>
            <a:rect r="r" b="b" t="t" l="l"/>
            <a:pathLst>
              <a:path h="1641195" w="1647727">
                <a:moveTo>
                  <a:pt x="0" y="0"/>
                </a:moveTo>
                <a:lnTo>
                  <a:pt x="1647727" y="0"/>
                </a:lnTo>
                <a:lnTo>
                  <a:pt x="1647727" y="1641195"/>
                </a:lnTo>
                <a:lnTo>
                  <a:pt x="0" y="1641195"/>
                </a:lnTo>
                <a:lnTo>
                  <a:pt x="0" y="0"/>
                </a:lnTo>
                <a:close/>
              </a:path>
            </a:pathLst>
          </a:custGeom>
          <a:blipFill>
            <a:blip r:embed="rId8"/>
            <a:stretch>
              <a:fillRect l="-26664" t="-7692" r="-34233" b="0"/>
            </a:stretch>
          </a:blipFill>
        </p:spPr>
      </p:sp>
      <p:sp>
        <p:nvSpPr>
          <p:cNvPr name="TextBox 11" id="11"/>
          <p:cNvSpPr txBox="true"/>
          <p:nvPr/>
        </p:nvSpPr>
        <p:spPr>
          <a:xfrm rot="0">
            <a:off x="484680" y="2357594"/>
            <a:ext cx="2802911" cy="5382260"/>
          </a:xfrm>
          <a:prstGeom prst="rect">
            <a:avLst/>
          </a:prstGeom>
        </p:spPr>
        <p:txBody>
          <a:bodyPr anchor="t" rtlCol="false" tIns="0" lIns="0" bIns="0" rIns="0">
            <a:spAutoFit/>
          </a:bodyPr>
          <a:lstStyle/>
          <a:p>
            <a:pPr algn="l">
              <a:lnSpc>
                <a:spcPts val="2080"/>
              </a:lnSpc>
            </a:pPr>
            <a:r>
              <a:rPr lang="en-US" sz="1300" i="true">
                <a:solidFill>
                  <a:srgbClr val="122424"/>
                </a:solidFill>
                <a:latin typeface="Montserrat Italics"/>
                <a:ea typeface="Montserrat Italics"/>
                <a:cs typeface="Montserrat Italics"/>
                <a:sym typeface="Montserrat Italics"/>
              </a:rPr>
              <a:t>desde la inscripción de la vivienda en el Conservador de Bienes raíces en</a:t>
            </a:r>
          </a:p>
          <a:p>
            <a:pPr algn="l">
              <a:lnSpc>
                <a:spcPts val="2080"/>
              </a:lnSpc>
            </a:pPr>
            <a:r>
              <a:rPr lang="en-US" sz="1300" i="true" b="true">
                <a:solidFill>
                  <a:srgbClr val="122424"/>
                </a:solidFill>
                <a:latin typeface="Montserrat Bold Italics"/>
                <a:ea typeface="Montserrat Bold Italics"/>
                <a:cs typeface="Montserrat Bold Italics"/>
                <a:sym typeface="Montserrat Bold Italics"/>
              </a:rPr>
              <a:t>fallas o defectos de terminaciones o acabado de las obras </a:t>
            </a:r>
            <a:r>
              <a:rPr lang="en-US" sz="1300">
                <a:solidFill>
                  <a:srgbClr val="122424"/>
                </a:solidFill>
                <a:latin typeface="Montserrat"/>
                <a:ea typeface="Montserrat"/>
                <a:cs typeface="Montserrat"/>
                <a:sym typeface="Montserrat"/>
              </a:rPr>
              <a:t>tales como cielos, pisos, puertas, revestimientos y pinturas exteriores o interiores, barnices, alfombras, cerámicas, quincallería, muebles adosados o empotrados a la construcción.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En caso de que las fallas o defectos no correspondan a ninguno de los mencionados anteriormente, o bien que no sean asimilables o equivalentes a éstos, el plazo de prescripción de las acciones será de 5 años (Cámara de la Construcción Chilena). </a:t>
            </a:r>
          </a:p>
        </p:txBody>
      </p:sp>
      <p:sp>
        <p:nvSpPr>
          <p:cNvPr name="TextBox 12" id="12"/>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3" id="13"/>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18</a:t>
            </a:r>
          </a:p>
        </p:txBody>
      </p:sp>
      <p:sp>
        <p:nvSpPr>
          <p:cNvPr name="TextBox 14" id="14"/>
          <p:cNvSpPr txBox="true"/>
          <p:nvPr/>
        </p:nvSpPr>
        <p:spPr>
          <a:xfrm rot="60000">
            <a:off x="517385" y="1826818"/>
            <a:ext cx="2748305" cy="1003936"/>
          </a:xfrm>
          <a:prstGeom prst="rect">
            <a:avLst/>
          </a:prstGeom>
        </p:spPr>
        <p:txBody>
          <a:bodyPr anchor="t" rtlCol="false" tIns="0" lIns="0" bIns="0" rIns="0">
            <a:spAutoFit/>
          </a:bodyPr>
          <a:lstStyle/>
          <a:p>
            <a:pPr algn="l">
              <a:lnSpc>
                <a:spcPts val="4319"/>
              </a:lnSpc>
            </a:pPr>
            <a:r>
              <a:rPr lang="en-US" sz="2699" b="true">
                <a:solidFill>
                  <a:srgbClr val="000000"/>
                </a:solidFill>
                <a:latin typeface="Montserrat Bold"/>
                <a:ea typeface="Montserrat Bold"/>
                <a:cs typeface="Montserrat Bold"/>
                <a:sym typeface="Montserrat Bold"/>
              </a:rPr>
              <a:t>3 años... </a:t>
            </a:r>
          </a:p>
          <a:p>
            <a:pPr algn="l">
              <a:lnSpc>
                <a:spcPts val="383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19</a:t>
            </a:r>
          </a:p>
        </p:txBody>
      </p:sp>
      <p:sp>
        <p:nvSpPr>
          <p:cNvPr name="TextBox 9" id="9"/>
          <p:cNvSpPr txBox="true"/>
          <p:nvPr/>
        </p:nvSpPr>
        <p:spPr>
          <a:xfrm rot="0">
            <a:off x="589521" y="1900897"/>
            <a:ext cx="2912631" cy="6510962"/>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B. ¿Desde cuándo entran en vigencia las garantías? </a:t>
            </a:r>
          </a:p>
          <a:p>
            <a:pPr algn="l">
              <a:lnSpc>
                <a:spcPts val="2240"/>
              </a:lnSpc>
            </a:pPr>
          </a:p>
          <a:p>
            <a:pPr algn="l">
              <a:lnSpc>
                <a:spcPts val="2080"/>
              </a:lnSpc>
            </a:pPr>
            <a:r>
              <a:rPr lang="en-US" sz="1300">
                <a:solidFill>
                  <a:srgbClr val="122424"/>
                </a:solidFill>
                <a:latin typeface="Montserrat"/>
                <a:ea typeface="Montserrat"/>
                <a:cs typeface="Montserrat"/>
                <a:sym typeface="Montserrat"/>
              </a:rPr>
              <a:t>Depende del tipo de garantía:</a:t>
            </a:r>
          </a:p>
          <a:p>
            <a:pPr algn="l" marL="280671" indent="-140336" lvl="1">
              <a:lnSpc>
                <a:spcPts val="2080"/>
              </a:lnSpc>
              <a:buFont typeface="Arial"/>
              <a:buChar char="•"/>
            </a:pPr>
            <a:r>
              <a:rPr lang="en-US" sz="1300" i="true" u="sng">
                <a:solidFill>
                  <a:srgbClr val="122424"/>
                </a:solidFill>
                <a:latin typeface="Montserrat Italics"/>
                <a:ea typeface="Montserrat Italics"/>
                <a:cs typeface="Montserrat Italics"/>
                <a:sym typeface="Montserrat Italics"/>
              </a:rPr>
              <a:t>Elementos estructurales soportantes:</a:t>
            </a:r>
            <a:r>
              <a:rPr lang="en-US" sz="1300" i="true">
                <a:solidFill>
                  <a:srgbClr val="122424"/>
                </a:solidFill>
                <a:latin typeface="Montserrat Italics"/>
                <a:ea typeface="Montserrat Italics"/>
                <a:cs typeface="Montserrat Italics"/>
                <a:sym typeface="Montserrat Italics"/>
              </a:rPr>
              <a:t> </a:t>
            </a:r>
            <a:r>
              <a:rPr lang="en-US" sz="1300">
                <a:solidFill>
                  <a:srgbClr val="122424"/>
                </a:solidFill>
                <a:latin typeface="Montserrat"/>
                <a:ea typeface="Montserrat"/>
                <a:cs typeface="Montserrat"/>
                <a:sym typeface="Montserrat"/>
              </a:rPr>
              <a:t>desde la recepción municipal. </a:t>
            </a:r>
          </a:p>
          <a:p>
            <a:pPr algn="l" marL="280671" indent="-140336" lvl="1">
              <a:lnSpc>
                <a:spcPts val="2080"/>
              </a:lnSpc>
              <a:buFont typeface="Arial"/>
              <a:buChar char="•"/>
            </a:pPr>
            <a:r>
              <a:rPr lang="en-US" sz="1300" i="true" u="sng">
                <a:solidFill>
                  <a:srgbClr val="122424"/>
                </a:solidFill>
                <a:latin typeface="Montserrat Italics"/>
                <a:ea typeface="Montserrat Italics"/>
                <a:cs typeface="Montserrat Italics"/>
                <a:sym typeface="Montserrat Italics"/>
              </a:rPr>
              <a:t>Elementos constructivos o instalaciones:</a:t>
            </a:r>
            <a:r>
              <a:rPr lang="en-US" sz="1300" i="true">
                <a:solidFill>
                  <a:srgbClr val="122424"/>
                </a:solidFill>
                <a:latin typeface="Montserrat Italics"/>
                <a:ea typeface="Montserrat Italics"/>
                <a:cs typeface="Montserrat Italics"/>
                <a:sym typeface="Montserrat Italics"/>
              </a:rPr>
              <a:t> desde la recepción municipal.</a:t>
            </a:r>
          </a:p>
          <a:p>
            <a:pPr algn="l" marL="280671" indent="-140336" lvl="1">
              <a:lnSpc>
                <a:spcPts val="2080"/>
              </a:lnSpc>
              <a:buFont typeface="Arial"/>
              <a:buChar char="•"/>
            </a:pPr>
            <a:r>
              <a:rPr lang="en-US" sz="1300" i="true" u="sng">
                <a:solidFill>
                  <a:srgbClr val="122424"/>
                </a:solidFill>
                <a:latin typeface="Montserrat Italics"/>
                <a:ea typeface="Montserrat Italics"/>
                <a:cs typeface="Montserrat Italics"/>
                <a:sym typeface="Montserrat Italics"/>
              </a:rPr>
              <a:t>Terminaciones:</a:t>
            </a:r>
            <a:r>
              <a:rPr lang="en-US" sz="1300" i="true">
                <a:solidFill>
                  <a:srgbClr val="122424"/>
                </a:solidFill>
                <a:latin typeface="Montserrat Italics"/>
                <a:ea typeface="Montserrat Italics"/>
                <a:cs typeface="Montserrat Italics"/>
                <a:sym typeface="Montserrat Italics"/>
              </a:rPr>
              <a:t> </a:t>
            </a:r>
            <a:r>
              <a:rPr lang="en-US" sz="1300">
                <a:solidFill>
                  <a:srgbClr val="122424"/>
                </a:solidFill>
                <a:latin typeface="Montserrat"/>
                <a:ea typeface="Montserrat"/>
                <a:cs typeface="Montserrat"/>
                <a:sym typeface="Montserrat"/>
              </a:rPr>
              <a:t>desde la inscripción de la vivienda en el Conservador de Bienes Raíces.</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C. ¿Cuándo las garantías se pueden hacer valederas?</a:t>
            </a:r>
          </a:p>
          <a:p>
            <a:pPr algn="l">
              <a:lnSpc>
                <a:spcPts val="2080"/>
              </a:lnSpc>
            </a:pPr>
          </a:p>
          <a:p>
            <a:pPr algn="l">
              <a:lnSpc>
                <a:spcPts val="2080"/>
              </a:lnSpc>
            </a:pPr>
            <a:r>
              <a:rPr lang="en-US" sz="1300">
                <a:solidFill>
                  <a:srgbClr val="122424"/>
                </a:solidFill>
                <a:latin typeface="Montserrat"/>
                <a:ea typeface="Montserrat"/>
                <a:cs typeface="Montserrat"/>
                <a:sym typeface="Montserrat"/>
              </a:rPr>
              <a:t>Cuando se respetan las indicaciones del fabricante o proveedor, y también cuando las fallas o defectos no están asociadas a un uso inadecuado del  inmueble﻿ o falta de mantención. </a:t>
            </a:r>
          </a:p>
          <a:p>
            <a:pPr algn="l">
              <a:lnSpc>
                <a:spcPts val="2080"/>
              </a:lnSpc>
            </a:pPr>
          </a:p>
          <a:p>
            <a:pPr algn="l">
              <a:lnSpc>
                <a:spcPts val="2080"/>
              </a:lnSpc>
            </a:pPr>
          </a:p>
        </p:txBody>
      </p:sp>
      <p:sp>
        <p:nvSpPr>
          <p:cNvPr name="TextBox 10" id="10"/>
          <p:cNvSpPr txBox="true"/>
          <p:nvPr/>
        </p:nvSpPr>
        <p:spPr>
          <a:xfrm rot="0">
            <a:off x="3940898" y="1900897"/>
            <a:ext cx="2863102" cy="605345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D. ¿Necesito algún permiso para realizar alguna modificación a la vivienda?</a:t>
            </a:r>
          </a:p>
          <a:p>
            <a:pPr algn="l">
              <a:lnSpc>
                <a:spcPts val="2080"/>
              </a:lnSpc>
            </a:pPr>
          </a:p>
          <a:p>
            <a:pPr algn="l">
              <a:lnSpc>
                <a:spcPts val="2080"/>
              </a:lnSpc>
            </a:pPr>
            <a:r>
              <a:rPr lang="en-US" sz="1300">
                <a:solidFill>
                  <a:srgbClr val="122424"/>
                </a:solidFill>
                <a:latin typeface="Montserrat"/>
                <a:ea typeface="Montserrat"/>
                <a:cs typeface="Montserrat"/>
                <a:sym typeface="Montserrat"/>
              </a:rPr>
              <a:t>Sí, toda modificación debe ser ejecutada con la respectiva autorización municipal, mediante un permiso de obra menor o un permiso de alteración, reparación o reconstrucción, aprobada por la Dirección de Obras Municipal correspondiente. </a:t>
            </a:r>
          </a:p>
          <a:p>
            <a:pPr algn="l">
              <a:lnSpc>
                <a:spcPts val="2080"/>
              </a:lnSpc>
            </a:pP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E.</a:t>
            </a:r>
            <a:r>
              <a:rPr lang="en-US" sz="1400" b="true">
                <a:solidFill>
                  <a:srgbClr val="000000"/>
                </a:solidFill>
                <a:latin typeface="Montserrat Bold"/>
                <a:ea typeface="Montserrat Bold"/>
                <a:cs typeface="Montserrat Bold"/>
                <a:sym typeface="Montserrat Bold"/>
              </a:rPr>
              <a:t> ¿Debería consultar la modificación con algún profesional? </a:t>
            </a:r>
          </a:p>
          <a:p>
            <a:pPr algn="l">
              <a:lnSpc>
                <a:spcPts val="2240"/>
              </a:lnSpc>
            </a:pPr>
          </a:p>
          <a:p>
            <a:pPr algn="l">
              <a:lnSpc>
                <a:spcPts val="2080"/>
              </a:lnSpc>
            </a:pPr>
            <a:r>
              <a:rPr lang="en-US" sz="1300">
                <a:solidFill>
                  <a:srgbClr val="122424"/>
                </a:solidFill>
                <a:latin typeface="Montserrat"/>
                <a:ea typeface="Montserrat"/>
                <a:cs typeface="Montserrat"/>
                <a:sym typeface="Montserrat"/>
              </a:rPr>
              <a:t>Si, en caso de realizar alguna modificación, se debe consultar previamente a un profesional calificado que revise los planos de</a:t>
            </a:r>
          </a:p>
          <a:p>
            <a:pPr algn="l">
              <a:lnSpc>
                <a:spcPts val="224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20</a:t>
            </a:r>
          </a:p>
        </p:txBody>
      </p:sp>
      <p:sp>
        <p:nvSpPr>
          <p:cNvPr name="TextBox 9" id="9"/>
          <p:cNvSpPr txBox="true"/>
          <p:nvPr/>
        </p:nvSpPr>
        <p:spPr>
          <a:xfrm rot="0">
            <a:off x="603915" y="1910422"/>
            <a:ext cx="2912631" cy="5970801"/>
          </a:xfrm>
          <a:prstGeom prst="rect">
            <a:avLst/>
          </a:prstGeom>
        </p:spPr>
        <p:txBody>
          <a:bodyPr anchor="t" rtlCol="false" tIns="0" lIns="0" bIns="0" rIns="0">
            <a:spAutoFit/>
          </a:bodyPr>
          <a:lstStyle/>
          <a:p>
            <a:pPr algn="just">
              <a:lnSpc>
                <a:spcPts val="2080"/>
              </a:lnSpc>
            </a:pPr>
            <a:r>
              <a:rPr lang="en-US" sz="1300">
                <a:solidFill>
                  <a:srgbClr val="122424"/>
                </a:solidFill>
                <a:latin typeface="Montserrat"/>
                <a:ea typeface="Montserrat"/>
                <a:cs typeface="Montserrat"/>
                <a:sym typeface="Montserrat"/>
              </a:rPr>
              <a:t>cálculo e instalaciones, sino se puede correr el riesgo de: </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Dañar la estructura de la vivienda.</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Intervenir el circuito eléctrico de alguna instalación.</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Perder las garantías.</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Generar daños o posibles riesgos a la vivienda de sus vecinos.</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Multas por modificación por parte de la Municipalidad. </a:t>
            </a:r>
          </a:p>
          <a:p>
            <a:pPr algn="just">
              <a:lnSpc>
                <a:spcPts val="2240"/>
              </a:lnSpc>
            </a:pPr>
          </a:p>
          <a:p>
            <a:pPr algn="just">
              <a:lnSpc>
                <a:spcPts val="2240"/>
              </a:lnSpc>
            </a:pPr>
            <a:r>
              <a:rPr lang="en-US" sz="1400" b="true">
                <a:solidFill>
                  <a:srgbClr val="122424"/>
                </a:solidFill>
                <a:latin typeface="Montserrat Bold"/>
                <a:ea typeface="Montserrat Bold"/>
                <a:cs typeface="Montserrat Bold"/>
                <a:sym typeface="Montserrat Bold"/>
              </a:rPr>
              <a:t>F</a:t>
            </a:r>
            <a:r>
              <a:rPr lang="en-US" sz="1400" b="true">
                <a:solidFill>
                  <a:srgbClr val="000000"/>
                </a:solidFill>
                <a:latin typeface="Montserrat Bold"/>
                <a:ea typeface="Montserrat Bold"/>
                <a:cs typeface="Montserrat Bold"/>
                <a:sym typeface="Montserrat Bold"/>
              </a:rPr>
              <a:t>. ¿Se requiere algún permiso para realizar una intervención en los bienes comunes?</a:t>
            </a:r>
            <a:r>
              <a:rPr lang="en-US" sz="1400" b="true">
                <a:solidFill>
                  <a:srgbClr val="000000"/>
                </a:solidFill>
                <a:latin typeface="Montserrat Bold"/>
                <a:ea typeface="Montserrat Bold"/>
                <a:cs typeface="Montserrat Bold"/>
                <a:sym typeface="Montserrat Bold"/>
              </a:rPr>
              <a:t> </a:t>
            </a:r>
          </a:p>
          <a:p>
            <a:pPr algn="just">
              <a:lnSpc>
                <a:spcPts val="2080"/>
              </a:lnSpc>
            </a:pPr>
          </a:p>
          <a:p>
            <a:pPr algn="just">
              <a:lnSpc>
                <a:spcPts val="2079"/>
              </a:lnSpc>
            </a:pPr>
            <a:r>
              <a:rPr lang="en-US" sz="1299">
                <a:solidFill>
                  <a:srgbClr val="122424"/>
                </a:solidFill>
                <a:latin typeface="Montserrat"/>
                <a:ea typeface="Montserrat"/>
                <a:cs typeface="Montserrat"/>
                <a:sym typeface="Montserrat"/>
              </a:rPr>
              <a:t>En condominios o comunidades acogidas por la Ley de Copropiedad Inmobiliaria se debe contar con la aprobación de la  </a:t>
            </a:r>
            <a:r>
              <a:rPr lang="en-US" sz="1299">
                <a:solidFill>
                  <a:srgbClr val="122424"/>
                </a:solidFill>
                <a:latin typeface="Montserrat"/>
                <a:ea typeface="Montserrat"/>
                <a:cs typeface="Montserrat"/>
                <a:sym typeface="Montserrat"/>
              </a:rPr>
              <a:t>comunidad en Asamblea para intervenir los bienes comunes.</a:t>
            </a:r>
          </a:p>
        </p:txBody>
      </p:sp>
      <p:sp>
        <p:nvSpPr>
          <p:cNvPr name="TextBox 10" id="10"/>
          <p:cNvSpPr txBox="true"/>
          <p:nvPr/>
        </p:nvSpPr>
        <p:spPr>
          <a:xfrm rot="0">
            <a:off x="3940898" y="1910422"/>
            <a:ext cx="2863102" cy="6284828"/>
          </a:xfrm>
          <a:prstGeom prst="rect">
            <a:avLst/>
          </a:prstGeom>
        </p:spPr>
        <p:txBody>
          <a:bodyPr anchor="t" rtlCol="false" tIns="0" lIns="0" bIns="0" rIns="0">
            <a:spAutoFit/>
          </a:bodyPr>
          <a:lstStyle/>
          <a:p>
            <a:pPr algn="just">
              <a:lnSpc>
                <a:spcPts val="2080"/>
              </a:lnSpc>
            </a:pPr>
            <a:r>
              <a:rPr lang="en-US" sz="1300">
                <a:solidFill>
                  <a:srgbClr val="122424"/>
                </a:solidFill>
                <a:latin typeface="Montserrat"/>
                <a:ea typeface="Montserrat"/>
                <a:cs typeface="Montserrat"/>
                <a:sym typeface="Montserrat"/>
              </a:rPr>
              <a:t>Además, según el tipo de intervención podría ser necesario contar con autorización municipal.</a:t>
            </a:r>
            <a:r>
              <a:rPr lang="en-US" sz="1300">
                <a:solidFill>
                  <a:srgbClr val="122424"/>
                </a:solidFill>
                <a:latin typeface="Montserrat"/>
                <a:ea typeface="Montserrat"/>
                <a:cs typeface="Montserrat"/>
                <a:sym typeface="Montserrat"/>
              </a:rPr>
              <a:t> </a:t>
            </a:r>
          </a:p>
          <a:p>
            <a:pPr algn="just">
              <a:lnSpc>
                <a:spcPts val="2080"/>
              </a:lnSpc>
            </a:pPr>
          </a:p>
          <a:p>
            <a:pPr algn="just">
              <a:lnSpc>
                <a:spcPts val="2240"/>
              </a:lnSpc>
            </a:pPr>
            <a:r>
              <a:rPr lang="en-US" sz="1400" b="true">
                <a:solidFill>
                  <a:srgbClr val="000000"/>
                </a:solidFill>
                <a:latin typeface="Montserrat Bold"/>
                <a:ea typeface="Montserrat Bold"/>
                <a:cs typeface="Montserrat Bold"/>
                <a:sym typeface="Montserrat Bold"/>
              </a:rPr>
              <a:t>G</a:t>
            </a:r>
            <a:r>
              <a:rPr lang="en-US" sz="1400" b="true">
                <a:solidFill>
                  <a:srgbClr val="000000"/>
                </a:solidFill>
                <a:latin typeface="Montserrat Bold"/>
                <a:ea typeface="Montserrat Bold"/>
                <a:cs typeface="Montserrat Bold"/>
                <a:sym typeface="Montserrat Bold"/>
              </a:rPr>
              <a:t>. ¿Qué podría hacer que pierda las garantías de la vivienda?</a:t>
            </a:r>
          </a:p>
          <a:p>
            <a:pPr algn="just">
              <a:lnSpc>
                <a:spcPts val="2080"/>
              </a:lnSpc>
            </a:pP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Mal uso de artefactos de la vivienda.</a:t>
            </a:r>
          </a:p>
          <a:p>
            <a:pPr algn="just" marL="280671" indent="-140336" lvl="1">
              <a:lnSpc>
                <a:spcPts val="2080"/>
              </a:lnSpc>
              <a:buFont typeface="Arial"/>
              <a:buChar char="•"/>
            </a:pPr>
            <a:r>
              <a:rPr lang="en-US" sz="1300">
                <a:solidFill>
                  <a:srgbClr val="122424"/>
                </a:solidFill>
                <a:latin typeface="Montserrat"/>
                <a:ea typeface="Montserrat"/>
                <a:cs typeface="Montserrat"/>
                <a:sym typeface="Montserrat"/>
              </a:rPr>
              <a:t>Modificaciones estructurales inadecuadas.</a:t>
            </a:r>
          </a:p>
          <a:p>
            <a:pPr algn="just">
              <a:lnSpc>
                <a:spcPts val="2080"/>
              </a:lnSpc>
            </a:pPr>
          </a:p>
          <a:p>
            <a:pPr algn="just">
              <a:lnSpc>
                <a:spcPts val="2240"/>
              </a:lnSpc>
            </a:pPr>
            <a:r>
              <a:rPr lang="en-US" sz="1400" b="true">
                <a:solidFill>
                  <a:srgbClr val="000000"/>
                </a:solidFill>
                <a:latin typeface="Montserrat Bold"/>
                <a:ea typeface="Montserrat Bold"/>
                <a:cs typeface="Montserrat Bold"/>
                <a:sym typeface="Montserrat Bold"/>
              </a:rPr>
              <a:t>H</a:t>
            </a:r>
            <a:r>
              <a:rPr lang="en-US" sz="1400" b="true">
                <a:solidFill>
                  <a:srgbClr val="000000"/>
                </a:solidFill>
                <a:latin typeface="Montserrat Bold"/>
                <a:ea typeface="Montserrat Bold"/>
                <a:cs typeface="Montserrat Bold"/>
                <a:sym typeface="Montserrat Bold"/>
              </a:rPr>
              <a:t>. ¿Se pueden perder todas las garantías por hacer una modificación? </a:t>
            </a:r>
          </a:p>
          <a:p>
            <a:pPr algn="just">
              <a:lnSpc>
                <a:spcPts val="2240"/>
              </a:lnSpc>
            </a:pPr>
          </a:p>
          <a:p>
            <a:pPr algn="just">
              <a:lnSpc>
                <a:spcPts val="2079"/>
              </a:lnSpc>
            </a:pPr>
            <a:r>
              <a:rPr lang="en-US" sz="1299">
                <a:solidFill>
                  <a:srgbClr val="122424"/>
                </a:solidFill>
                <a:latin typeface="Montserrat"/>
                <a:ea typeface="Montserrat"/>
                <a:cs typeface="Montserrat"/>
                <a:sym typeface="Montserrat"/>
              </a:rPr>
              <a:t>Depende del tipo de modificación y de los elementos que se ven involucrados en la modificación realizada. A continuación expondremos algunos casos para</a:t>
            </a:r>
          </a:p>
          <a:p>
            <a:pPr algn="just">
              <a:lnSpc>
                <a:spcPts val="207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21</a:t>
            </a:r>
          </a:p>
        </p:txBody>
      </p:sp>
      <p:sp>
        <p:nvSpPr>
          <p:cNvPr name="TextBox 9" id="9"/>
          <p:cNvSpPr txBox="true"/>
          <p:nvPr/>
        </p:nvSpPr>
        <p:spPr>
          <a:xfrm rot="0">
            <a:off x="603915" y="1910422"/>
            <a:ext cx="2912631" cy="6409099"/>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ejemplificar:</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Cambiar la ventana de la habitación: si se modifica </a:t>
            </a:r>
            <a:r>
              <a:rPr lang="en-US" sz="1300" u="sng">
                <a:solidFill>
                  <a:srgbClr val="122424"/>
                </a:solidFill>
                <a:latin typeface="Montserrat"/>
                <a:ea typeface="Montserrat"/>
                <a:cs typeface="Montserrat"/>
                <a:sym typeface="Montserrat"/>
              </a:rPr>
              <a:t>solo </a:t>
            </a:r>
            <a:r>
              <a:rPr lang="en-US" sz="1300">
                <a:solidFill>
                  <a:srgbClr val="122424"/>
                </a:solidFill>
                <a:latin typeface="Montserrat"/>
                <a:ea typeface="Montserrat"/>
                <a:cs typeface="Montserrat"/>
                <a:sym typeface="Montserrat"/>
              </a:rPr>
              <a:t>la ventana de la habitación, se perderían las garantías respecto a </a:t>
            </a:r>
            <a:r>
              <a:rPr lang="en-US" sz="1300" u="sng">
                <a:solidFill>
                  <a:srgbClr val="122424"/>
                </a:solidFill>
                <a:latin typeface="Montserrat"/>
                <a:ea typeface="Montserrat"/>
                <a:cs typeface="Montserrat"/>
                <a:sym typeface="Montserrat"/>
              </a:rPr>
              <a:t>esa </a:t>
            </a:r>
            <a:r>
              <a:rPr lang="en-US" sz="1300">
                <a:solidFill>
                  <a:srgbClr val="122424"/>
                </a:solidFill>
                <a:latin typeface="Montserrat"/>
                <a:ea typeface="Montserrat"/>
                <a:cs typeface="Montserrat"/>
                <a:sym typeface="Montserrat"/>
              </a:rPr>
              <a:t>ventana, pero las demás garantías se mantendrían.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Remover un muro de tabique: si se remueve un tabique, se perderían las garantías respecto a </a:t>
            </a:r>
            <a:r>
              <a:rPr lang="en-US" sz="1300" u="sng">
                <a:solidFill>
                  <a:srgbClr val="122424"/>
                </a:solidFill>
                <a:latin typeface="Montserrat"/>
                <a:ea typeface="Montserrat"/>
                <a:cs typeface="Montserrat"/>
                <a:sym typeface="Montserrat"/>
              </a:rPr>
              <a:t>ese </a:t>
            </a:r>
            <a:r>
              <a:rPr lang="en-US" sz="1300">
                <a:solidFill>
                  <a:srgbClr val="122424"/>
                </a:solidFill>
                <a:latin typeface="Montserrat"/>
                <a:ea typeface="Montserrat"/>
                <a:cs typeface="Montserrat"/>
                <a:sym typeface="Montserrat"/>
              </a:rPr>
              <a:t>muro de tabique, pero se mantendrían las otras garantías, a menos que se vean involucrados otros elementos, como el sistema eléctrico.</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importante considerar que los elementos que son intervenidos y/o modificados, son los que pierden las garantías, por lo que todo depende del caso a caso. En ese sentido es sumamente importante consultar previamente</a:t>
            </a:r>
          </a:p>
        </p:txBody>
      </p:sp>
      <p:sp>
        <p:nvSpPr>
          <p:cNvPr name="TextBox 10" id="10"/>
          <p:cNvSpPr txBox="true"/>
          <p:nvPr/>
        </p:nvSpPr>
        <p:spPr>
          <a:xfrm rot="0">
            <a:off x="3940898" y="1910422"/>
            <a:ext cx="2863102" cy="6485002"/>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cualquier modificación con un profesional </a:t>
            </a:r>
            <a:r>
              <a:rPr lang="en-US" sz="1300">
                <a:solidFill>
                  <a:srgbClr val="122424"/>
                </a:solidFill>
                <a:latin typeface="Montserrat"/>
                <a:ea typeface="Montserrat"/>
                <a:cs typeface="Montserrat"/>
                <a:sym typeface="Montserrat"/>
              </a:rPr>
              <a:t>para no arriesgar la pérdida las garantías. </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I. ¿Qué otras consideraciones son importantes sobre las garantías? </a:t>
            </a:r>
          </a:p>
          <a:p>
            <a:pPr algn="l">
              <a:lnSpc>
                <a:spcPts val="2080"/>
              </a:lnSpc>
            </a:pPr>
          </a:p>
          <a:p>
            <a:pPr algn="l">
              <a:lnSpc>
                <a:spcPts val="2079"/>
              </a:lnSpc>
            </a:pPr>
            <a:r>
              <a:rPr lang="en-US" sz="1299">
                <a:solidFill>
                  <a:srgbClr val="122424"/>
                </a:solidFill>
                <a:latin typeface="Montserrat"/>
                <a:ea typeface="Montserrat"/>
                <a:cs typeface="Montserrat"/>
                <a:sym typeface="Montserrat"/>
              </a:rPr>
              <a:t>No es imputable al primer vendedor: </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Defectos o fallas que se presentan a causa de los trabajos de transformación, ampliación o adecuación efectuados en la propiedad con posterioridad a la fecha señalada en la escritura de compraventa del inmueble. </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Los defectos o fallas que se presentan en los bienes muebles y las cosas de comodidad y ornato de acuerdo a lo señalado por el artículo 572 del Código Civil. </a:t>
            </a:r>
          </a:p>
          <a:p>
            <a:pPr algn="l">
              <a:lnSpc>
                <a:spcPts val="207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22</a:t>
            </a:r>
          </a:p>
        </p:txBody>
      </p:sp>
      <p:sp>
        <p:nvSpPr>
          <p:cNvPr name="TextBox 9" id="9"/>
          <p:cNvSpPr txBox="true"/>
          <p:nvPr/>
        </p:nvSpPr>
        <p:spPr>
          <a:xfrm rot="0">
            <a:off x="589521" y="1900897"/>
            <a:ext cx="2912631" cy="647509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¿Qué es el sello verde?</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una certificación entregada por la Superintendencia de Electricidad y Combustible a las instalaciones de gas que cumplen con la normativa vigente, y que por ende, no presentan defectos en sus artefactos individuales colectivos y obras complementarias. Dado esto, el sello verde indica que las instalaciones de gas se encuentran en óptimas condiciones según la normativa. </a:t>
            </a:r>
          </a:p>
          <a:p>
            <a:pPr algn="l">
              <a:lnSpc>
                <a:spcPts val="2080"/>
              </a:lnSpc>
            </a:pPr>
          </a:p>
          <a:p>
            <a:pPr algn="l">
              <a:lnSpc>
                <a:spcPts val="2240"/>
              </a:lnSpc>
            </a:pPr>
            <a:r>
              <a:rPr lang="en-US" sz="1400">
                <a:solidFill>
                  <a:srgbClr val="000000"/>
                </a:solidFill>
                <a:latin typeface="Montserrat"/>
                <a:ea typeface="Montserrat"/>
                <a:cs typeface="Montserrat"/>
                <a:sym typeface="Montserrat"/>
              </a:rPr>
              <a:t>B</a:t>
            </a:r>
            <a:r>
              <a:rPr lang="en-US" sz="1400" b="true">
                <a:solidFill>
                  <a:srgbClr val="000000"/>
                </a:solidFill>
                <a:latin typeface="Montserrat Bold"/>
                <a:ea typeface="Montserrat Bold"/>
                <a:cs typeface="Montserrat Bold"/>
                <a:sym typeface="Montserrat Bold"/>
              </a:rPr>
              <a:t>. ¿El condominio tiene sello verde?</a:t>
            </a:r>
          </a:p>
          <a:p>
            <a:pPr algn="l">
              <a:lnSpc>
                <a:spcPts val="2080"/>
              </a:lnSpc>
            </a:pPr>
          </a:p>
          <a:p>
            <a:pPr algn="l">
              <a:lnSpc>
                <a:spcPts val="2080"/>
              </a:lnSpc>
            </a:pPr>
            <a:r>
              <a:rPr lang="en-US" sz="1300">
                <a:solidFill>
                  <a:srgbClr val="122424"/>
                </a:solidFill>
                <a:latin typeface="Montserrat"/>
                <a:ea typeface="Montserrat"/>
                <a:cs typeface="Montserrat"/>
                <a:sym typeface="Montserrat"/>
              </a:rPr>
              <a:t>El condominio es entregado con sello verde, teniendo una duración</a:t>
            </a:r>
          </a:p>
          <a:p>
            <a:pPr algn="l">
              <a:lnSpc>
                <a:spcPts val="2080"/>
              </a:lnSpc>
            </a:pPr>
            <a:r>
              <a:rPr lang="en-US" sz="1300">
                <a:solidFill>
                  <a:srgbClr val="122424"/>
                </a:solidFill>
                <a:latin typeface="Montserrat"/>
                <a:ea typeface="Montserrat"/>
                <a:cs typeface="Montserrat"/>
                <a:sym typeface="Montserrat"/>
              </a:rPr>
              <a:t>de dos años. Después de esta fecha, es responsabilidad de la comunidad y de la administración renovarlo. </a:t>
            </a:r>
          </a:p>
        </p:txBody>
      </p:sp>
      <p:sp>
        <p:nvSpPr>
          <p:cNvPr name="TextBox 10" id="10"/>
          <p:cNvSpPr txBox="true"/>
          <p:nvPr/>
        </p:nvSpPr>
        <p:spPr>
          <a:xfrm rot="0">
            <a:off x="3940898" y="1900897"/>
            <a:ext cx="2863102" cy="6510963"/>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C </a:t>
            </a:r>
            <a:r>
              <a:rPr lang="en-US" sz="1400" b="true">
                <a:solidFill>
                  <a:srgbClr val="000000"/>
                </a:solidFill>
                <a:latin typeface="Montserrat Bold"/>
                <a:ea typeface="Montserrat Bold"/>
                <a:cs typeface="Montserrat Bold"/>
                <a:sym typeface="Montserrat Bold"/>
              </a:rPr>
              <a:t>¿Cada cuánto se debe renovar el certificado de sello verde?</a:t>
            </a:r>
          </a:p>
          <a:p>
            <a:pPr algn="l">
              <a:lnSpc>
                <a:spcPts val="2080"/>
              </a:lnSpc>
            </a:pPr>
          </a:p>
          <a:p>
            <a:pPr algn="l">
              <a:lnSpc>
                <a:spcPts val="2080"/>
              </a:lnSpc>
            </a:pPr>
            <a:r>
              <a:rPr lang="en-US" sz="1300">
                <a:solidFill>
                  <a:srgbClr val="122424"/>
                </a:solidFill>
                <a:latin typeface="Montserrat"/>
                <a:ea typeface="Montserrat"/>
                <a:cs typeface="Montserrat"/>
                <a:sym typeface="Montserrat"/>
              </a:rPr>
              <a:t>Se debe someter a inspección el uso de gas del condominio cada dos años. En caso de que se logren dos sellos verdes consecutivos, se alarga el período de inspección a 4 años. </a:t>
            </a:r>
          </a:p>
          <a:p>
            <a:pPr algn="l">
              <a:lnSpc>
                <a:spcPts val="2080"/>
              </a:lnSpc>
            </a:pPr>
          </a:p>
          <a:p>
            <a:pPr algn="l">
              <a:lnSpc>
                <a:spcPts val="2080"/>
              </a:lnSpc>
            </a:pP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A. </a:t>
            </a:r>
            <a:r>
              <a:rPr lang="en-US" sz="1400" b="true">
                <a:solidFill>
                  <a:srgbClr val="000000"/>
                </a:solidFill>
                <a:latin typeface="Montserrat Bold"/>
                <a:ea typeface="Montserrat Bold"/>
                <a:cs typeface="Montserrat Bold"/>
                <a:sym typeface="Montserrat Bold"/>
              </a:rPr>
              <a:t>¿Qué tipo de calefón tienen las viviendas?</a:t>
            </a:r>
          </a:p>
          <a:p>
            <a:pPr algn="l">
              <a:lnSpc>
                <a:spcPts val="2080"/>
              </a:lnSpc>
            </a:pPr>
          </a:p>
          <a:p>
            <a:pPr algn="l">
              <a:lnSpc>
                <a:spcPts val="2079"/>
              </a:lnSpc>
            </a:pPr>
            <a:r>
              <a:rPr lang="en-US" sz="1299">
                <a:solidFill>
                  <a:srgbClr val="122424"/>
                </a:solidFill>
                <a:latin typeface="Montserrat"/>
                <a:ea typeface="Montserrat"/>
                <a:cs typeface="Montserrat"/>
                <a:sym typeface="Montserrat"/>
              </a:rPr>
              <a:t>Las instalaciones de gas están reguladas por norma en Chile, estableciendo que en los departamentos se deben instalar sólo calefón de tiro forzado. Cualquier modificación podría afectar el sello verde del condominio y también la seguridad de sus vecinos/as. </a:t>
            </a:r>
          </a:p>
        </p:txBody>
      </p:sp>
      <p:sp>
        <p:nvSpPr>
          <p:cNvPr name="TextBox 11" id="11"/>
          <p:cNvSpPr txBox="true"/>
          <p:nvPr/>
        </p:nvSpPr>
        <p:spPr>
          <a:xfrm rot="0">
            <a:off x="589521" y="1453222"/>
            <a:ext cx="3544622" cy="295201"/>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2.2. Sello verde</a:t>
            </a:r>
          </a:p>
        </p:txBody>
      </p:sp>
      <p:sp>
        <p:nvSpPr>
          <p:cNvPr name="TextBox 12" id="12"/>
          <p:cNvSpPr txBox="true"/>
          <p:nvPr/>
        </p:nvSpPr>
        <p:spPr>
          <a:xfrm rot="0">
            <a:off x="3940898" y="4743156"/>
            <a:ext cx="3544622" cy="295201"/>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2.3. Gas de las viviendas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23</a:t>
            </a:r>
          </a:p>
        </p:txBody>
      </p:sp>
      <p:sp>
        <p:nvSpPr>
          <p:cNvPr name="TextBox 9" id="9"/>
          <p:cNvSpPr txBox="true"/>
          <p:nvPr/>
        </p:nvSpPr>
        <p:spPr>
          <a:xfrm rot="0">
            <a:off x="603915" y="1900897"/>
            <a:ext cx="2912631" cy="649414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B. ¿Qué es un calefón de tiro forzado?</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un calefón que asegura mantener los espacios ventilados y frescos para un rendimiento óptimo con máxima seguridad a través de la incorporación ventiladores eléctricos que asisten la salida de gases producidos durante la generación de agua caliente sanitaria.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C</a:t>
            </a:r>
            <a:r>
              <a:rPr lang="en-US" sz="1400" b="true">
                <a:solidFill>
                  <a:srgbClr val="000000"/>
                </a:solidFill>
                <a:latin typeface="Montserrat Bold"/>
                <a:ea typeface="Montserrat Bold"/>
                <a:cs typeface="Montserrat Bold"/>
                <a:sym typeface="Montserrat Bold"/>
              </a:rPr>
              <a:t>. ¿Puedo utilizar un cilindro de gas en un departamento?</a:t>
            </a:r>
          </a:p>
          <a:p>
            <a:pPr algn="l">
              <a:lnSpc>
                <a:spcPts val="2080"/>
              </a:lnSpc>
            </a:pPr>
          </a:p>
          <a:p>
            <a:pPr algn="l">
              <a:lnSpc>
                <a:spcPts val="2080"/>
              </a:lnSpc>
            </a:pPr>
            <a:r>
              <a:rPr lang="en-US" sz="1300">
                <a:solidFill>
                  <a:srgbClr val="122424"/>
                </a:solidFill>
                <a:latin typeface="Montserrat"/>
                <a:ea typeface="Montserrat"/>
                <a:cs typeface="Montserrat"/>
                <a:sym typeface="Montserrat"/>
              </a:rPr>
              <a:t>La superintendencia de electricidad y Combustibles establece lo siguiente: </a:t>
            </a:r>
          </a:p>
          <a:p>
            <a:pPr algn="l">
              <a:lnSpc>
                <a:spcPts val="2080"/>
              </a:lnSpc>
            </a:pPr>
          </a:p>
          <a:p>
            <a:pPr algn="l">
              <a:lnSpc>
                <a:spcPts val="2080"/>
              </a:lnSpc>
            </a:pPr>
            <a:r>
              <a:rPr lang="en-US" sz="1300" i="true">
                <a:solidFill>
                  <a:srgbClr val="122424"/>
                </a:solidFill>
                <a:latin typeface="Montserrat Italics"/>
                <a:ea typeface="Montserrat Italics"/>
                <a:cs typeface="Montserrat Italics"/>
                <a:sym typeface="Montserrat Italics"/>
              </a:rPr>
              <a:t>" No se permite el uso de cilindros en edificios de más de 4 pisos para aparatos fijos (cocinas y calefones) y sólo se permite el uso de cilindros de hasta 15 kg para</a:t>
            </a:r>
          </a:p>
        </p:txBody>
      </p:sp>
      <p:sp>
        <p:nvSpPr>
          <p:cNvPr name="TextBox 10" id="10"/>
          <p:cNvSpPr txBox="true"/>
          <p:nvPr/>
        </p:nvSpPr>
        <p:spPr>
          <a:xfrm rot="0">
            <a:off x="3940898" y="1910422"/>
            <a:ext cx="2863102" cy="2810510"/>
          </a:xfrm>
          <a:prstGeom prst="rect">
            <a:avLst/>
          </a:prstGeom>
        </p:spPr>
        <p:txBody>
          <a:bodyPr anchor="t" rtlCol="false" tIns="0" lIns="0" bIns="0" rIns="0">
            <a:spAutoFit/>
          </a:bodyPr>
          <a:lstStyle/>
          <a:p>
            <a:pPr algn="l">
              <a:lnSpc>
                <a:spcPts val="2080"/>
              </a:lnSpc>
            </a:pPr>
            <a:r>
              <a:rPr lang="en-US" sz="1300" i="true">
                <a:solidFill>
                  <a:srgbClr val="122424"/>
                </a:solidFill>
                <a:latin typeface="Montserrat Italics"/>
                <a:ea typeface="Montserrat Italics"/>
                <a:cs typeface="Montserrat Italics"/>
                <a:sym typeface="Montserrat Italics"/>
              </a:rPr>
              <a:t>artefactos móviles (estufas, parrillas, lámparas) donde los cilindros se encuentran incorporados".</a:t>
            </a:r>
            <a:r>
              <a:rPr lang="en-US" sz="1300" i="true">
                <a:solidFill>
                  <a:srgbClr val="122424"/>
                </a:solidFill>
                <a:latin typeface="Montserrat Italics"/>
                <a:ea typeface="Montserrat Italics"/>
                <a:cs typeface="Montserrat Italics"/>
                <a:sym typeface="Montserrat Italics"/>
              </a:rPr>
              <a:t> </a:t>
            </a:r>
          </a:p>
          <a:p>
            <a:pPr algn="l">
              <a:lnSpc>
                <a:spcPts val="2080"/>
              </a:lnSpc>
            </a:pPr>
          </a:p>
          <a:p>
            <a:pPr algn="l">
              <a:lnSpc>
                <a:spcPts val="2080"/>
              </a:lnSpc>
            </a:pPr>
            <a:r>
              <a:rPr lang="en-US" sz="1300">
                <a:solidFill>
                  <a:srgbClr val="122424"/>
                </a:solidFill>
                <a:latin typeface="Montserrat"/>
                <a:ea typeface="Montserrat"/>
                <a:cs typeface="Montserrat"/>
                <a:sym typeface="Montserrat"/>
              </a:rPr>
              <a:t>De esta forma, la normativa prohíbe el uso de cilindros de gas en la cocina y en el calefón. Es importante velar por la seguridad de la comunidad vecinal y propia respetando esta normativa.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6800757"/>
            <a:ext cx="4809708" cy="2530937"/>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03</a:t>
            </a:r>
          </a:p>
          <a:p>
            <a:pPr algn="l">
              <a:lnSpc>
                <a:spcPts val="6546"/>
              </a:lnSpc>
            </a:pPr>
            <a:r>
              <a:rPr lang="en-US" sz="6175">
                <a:solidFill>
                  <a:srgbClr val="222525"/>
                </a:solidFill>
                <a:latin typeface="DM Serif Display"/>
                <a:ea typeface="DM Serif Display"/>
                <a:cs typeface="DM Serif Display"/>
                <a:sym typeface="DM Serif Display"/>
              </a:rPr>
              <a:t>Derechos y deberes</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TextBox 4" id="4"/>
          <p:cNvSpPr txBox="true"/>
          <p:nvPr/>
        </p:nvSpPr>
        <p:spPr>
          <a:xfrm rot="0">
            <a:off x="589521" y="3328147"/>
            <a:ext cx="2912631" cy="5741670"/>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¿Qué busca el Artículo 150 del Código Civil - Patrimonio reservado de la mujer casada?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Esta disposición legal busca generar una protección al patrimonio de la mujer casada en sociedad conyugal, protegiendo los bienes obtenidos por ella de manera autónoma.</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B</a:t>
            </a:r>
            <a:r>
              <a:rPr lang="en-US" sz="1400" b="true">
                <a:solidFill>
                  <a:srgbClr val="000000"/>
                </a:solidFill>
                <a:latin typeface="Montserrat Bold"/>
                <a:ea typeface="Montserrat Bold"/>
                <a:cs typeface="Montserrat Bold"/>
                <a:sym typeface="Montserrat Bold"/>
              </a:rPr>
              <a:t>. ¿En qué tipo de matrimonio aplica este Artículo?</a:t>
            </a:r>
          </a:p>
          <a:p>
            <a:pPr algn="l">
              <a:lnSpc>
                <a:spcPts val="2080"/>
              </a:lnSpc>
            </a:pPr>
          </a:p>
          <a:p>
            <a:pPr algn="l">
              <a:lnSpc>
                <a:spcPts val="2080"/>
              </a:lnSpc>
            </a:pPr>
            <a:r>
              <a:rPr lang="en-US" sz="1300">
                <a:solidFill>
                  <a:srgbClr val="122424"/>
                </a:solidFill>
                <a:latin typeface="Montserrat"/>
                <a:ea typeface="Montserrat"/>
                <a:cs typeface="Montserrat"/>
                <a:sym typeface="Montserrat"/>
              </a:rPr>
              <a:t>Entra en vigencia en el régimen matrimonial de sociedad conyugal. En este régimen matrimonial, cada cónyuge es dueño del 50% de cada bien que es parte de l a comunidad de bienes. Es el régimen matrimonial más usual  en Chile, ya que es el rige en el sil-</a:t>
            </a:r>
          </a:p>
        </p:txBody>
      </p:sp>
      <p:sp>
        <p:nvSpPr>
          <p:cNvPr name="TextBox 5" id="5"/>
          <p:cNvSpPr txBox="true"/>
          <p:nvPr/>
        </p:nvSpPr>
        <p:spPr>
          <a:xfrm rot="0">
            <a:off x="589521" y="1670114"/>
            <a:ext cx="6428381" cy="656695"/>
          </a:xfrm>
          <a:prstGeom prst="rect">
            <a:avLst/>
          </a:prstGeom>
        </p:spPr>
        <p:txBody>
          <a:bodyPr anchor="t" rtlCol="false" tIns="0" lIns="0" bIns="0" rIns="0">
            <a:spAutoFit/>
          </a:bodyPr>
          <a:lstStyle/>
          <a:p>
            <a:pPr algn="l">
              <a:lnSpc>
                <a:spcPts val="5088"/>
              </a:lnSpc>
            </a:pPr>
            <a:r>
              <a:rPr lang="en-US" sz="4800">
                <a:solidFill>
                  <a:srgbClr val="222525"/>
                </a:solidFill>
                <a:latin typeface="DM Serif Display"/>
                <a:ea typeface="DM Serif Display"/>
                <a:cs typeface="DM Serif Display"/>
                <a:sym typeface="DM Serif Display"/>
              </a:rPr>
              <a:t>03. Derechos y deberes</a:t>
            </a:r>
          </a:p>
        </p:txBody>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7" id="7"/>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25</a:t>
            </a:r>
          </a:p>
        </p:txBody>
      </p:sp>
      <p:sp>
        <p:nvSpPr>
          <p:cNvPr name="TextBox 8" id="8"/>
          <p:cNvSpPr txBox="true"/>
          <p:nvPr/>
        </p:nvSpPr>
        <p:spPr>
          <a:xfrm rot="0">
            <a:off x="3940898" y="3337672"/>
            <a:ext cx="2863102" cy="569658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encio de la voluntad de las part-es, es decir, cuando no se determinó otro tipo de régimen matrimonial al contraer matrimonio.</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C. </a:t>
            </a:r>
            <a:r>
              <a:rPr lang="en-US" sz="1400" b="true">
                <a:solidFill>
                  <a:srgbClr val="000000"/>
                </a:solidFill>
                <a:latin typeface="Montserrat Bold"/>
                <a:ea typeface="Montserrat Bold"/>
                <a:cs typeface="Montserrat Bold"/>
                <a:sym typeface="Montserrat Bold"/>
              </a:rPr>
              <a:t>¿Qué es el Patrimonio reservado de la mujer casada?</a:t>
            </a:r>
          </a:p>
          <a:p>
            <a:pPr algn="l">
              <a:lnSpc>
                <a:spcPts val="2080"/>
              </a:lnSpc>
            </a:pPr>
          </a:p>
          <a:p>
            <a:pPr algn="l">
              <a:lnSpc>
                <a:spcPts val="2080"/>
              </a:lnSpc>
            </a:pPr>
            <a:r>
              <a:rPr lang="en-US" sz="1300">
                <a:solidFill>
                  <a:srgbClr val="122424"/>
                </a:solidFill>
                <a:latin typeface="Montserrat"/>
                <a:ea typeface="Montserrat"/>
                <a:cs typeface="Montserrat"/>
                <a:sym typeface="Montserrat"/>
              </a:rPr>
              <a:t>Cuando la mujer adquiere un bien (propiedad, terreno, auto, etc.) como fruto de su trabajo autónomo e independiente de su cónyuge puede decidir si quiere que este bien sea parte o no de la sociedad conyugal.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Esto quiere decir que si la mujer decide que el bien NO forme parte de la sociedad conyugal, el hombre NO tendrá ningún derecho sobre este bien y serán propiedad exclusiva de ella. De es-</a:t>
            </a:r>
          </a:p>
        </p:txBody>
      </p:sp>
      <p:sp>
        <p:nvSpPr>
          <p:cNvPr name="Freeform 9" id="9"/>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2598903"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603915" y="2573111"/>
            <a:ext cx="2898236" cy="599926"/>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3.1. Patrimonio reservado de la mujer casada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26</a:t>
            </a:r>
          </a:p>
        </p:txBody>
      </p:sp>
      <p:sp>
        <p:nvSpPr>
          <p:cNvPr name="TextBox 9" id="9"/>
          <p:cNvSpPr txBox="true"/>
          <p:nvPr/>
        </p:nvSpPr>
        <p:spPr>
          <a:xfrm rot="0">
            <a:off x="603915" y="1910422"/>
            <a:ext cx="2912631" cy="6485002"/>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ta forma, los bienes acogidos por el Artículo 150 pueden ser administrados sin contar con la autorización del marido. Por lo tanto, será patrimonio de la mujer todo bien que sea producto de su trabajo, que sea independiente de su cónyuge, estando al margen de los bienes de la sociedad conyugal. </a:t>
            </a:r>
          </a:p>
          <a:p>
            <a:pPr algn="l">
              <a:lnSpc>
                <a:spcPts val="2080"/>
              </a:lnSpc>
            </a:pPr>
          </a:p>
          <a:p>
            <a:pPr algn="l">
              <a:lnSpc>
                <a:spcPts val="2240"/>
              </a:lnSpc>
            </a:pPr>
            <a:r>
              <a:rPr lang="en-US" sz="1400" b="true">
                <a:solidFill>
                  <a:srgbClr val="122424"/>
                </a:solidFill>
                <a:latin typeface="Montserrat Bold"/>
                <a:ea typeface="Montserrat Bold"/>
                <a:cs typeface="Montserrat Bold"/>
                <a:sym typeface="Montserrat Bold"/>
              </a:rPr>
              <a:t>D</a:t>
            </a:r>
            <a:r>
              <a:rPr lang="en-US" sz="1400" b="true">
                <a:solidFill>
                  <a:srgbClr val="000000"/>
                </a:solidFill>
                <a:latin typeface="Montserrat Bold"/>
                <a:ea typeface="Montserrat Bold"/>
                <a:cs typeface="Montserrat Bold"/>
                <a:sym typeface="Montserrat Bold"/>
              </a:rPr>
              <a:t>.</a:t>
            </a:r>
            <a:r>
              <a:rPr lang="en-US" sz="1400" b="true">
                <a:solidFill>
                  <a:srgbClr val="000000"/>
                </a:solidFill>
                <a:latin typeface="Montserrat Bold"/>
                <a:ea typeface="Montserrat Bold"/>
                <a:cs typeface="Montserrat Bold"/>
                <a:sym typeface="Montserrat Bold"/>
              </a:rPr>
              <a:t> ¿Cuáles son los requisitos para que aplique el patrimonio reservado de la mujer casada? </a:t>
            </a:r>
          </a:p>
          <a:p>
            <a:pPr algn="l">
              <a:lnSpc>
                <a:spcPts val="224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Tener como régimen matrimonial sociedad conyugal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El bien fue adquirido por parte de la mujer a partir de un trabajo:</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Remunerado.</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Desarrollado durante el matrimonio.</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Por separado de su cónyuge. </a:t>
            </a:r>
          </a:p>
          <a:p>
            <a:pPr algn="l">
              <a:lnSpc>
                <a:spcPts val="2080"/>
              </a:lnSpc>
            </a:pPr>
          </a:p>
        </p:txBody>
      </p:sp>
      <p:sp>
        <p:nvSpPr>
          <p:cNvPr name="TextBox 10" id="10"/>
          <p:cNvSpPr txBox="true"/>
          <p:nvPr/>
        </p:nvSpPr>
        <p:spPr>
          <a:xfrm rot="0">
            <a:off x="3940898" y="1900897"/>
            <a:ext cx="2863102" cy="6272837"/>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E. ¿A la vivienda adquirida por subsidio puede aplicarse el Artículo 150 de Patrimonio reservado de la mujer casada?</a:t>
            </a:r>
          </a:p>
          <a:p>
            <a:pPr algn="l">
              <a:lnSpc>
                <a:spcPts val="2080"/>
              </a:lnSpc>
            </a:pPr>
          </a:p>
          <a:p>
            <a:pPr algn="l">
              <a:lnSpc>
                <a:spcPts val="2080"/>
              </a:lnSpc>
            </a:pPr>
            <a:r>
              <a:rPr lang="en-US" sz="1300">
                <a:solidFill>
                  <a:srgbClr val="122424"/>
                </a:solidFill>
                <a:latin typeface="Montserrat"/>
                <a:ea typeface="Montserrat"/>
                <a:cs typeface="Montserrat"/>
                <a:sym typeface="Montserrat"/>
              </a:rPr>
              <a:t>Si se respetan los requisitos mencionados anteriormente, sí, puede ser aplicado el Artículo 150 de Patrimonio de la mujer casada, pensando en que el subsidio fue adquirido a partir de ahorros generados de forma independiente del cónyuge.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F.</a:t>
            </a:r>
            <a:r>
              <a:rPr lang="en-US" sz="1400" b="true">
                <a:solidFill>
                  <a:srgbClr val="000000"/>
                </a:solidFill>
                <a:latin typeface="Montserrat Bold"/>
                <a:ea typeface="Montserrat Bold"/>
                <a:cs typeface="Montserrat Bold"/>
                <a:sym typeface="Montserrat Bold"/>
              </a:rPr>
              <a:t> ¿Se aplica este Artículo de forma automática?</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Este Artículo NO aplica de forma automática, por lo tanto, cuando la mujer adquiera un bien, debe solicitar que la escritura especifique que el bien está siendo adquirido bajo el Artículo 150 del Código Civil.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89521" y="6937785"/>
            <a:ext cx="3699199" cy="2205084"/>
          </a:xfrm>
          <a:custGeom>
            <a:avLst/>
            <a:gdLst/>
            <a:ahLst/>
            <a:cxnLst/>
            <a:rect r="r" b="b" t="t" l="l"/>
            <a:pathLst>
              <a:path h="2205084" w="3699199">
                <a:moveTo>
                  <a:pt x="0" y="0"/>
                </a:moveTo>
                <a:lnTo>
                  <a:pt x="3699199" y="0"/>
                </a:lnTo>
                <a:lnTo>
                  <a:pt x="3699199" y="2205084"/>
                </a:lnTo>
                <a:lnTo>
                  <a:pt x="0" y="2205084"/>
                </a:lnTo>
                <a:lnTo>
                  <a:pt x="0" y="0"/>
                </a:lnTo>
                <a:close/>
              </a:path>
            </a:pathLst>
          </a:custGeom>
          <a:blipFill>
            <a:blip r:embed="rId5"/>
            <a:stretch>
              <a:fillRect l="-3526" t="-7742" r="0" b="-8185"/>
            </a:stretch>
          </a:blipFill>
        </p:spPr>
      </p:sp>
      <p:sp>
        <p:nvSpPr>
          <p:cNvPr name="Freeform 8" id="8"/>
          <p:cNvSpPr/>
          <p:nvPr/>
        </p:nvSpPr>
        <p:spPr>
          <a:xfrm flipH="false" flipV="false" rot="0">
            <a:off x="4435177" y="6937785"/>
            <a:ext cx="2202344" cy="2205084"/>
          </a:xfrm>
          <a:custGeom>
            <a:avLst/>
            <a:gdLst/>
            <a:ahLst/>
            <a:cxnLst/>
            <a:rect r="r" b="b" t="t" l="l"/>
            <a:pathLst>
              <a:path h="2205084" w="2202344">
                <a:moveTo>
                  <a:pt x="0" y="0"/>
                </a:moveTo>
                <a:lnTo>
                  <a:pt x="2202344" y="0"/>
                </a:lnTo>
                <a:lnTo>
                  <a:pt x="2202344" y="2205084"/>
                </a:lnTo>
                <a:lnTo>
                  <a:pt x="0" y="2205084"/>
                </a:lnTo>
                <a:lnTo>
                  <a:pt x="0" y="0"/>
                </a:lnTo>
                <a:close/>
              </a:path>
            </a:pathLst>
          </a:custGeom>
          <a:blipFill>
            <a:blip r:embed="rId6"/>
            <a:stretch>
              <a:fillRect l="-82982" t="-1912" r="-99433" b="-2804"/>
            </a:stretch>
          </a:blipFill>
        </p:spPr>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27</a:t>
            </a:r>
          </a:p>
        </p:txBody>
      </p:sp>
      <p:sp>
        <p:nvSpPr>
          <p:cNvPr name="TextBox 11" id="11"/>
          <p:cNvSpPr txBox="true"/>
          <p:nvPr/>
        </p:nvSpPr>
        <p:spPr>
          <a:xfrm rot="0">
            <a:off x="603915" y="1900897"/>
            <a:ext cx="2912631" cy="4692283"/>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G. </a:t>
            </a:r>
            <a:r>
              <a:rPr lang="en-US" sz="1400" b="true">
                <a:solidFill>
                  <a:srgbClr val="000000"/>
                </a:solidFill>
                <a:latin typeface="Montserrat Bold"/>
                <a:ea typeface="Montserrat Bold"/>
                <a:cs typeface="Montserrat Bold"/>
                <a:sym typeface="Montserrat Bold"/>
              </a:rPr>
              <a:t>Bajo este Artículo, ¿Qué ocurre con los bienes de la </a:t>
            </a:r>
            <a:r>
              <a:rPr lang="en-US" sz="1400" i="true" b="true">
                <a:solidFill>
                  <a:srgbClr val="000000"/>
                </a:solidFill>
                <a:latin typeface="Montserrat Bold Italics"/>
                <a:ea typeface="Montserrat Bold Italics"/>
                <a:cs typeface="Montserrat Bold Italics"/>
                <a:sym typeface="Montserrat Bold Italics"/>
              </a:rPr>
              <a:t>mujer </a:t>
            </a:r>
            <a:r>
              <a:rPr lang="en-US" sz="1400" b="true">
                <a:solidFill>
                  <a:srgbClr val="000000"/>
                </a:solidFill>
                <a:latin typeface="Montserrat Bold"/>
                <a:ea typeface="Montserrat Bold"/>
                <a:cs typeface="Montserrat Bold"/>
                <a:sym typeface="Montserrat Bold"/>
              </a:rPr>
              <a:t>en caso de divorcio? </a:t>
            </a:r>
          </a:p>
          <a:p>
            <a:pPr algn="l">
              <a:lnSpc>
                <a:spcPts val="2240"/>
              </a:lnSpc>
            </a:pPr>
          </a:p>
          <a:p>
            <a:pPr algn="l">
              <a:lnSpc>
                <a:spcPts val="2080"/>
              </a:lnSpc>
            </a:pPr>
            <a:r>
              <a:rPr lang="en-US" sz="1300">
                <a:solidFill>
                  <a:srgbClr val="122424"/>
                </a:solidFill>
                <a:latin typeface="Montserrat"/>
                <a:ea typeface="Montserrat"/>
                <a:cs typeface="Montserrat"/>
                <a:sym typeface="Montserrat"/>
              </a:rPr>
              <a:t>Depende del momento en que la mujer adquirió el bien. Existen dos escenarios:</a:t>
            </a:r>
          </a:p>
          <a:p>
            <a:pPr algn="l">
              <a:lnSpc>
                <a:spcPts val="2080"/>
              </a:lnSpc>
            </a:pPr>
          </a:p>
          <a:p>
            <a:pPr algn="l">
              <a:lnSpc>
                <a:spcPts val="2080"/>
              </a:lnSpc>
            </a:pPr>
            <a:r>
              <a:rPr lang="en-US" sz="1300">
                <a:solidFill>
                  <a:srgbClr val="122424"/>
                </a:solidFill>
                <a:latin typeface="Montserrat"/>
                <a:ea typeface="Montserrat"/>
                <a:cs typeface="Montserrat"/>
                <a:sym typeface="Montserrat"/>
              </a:rPr>
              <a:t>a) </a:t>
            </a:r>
            <a:r>
              <a:rPr lang="en-US" sz="1300" i="true">
                <a:solidFill>
                  <a:srgbClr val="122424"/>
                </a:solidFill>
                <a:latin typeface="Montserrat Italics"/>
                <a:ea typeface="Montserrat Italics"/>
                <a:cs typeface="Montserrat Italics"/>
                <a:sym typeface="Montserrat Italics"/>
              </a:rPr>
              <a:t>Si el bien fue adquirido por la mujer </a:t>
            </a:r>
            <a:r>
              <a:rPr lang="en-US" sz="1300" i="true" u="sng">
                <a:solidFill>
                  <a:srgbClr val="122424"/>
                </a:solidFill>
                <a:latin typeface="Montserrat Italics"/>
                <a:ea typeface="Montserrat Italics"/>
                <a:cs typeface="Montserrat Italics"/>
                <a:sym typeface="Montserrat Italics"/>
              </a:rPr>
              <a:t>antes </a:t>
            </a:r>
            <a:r>
              <a:rPr lang="en-US" sz="1300" i="true">
                <a:solidFill>
                  <a:srgbClr val="122424"/>
                </a:solidFill>
                <a:latin typeface="Montserrat Italics"/>
                <a:ea typeface="Montserrat Italics"/>
                <a:cs typeface="Montserrat Italics"/>
                <a:sym typeface="Montserrat Italics"/>
              </a:rPr>
              <a:t>del matrimonio:</a:t>
            </a:r>
            <a:r>
              <a:rPr lang="en-US" sz="1300">
                <a:solidFill>
                  <a:srgbClr val="122424"/>
                </a:solidFill>
                <a:latin typeface="Montserrat"/>
                <a:ea typeface="Montserrat"/>
                <a:cs typeface="Montserrat"/>
                <a:sym typeface="Montserrat"/>
              </a:rPr>
              <a:t> quedará a su nombre como un bien propio. </a:t>
            </a:r>
          </a:p>
          <a:p>
            <a:pPr algn="l">
              <a:lnSpc>
                <a:spcPts val="2080"/>
              </a:lnSpc>
            </a:pPr>
          </a:p>
          <a:p>
            <a:pPr algn="l">
              <a:lnSpc>
                <a:spcPts val="2080"/>
              </a:lnSpc>
            </a:pPr>
            <a:r>
              <a:rPr lang="en-US" sz="1300">
                <a:solidFill>
                  <a:srgbClr val="122424"/>
                </a:solidFill>
                <a:latin typeface="Montserrat"/>
                <a:ea typeface="Montserrat"/>
                <a:cs typeface="Montserrat"/>
                <a:sym typeface="Montserrat"/>
              </a:rPr>
              <a:t>b) </a:t>
            </a:r>
            <a:r>
              <a:rPr lang="en-US" sz="1300" i="true">
                <a:solidFill>
                  <a:srgbClr val="122424"/>
                </a:solidFill>
                <a:latin typeface="Montserrat Italics"/>
                <a:ea typeface="Montserrat Italics"/>
                <a:cs typeface="Montserrat Italics"/>
                <a:sym typeface="Montserrat Italics"/>
              </a:rPr>
              <a:t>Si el bien fue adquirido por la mujer </a:t>
            </a:r>
            <a:r>
              <a:rPr lang="en-US" sz="1300" i="true" u="sng">
                <a:solidFill>
                  <a:srgbClr val="122424"/>
                </a:solidFill>
                <a:latin typeface="Montserrat Italics"/>
                <a:ea typeface="Montserrat Italics"/>
                <a:cs typeface="Montserrat Italics"/>
                <a:sym typeface="Montserrat Italics"/>
              </a:rPr>
              <a:t>durante </a:t>
            </a:r>
            <a:r>
              <a:rPr lang="en-US" sz="1300" i="true">
                <a:solidFill>
                  <a:srgbClr val="122424"/>
                </a:solidFill>
                <a:latin typeface="Montserrat Italics"/>
                <a:ea typeface="Montserrat Italics"/>
                <a:cs typeface="Montserrat Italics"/>
                <a:sym typeface="Montserrat Italics"/>
              </a:rPr>
              <a:t>el matrimonio:</a:t>
            </a:r>
            <a:r>
              <a:rPr lang="en-US" sz="1300">
                <a:solidFill>
                  <a:srgbClr val="122424"/>
                </a:solidFill>
                <a:latin typeface="Montserrat"/>
                <a:ea typeface="Montserrat"/>
                <a:cs typeface="Montserrat"/>
                <a:sym typeface="Montserrat"/>
              </a:rPr>
              <a:t> si el bien entra en el Patrimonio protegido de la mujer, la mujer deberá tomar una decisión: </a:t>
            </a:r>
          </a:p>
        </p:txBody>
      </p:sp>
      <p:sp>
        <p:nvSpPr>
          <p:cNvPr name="TextBox 12" id="12"/>
          <p:cNvSpPr txBox="true"/>
          <p:nvPr/>
        </p:nvSpPr>
        <p:spPr>
          <a:xfrm rot="0">
            <a:off x="3940898" y="1910422"/>
            <a:ext cx="2863102" cy="4353560"/>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Renunciar a los gananciales: quiere decir que deberá renunciar a los bienes de la sociedad conyugal o los bienes comunes con su pareja y se</a:t>
            </a:r>
            <a:r>
              <a:rPr lang="en-US" sz="1300">
                <a:solidFill>
                  <a:srgbClr val="122424"/>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quedará únicamente con los bienes de su Patrimonio  reservado.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No renunciar a los gananciales:  todos sus bienes propios, es decir los bienes de su Patrimonio reservado, pasarán a ser parte de la sociedad conyugal como bienes comunes, para ser todo repartido y liquidado en partes iguales.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28</a:t>
            </a:r>
          </a:p>
        </p:txBody>
      </p:sp>
      <p:sp>
        <p:nvSpPr>
          <p:cNvPr name="TextBox 9" id="9"/>
          <p:cNvSpPr txBox="true"/>
          <p:nvPr/>
        </p:nvSpPr>
        <p:spPr>
          <a:xfrm rot="0">
            <a:off x="603915" y="1900897"/>
            <a:ext cx="2912631" cy="6253862"/>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¿En qué consiste la figura de la administración?</a:t>
            </a:r>
            <a:r>
              <a:rPr lang="en-US" sz="1400" b="true">
                <a:solidFill>
                  <a:srgbClr val="000000"/>
                </a:solidFill>
                <a:latin typeface="Montserrat Bold"/>
                <a:ea typeface="Montserrat Bold"/>
                <a:cs typeface="Montserrat Bold"/>
                <a:sym typeface="Montserrat Bold"/>
              </a:rPr>
              <a:t>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la persona natural o jurídica designada por los copropietarios/as para cumplir y ejecutar labores de administración del condominio </a:t>
            </a:r>
            <a:r>
              <a:rPr lang="en-US" sz="1300">
                <a:solidFill>
                  <a:srgbClr val="122424"/>
                </a:solidFill>
                <a:latin typeface="Montserrat"/>
                <a:ea typeface="Montserrat"/>
                <a:cs typeface="Montserrat"/>
                <a:sym typeface="Montserrat"/>
              </a:rPr>
              <a:t>conforme a la Ley, el reglamento de copropiedad y las instrucciones que imparta la asamblea de copropietarios/as y el comité de administración.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B. ¿Cómo se designa la administración? </a:t>
            </a:r>
          </a:p>
          <a:p>
            <a:pPr algn="l">
              <a:lnSpc>
                <a:spcPts val="2240"/>
              </a:lnSpc>
            </a:pPr>
          </a:p>
          <a:p>
            <a:pPr algn="l">
              <a:lnSpc>
                <a:spcPts val="2080"/>
              </a:lnSpc>
            </a:pPr>
            <a:r>
              <a:rPr lang="en-US" sz="1300">
                <a:solidFill>
                  <a:srgbClr val="122424"/>
                </a:solidFill>
                <a:latin typeface="Montserrat"/>
                <a:ea typeface="Montserrat"/>
                <a:cs typeface="Montserrat"/>
                <a:sym typeface="Montserrat"/>
              </a:rPr>
              <a:t>En un principio, es responsabilidad de la Inmobiliaria designar y contratar a una empresa de administración para que se haga cargo del condominio.  Sin embargo, en la primera asamblea de copropietarios/as, todos los copropietarios/as deberán decidir </a:t>
            </a:r>
          </a:p>
        </p:txBody>
      </p:sp>
      <p:sp>
        <p:nvSpPr>
          <p:cNvPr name="TextBox 10" id="10"/>
          <p:cNvSpPr txBox="true"/>
          <p:nvPr/>
        </p:nvSpPr>
        <p:spPr>
          <a:xfrm rot="0">
            <a:off x="3940898" y="1910422"/>
            <a:ext cx="2863102" cy="6501437"/>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si se mantiene o no la administración. Desde aquel momento, el contrato de la administración será responsabilidad del comité de administración.</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C. ¿Cuáles son las funciones de la administración?</a:t>
            </a:r>
            <a:r>
              <a:rPr lang="en-US" sz="1400" b="true">
                <a:solidFill>
                  <a:srgbClr val="000000"/>
                </a:solidFill>
                <a:latin typeface="Montserrat Bold"/>
                <a:ea typeface="Montserrat Bold"/>
                <a:cs typeface="Montserrat Bold"/>
                <a:sym typeface="Montserrat Bold"/>
              </a:rPr>
              <a:t> </a:t>
            </a:r>
          </a:p>
          <a:p>
            <a:pPr algn="l">
              <a:lnSpc>
                <a:spcPts val="2240"/>
              </a:lnSpc>
            </a:pPr>
          </a:p>
          <a:p>
            <a:pPr algn="l">
              <a:lnSpc>
                <a:spcPts val="2080"/>
              </a:lnSpc>
            </a:pPr>
            <a:r>
              <a:rPr lang="en-US" sz="1300">
                <a:solidFill>
                  <a:srgbClr val="122424"/>
                </a:solidFill>
                <a:latin typeface="Montserrat"/>
                <a:ea typeface="Montserrat"/>
                <a:cs typeface="Montserrat"/>
                <a:sym typeface="Montserrat"/>
              </a:rPr>
              <a:t>La administración cuenta con diferentes atribuciones, dentro de las cuales se pueden mencionar: </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Citar a asamblea de copropietarios/as.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Cobrar y administrar gastos comunes.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Efectuar actos necesarios para realizar mantenciones, inspecciones y certificaciones de las instalaciones.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Velar por las disposiciones legales y reglamentarias sobre </a:t>
            </a:r>
          </a:p>
          <a:p>
            <a:pPr algn="l">
              <a:lnSpc>
                <a:spcPts val="2240"/>
              </a:lnSpc>
            </a:pPr>
          </a:p>
        </p:txBody>
      </p:sp>
      <p:sp>
        <p:nvSpPr>
          <p:cNvPr name="TextBox 11" id="11"/>
          <p:cNvSpPr txBox="true"/>
          <p:nvPr/>
        </p:nvSpPr>
        <p:spPr>
          <a:xfrm rot="0">
            <a:off x="603915" y="1199547"/>
            <a:ext cx="3020992" cy="599926"/>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3.2 Administración condominio</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29</a:t>
            </a:r>
          </a:p>
        </p:txBody>
      </p:sp>
      <p:sp>
        <p:nvSpPr>
          <p:cNvPr name="TextBox 9" id="9"/>
          <p:cNvSpPr txBox="true"/>
          <p:nvPr/>
        </p:nvSpPr>
        <p:spPr>
          <a:xfrm rot="0">
            <a:off x="589521" y="1910422"/>
            <a:ext cx="2863102" cy="6725285"/>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FFFFFF"/>
                </a:solidFill>
                <a:latin typeface="Montserrat"/>
                <a:ea typeface="Montserrat"/>
                <a:cs typeface="Montserrat"/>
                <a:sym typeface="Montserrat"/>
              </a:rPr>
              <a:t>la copropiedad inmobiliaria y el reglamento de copropiedad.</a:t>
            </a:r>
            <a:r>
              <a:rPr lang="en-US" sz="1300">
                <a:solidFill>
                  <a:srgbClr val="FFFFFF"/>
                </a:solidFill>
                <a:latin typeface="Montserrat"/>
                <a:ea typeface="Montserrat"/>
                <a:cs typeface="Montserrat"/>
                <a:sym typeface="Montserrat"/>
              </a:rPr>
              <a:t>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a:t>
            </a:r>
            <a:r>
              <a:rPr lang="en-US" sz="1300">
                <a:solidFill>
                  <a:srgbClr val="122424"/>
                </a:solidFill>
                <a:latin typeface="Montserrat"/>
                <a:ea typeface="Montserrat"/>
                <a:cs typeface="Montserrat"/>
                <a:sym typeface="Montserrat"/>
              </a:rPr>
              <a:t>uidar los bienes de toda la comunidad vecinal</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Entre otros. </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D. ¿Cuáles son los requisitos para ser administrador/a?</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Contar con enseñanza media completa.</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Haber realizado un curso de administración en una institución de educación superior del Estado o reconocida por éste, u organismo técnico de capacitación acreditado por el Servicio Nacional de Capacitación y Empleo, o bien contar con una certificación de competencia laboral otorgada por un centro acreditado por la Comisión del Sistema Nacional de Certificación de Competencias Laborales.</a:t>
            </a:r>
          </a:p>
        </p:txBody>
      </p:sp>
      <p:sp>
        <p:nvSpPr>
          <p:cNvPr name="TextBox 10" id="10"/>
          <p:cNvSpPr txBox="true"/>
          <p:nvPr/>
        </p:nvSpPr>
        <p:spPr>
          <a:xfrm rot="0">
            <a:off x="3940898" y="1838422"/>
            <a:ext cx="2863102" cy="4172585"/>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Estar inscrito en el Registro Nacional de Administradores. </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E. ¿Existe un tiempo mínimo/máximo del cargo de administrador/a?</a:t>
            </a:r>
          </a:p>
          <a:p>
            <a:pPr algn="l">
              <a:lnSpc>
                <a:spcPts val="2080"/>
              </a:lnSpc>
            </a:pPr>
          </a:p>
          <a:p>
            <a:pPr algn="l">
              <a:lnSpc>
                <a:spcPts val="2080"/>
              </a:lnSpc>
            </a:pPr>
            <a:r>
              <a:rPr lang="en-US" sz="1300">
                <a:solidFill>
                  <a:srgbClr val="122424"/>
                </a:solidFill>
                <a:latin typeface="Montserrat"/>
                <a:ea typeface="Montserrat"/>
                <a:cs typeface="Montserrat"/>
                <a:sym typeface="Montserrat"/>
              </a:rPr>
              <a:t>No existe un tiempo mínimo ni máximo de duración del cargo de administrador/a. Cuando el contrato de la administración esté a cargo del comité, serán los copropietarios/as quienes estipularán la duración del cargo. </a:t>
            </a:r>
          </a:p>
          <a:p>
            <a:pPr algn="l">
              <a:lnSpc>
                <a:spcPts val="2080"/>
              </a:lnSpc>
            </a:pPr>
          </a:p>
          <a:p>
            <a:pPr algn="l">
              <a:lnSpc>
                <a:spcPts val="2080"/>
              </a:lnSpc>
            </a:pPr>
          </a:p>
        </p:txBody>
      </p:sp>
      <p:sp>
        <p:nvSpPr>
          <p:cNvPr name="TextBox 11" id="11"/>
          <p:cNvSpPr txBox="true"/>
          <p:nvPr/>
        </p:nvSpPr>
        <p:spPr>
          <a:xfrm rot="0">
            <a:off x="820551" y="1838422"/>
            <a:ext cx="2632072" cy="753110"/>
          </a:xfrm>
          <a:prstGeom prst="rect">
            <a:avLst/>
          </a:prstGeom>
        </p:spPr>
        <p:txBody>
          <a:bodyPr anchor="t" rtlCol="false" tIns="0" lIns="0" bIns="0" rIns="0">
            <a:spAutoFit/>
          </a:bodyPr>
          <a:lstStyle/>
          <a:p>
            <a:pPr algn="just">
              <a:lnSpc>
                <a:spcPts val="2080"/>
              </a:lnSpc>
            </a:pPr>
            <a:r>
              <a:rPr lang="en-US" sz="1300">
                <a:solidFill>
                  <a:srgbClr val="122424"/>
                </a:solidFill>
                <a:latin typeface="Montserrat"/>
                <a:ea typeface="Montserrat"/>
                <a:cs typeface="Montserrat"/>
                <a:sym typeface="Montserrat"/>
              </a:rPr>
              <a:t>la copropiedad inmobiliaria y el reglamento de copropiedad.</a:t>
            </a:r>
            <a:r>
              <a:rPr lang="en-US" sz="1300">
                <a:solidFill>
                  <a:srgbClr val="122424"/>
                </a:solidFill>
                <a:latin typeface="Montserrat"/>
                <a:ea typeface="Montserrat"/>
                <a:cs typeface="Montserrat"/>
                <a:sym typeface="Montserrat"/>
              </a:rPr>
              <a:t> </a:t>
            </a:r>
          </a:p>
          <a:p>
            <a:pPr algn="just">
              <a:lnSpc>
                <a:spcPts val="2080"/>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89521" y="7068252"/>
            <a:ext cx="3176085" cy="2417829"/>
          </a:xfrm>
          <a:custGeom>
            <a:avLst/>
            <a:gdLst/>
            <a:ahLst/>
            <a:cxnLst/>
            <a:rect r="r" b="b" t="t" l="l"/>
            <a:pathLst>
              <a:path h="2417829" w="3176085">
                <a:moveTo>
                  <a:pt x="0" y="0"/>
                </a:moveTo>
                <a:lnTo>
                  <a:pt x="3176084" y="0"/>
                </a:lnTo>
                <a:lnTo>
                  <a:pt x="3176084" y="2417829"/>
                </a:lnTo>
                <a:lnTo>
                  <a:pt x="0" y="2417829"/>
                </a:lnTo>
                <a:lnTo>
                  <a:pt x="0" y="0"/>
                </a:lnTo>
                <a:close/>
              </a:path>
            </a:pathLst>
          </a:custGeom>
          <a:blipFill>
            <a:blip r:embed="rId5"/>
            <a:stretch>
              <a:fillRect l="-453" t="0" r="-13807" b="0"/>
            </a:stretch>
          </a:blipFill>
        </p:spPr>
      </p:sp>
      <p:sp>
        <p:nvSpPr>
          <p:cNvPr name="Freeform 8" id="8"/>
          <p:cNvSpPr/>
          <p:nvPr/>
        </p:nvSpPr>
        <p:spPr>
          <a:xfrm flipH="false" flipV="false" rot="0">
            <a:off x="3940898" y="7068252"/>
            <a:ext cx="2696623" cy="2417829"/>
          </a:xfrm>
          <a:custGeom>
            <a:avLst/>
            <a:gdLst/>
            <a:ahLst/>
            <a:cxnLst/>
            <a:rect r="r" b="b" t="t" l="l"/>
            <a:pathLst>
              <a:path h="2417829" w="2696623">
                <a:moveTo>
                  <a:pt x="0" y="0"/>
                </a:moveTo>
                <a:lnTo>
                  <a:pt x="2696623" y="0"/>
                </a:lnTo>
                <a:lnTo>
                  <a:pt x="2696623" y="2417829"/>
                </a:lnTo>
                <a:lnTo>
                  <a:pt x="0" y="2417829"/>
                </a:lnTo>
                <a:lnTo>
                  <a:pt x="0" y="0"/>
                </a:lnTo>
                <a:close/>
              </a:path>
            </a:pathLst>
          </a:custGeom>
          <a:blipFill>
            <a:blip r:embed="rId6"/>
            <a:stretch>
              <a:fillRect l="-30324" t="0" r="-4252" b="0"/>
            </a:stretch>
          </a:blipFill>
        </p:spPr>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30</a:t>
            </a:r>
          </a:p>
        </p:txBody>
      </p:sp>
      <p:sp>
        <p:nvSpPr>
          <p:cNvPr name="TextBox 11" id="11"/>
          <p:cNvSpPr txBox="true"/>
          <p:nvPr/>
        </p:nvSpPr>
        <p:spPr>
          <a:xfrm rot="0">
            <a:off x="589521" y="1900897"/>
            <a:ext cx="2863102" cy="524443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F. ¿Es obligatorio contar con una administración en el condominio?</a:t>
            </a:r>
            <a:r>
              <a:rPr lang="en-US" sz="1400" b="true">
                <a:solidFill>
                  <a:srgbClr val="000000"/>
                </a:solidFill>
                <a:latin typeface="Montserrat Bold"/>
                <a:ea typeface="Montserrat Bold"/>
                <a:cs typeface="Montserrat Bold"/>
                <a:sym typeface="Montserrat Bold"/>
              </a:rPr>
              <a:t> </a:t>
            </a:r>
          </a:p>
          <a:p>
            <a:pPr algn="l">
              <a:lnSpc>
                <a:spcPts val="2080"/>
              </a:lnSpc>
            </a:pPr>
          </a:p>
          <a:p>
            <a:pPr algn="l">
              <a:lnSpc>
                <a:spcPts val="2080"/>
              </a:lnSpc>
            </a:pPr>
            <a:r>
              <a:rPr lang="en-US" sz="1300">
                <a:solidFill>
                  <a:srgbClr val="122424"/>
                </a:solidFill>
                <a:latin typeface="Montserrat"/>
                <a:ea typeface="Montserrat"/>
                <a:cs typeface="Montserrat"/>
                <a:sym typeface="Montserrat"/>
              </a:rPr>
              <a:t>Si, es un órgano obligatorio según lo señalado por la Ley 21.442 de Copropiedad Inmobiliaria. Si no existe, deberá ejercer el cargo el presidente/a del comité de administración de forma provisoria.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G</a:t>
            </a:r>
            <a:r>
              <a:rPr lang="en-US" sz="1400" b="true">
                <a:solidFill>
                  <a:srgbClr val="000000"/>
                </a:solidFill>
                <a:latin typeface="Montserrat Bold"/>
                <a:ea typeface="Montserrat Bold"/>
                <a:cs typeface="Montserrat Bold"/>
                <a:sym typeface="Montserrat Bold"/>
              </a:rPr>
              <a:t>. ¿El administrador/a puede pertenecer al comité de administración? </a:t>
            </a:r>
          </a:p>
          <a:p>
            <a:pPr algn="l">
              <a:lnSpc>
                <a:spcPts val="2080"/>
              </a:lnSpc>
            </a:pPr>
          </a:p>
          <a:p>
            <a:pPr algn="l">
              <a:lnSpc>
                <a:spcPts val="2080"/>
              </a:lnSpc>
            </a:pPr>
            <a:r>
              <a:rPr lang="en-US" sz="1300">
                <a:solidFill>
                  <a:srgbClr val="122424"/>
                </a:solidFill>
                <a:latin typeface="Montserrat"/>
                <a:ea typeface="Montserrat"/>
                <a:cs typeface="Montserrat"/>
                <a:sym typeface="Montserrat"/>
              </a:rPr>
              <a:t>No. El administrador/a no puede ser miembro del comité de administración. </a:t>
            </a:r>
          </a:p>
          <a:p>
            <a:pPr algn="l">
              <a:lnSpc>
                <a:spcPts val="2080"/>
              </a:lnSpc>
            </a:pPr>
          </a:p>
        </p:txBody>
      </p:sp>
      <p:sp>
        <p:nvSpPr>
          <p:cNvPr name="TextBox 12" id="12"/>
          <p:cNvSpPr txBox="true"/>
          <p:nvPr/>
        </p:nvSpPr>
        <p:spPr>
          <a:xfrm rot="0">
            <a:off x="3940898" y="1900897"/>
            <a:ext cx="2863102" cy="491299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H. ¿Se puede reemplazar a la administración?</a:t>
            </a:r>
          </a:p>
          <a:p>
            <a:pPr algn="l">
              <a:lnSpc>
                <a:spcPts val="2080"/>
              </a:lnSpc>
            </a:pPr>
          </a:p>
          <a:p>
            <a:pPr algn="l">
              <a:lnSpc>
                <a:spcPts val="2080"/>
              </a:lnSpc>
            </a:pPr>
            <a:r>
              <a:rPr lang="en-US" sz="1300">
                <a:solidFill>
                  <a:srgbClr val="122424"/>
                </a:solidFill>
                <a:latin typeface="Montserrat"/>
                <a:ea typeface="Montserrat"/>
                <a:cs typeface="Montserrat"/>
                <a:sym typeface="Montserrat"/>
              </a:rPr>
              <a:t>Si, en caso de que los copropietarios/as no estén satisfechos con el trabajo de la administración pueden reemplazarlo al realizar asambleas de carácter ordinarias.</a:t>
            </a:r>
            <a:r>
              <a:rPr lang="en-US" sz="1300">
                <a:solidFill>
                  <a:srgbClr val="122424"/>
                </a:solidFill>
                <a:latin typeface="Montserrat"/>
                <a:ea typeface="Montserrat"/>
                <a:cs typeface="Montserrat"/>
                <a:sym typeface="Montserrat"/>
              </a:rPr>
              <a:t>  En caso de que se quiera reemplazar a la administración designada por la Inmobiliaria, deberán esperar a que se convoque a la primera asamblea de copropietarios/as. Esta asamblea es convocada por la administración vigente cuando se llega a la venta/enajenación del 66% de las viviendas.</a:t>
            </a:r>
          </a:p>
          <a:p>
            <a:pPr algn="l">
              <a:lnSpc>
                <a:spcPts val="2080"/>
              </a:lnSpc>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31</a:t>
            </a:r>
          </a:p>
        </p:txBody>
      </p:sp>
      <p:sp>
        <p:nvSpPr>
          <p:cNvPr name="TextBox 9" id="9"/>
          <p:cNvSpPr txBox="true"/>
          <p:nvPr/>
        </p:nvSpPr>
        <p:spPr>
          <a:xfrm rot="0">
            <a:off x="607515" y="1900897"/>
            <a:ext cx="2912631" cy="5227320"/>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¿En qué consisten las asambleas de copropietarios/as según la Ley?</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el principal órgano decisorio para organizar el condominio. Las asambleas son las reuniones donde se toman los acuerdos más importantes para organizar el condominio.</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B</a:t>
            </a:r>
            <a:r>
              <a:rPr lang="en-US" sz="1400" b="true">
                <a:solidFill>
                  <a:srgbClr val="000000"/>
                </a:solidFill>
                <a:latin typeface="Montserrat Bold"/>
                <a:ea typeface="Montserrat Bold"/>
                <a:cs typeface="Montserrat Bold"/>
                <a:sym typeface="Montserrat Bold"/>
              </a:rPr>
              <a:t>. ¿Quiénes pueden asistir a estas asambleas o reuniones?</a:t>
            </a:r>
          </a:p>
          <a:p>
            <a:pPr algn="l">
              <a:lnSpc>
                <a:spcPts val="2080"/>
              </a:lnSpc>
            </a:pPr>
          </a:p>
          <a:p>
            <a:pPr algn="l">
              <a:lnSpc>
                <a:spcPts val="2079"/>
              </a:lnSpc>
            </a:pPr>
            <a:r>
              <a:rPr lang="en-US" sz="1299">
                <a:solidFill>
                  <a:srgbClr val="122424"/>
                </a:solidFill>
                <a:latin typeface="Montserrat"/>
                <a:ea typeface="Montserrat"/>
                <a:cs typeface="Montserrat"/>
                <a:sym typeface="Montserrat"/>
              </a:rPr>
              <a:t>Puede asistir un propietario/a por unidad, y si éste no asiste puede hacerlo: su cónyuge, conviviente civil, arrendatario u ocupante de la vivienda. </a:t>
            </a:r>
          </a:p>
          <a:p>
            <a:pPr algn="l">
              <a:lnSpc>
                <a:spcPts val="2079"/>
              </a:lnSpc>
            </a:pPr>
          </a:p>
        </p:txBody>
      </p:sp>
      <p:sp>
        <p:nvSpPr>
          <p:cNvPr name="TextBox 10" id="10"/>
          <p:cNvSpPr txBox="true"/>
          <p:nvPr/>
        </p:nvSpPr>
        <p:spPr>
          <a:xfrm rot="0">
            <a:off x="3940898" y="1900897"/>
            <a:ext cx="2863102" cy="6253862"/>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C. ¿En qué formato deben ser las asambleas?</a:t>
            </a:r>
          </a:p>
          <a:p>
            <a:pPr algn="l">
              <a:lnSpc>
                <a:spcPts val="2080"/>
              </a:lnSpc>
            </a:pPr>
          </a:p>
          <a:p>
            <a:pPr algn="l">
              <a:lnSpc>
                <a:spcPts val="2080"/>
              </a:lnSpc>
            </a:pPr>
            <a:r>
              <a:rPr lang="en-US" sz="1300">
                <a:solidFill>
                  <a:srgbClr val="122424"/>
                </a:solidFill>
                <a:latin typeface="Montserrat"/>
                <a:ea typeface="Montserrat"/>
                <a:cs typeface="Montserrat"/>
                <a:sym typeface="Montserrat"/>
              </a:rPr>
              <a:t>La nueva Ley de Copropiedad permite que las asambleas puedan ser de forma telemáticas, híbridas o presenciales.  </a:t>
            </a:r>
            <a:r>
              <a:rPr lang="en-US" sz="1300">
                <a:solidFill>
                  <a:srgbClr val="122424"/>
                </a:solidFill>
                <a:latin typeface="Montserrat"/>
                <a:ea typeface="Montserrat"/>
                <a:cs typeface="Montserrat"/>
                <a:sym typeface="Montserrat"/>
              </a:rPr>
              <a:t>De realizarse de forma telemática o híbrida, es importante contar con los implementos adecuados para poder desarrollar la asamblea en estos formatos. </a:t>
            </a:r>
          </a:p>
          <a:p>
            <a:pPr algn="l">
              <a:lnSpc>
                <a:spcPts val="2080"/>
              </a:lnSpc>
            </a:pPr>
          </a:p>
          <a:p>
            <a:pPr algn="l">
              <a:lnSpc>
                <a:spcPts val="2240"/>
              </a:lnSpc>
            </a:pPr>
            <a:r>
              <a:rPr lang="en-US" sz="1400" b="true">
                <a:solidFill>
                  <a:srgbClr val="122424"/>
                </a:solidFill>
                <a:latin typeface="Montserrat Bold"/>
                <a:ea typeface="Montserrat Bold"/>
                <a:cs typeface="Montserrat Bold"/>
                <a:sym typeface="Montserrat Bold"/>
              </a:rPr>
              <a:t>D. </a:t>
            </a:r>
            <a:r>
              <a:rPr lang="en-US" sz="1400" b="true">
                <a:solidFill>
                  <a:srgbClr val="000000"/>
                </a:solidFill>
                <a:latin typeface="Montserrat Bold"/>
                <a:ea typeface="Montserrat Bold"/>
                <a:cs typeface="Montserrat Bold"/>
                <a:sym typeface="Montserrat Bold"/>
              </a:rPr>
              <a:t>¿Qué tipo de asambleas existen? </a:t>
            </a:r>
          </a:p>
          <a:p>
            <a:pPr algn="l">
              <a:lnSpc>
                <a:spcPts val="2240"/>
              </a:lnSpc>
            </a:pPr>
          </a:p>
          <a:p>
            <a:pPr algn="l">
              <a:lnSpc>
                <a:spcPts val="2080"/>
              </a:lnSpc>
            </a:pPr>
            <a:r>
              <a:rPr lang="en-US" sz="1300">
                <a:solidFill>
                  <a:srgbClr val="122424"/>
                </a:solidFill>
                <a:latin typeface="Montserrat"/>
                <a:ea typeface="Montserrat"/>
                <a:cs typeface="Montserrat"/>
                <a:sym typeface="Montserrat"/>
              </a:rPr>
              <a:t>Existen 3 tipos de asambleas:</a:t>
            </a:r>
          </a:p>
          <a:p>
            <a:pPr algn="l" marL="280671" indent="-140336" lvl="1">
              <a:lnSpc>
                <a:spcPts val="2080"/>
              </a:lnSpc>
              <a:buFont typeface="Arial"/>
              <a:buChar char="•"/>
            </a:pPr>
            <a:r>
              <a:rPr lang="en-US" b="true" sz="1300" u="sng">
                <a:solidFill>
                  <a:srgbClr val="122424"/>
                </a:solidFill>
                <a:latin typeface="Montserrat Bold"/>
                <a:ea typeface="Montserrat Bold"/>
                <a:cs typeface="Montserrat Bold"/>
                <a:sym typeface="Montserrat Bold"/>
              </a:rPr>
              <a:t>Ordinarias</a:t>
            </a:r>
            <a:r>
              <a:rPr lang="en-US" sz="1300">
                <a:solidFill>
                  <a:srgbClr val="122424"/>
                </a:solidFill>
                <a:latin typeface="Montserrat"/>
                <a:ea typeface="Montserrat"/>
                <a:cs typeface="Montserrat"/>
                <a:sym typeface="Montserrat"/>
              </a:rPr>
              <a:t>: se deben realizar al menos una vez al año. En ellas la administración debe dar cuenta de su gestión. En estas sesiones se deben revisar distintas materias tales como:</a:t>
            </a:r>
          </a:p>
          <a:p>
            <a:pPr algn="l">
              <a:lnSpc>
                <a:spcPts val="2080"/>
              </a:lnSpc>
            </a:pPr>
          </a:p>
        </p:txBody>
      </p:sp>
      <p:sp>
        <p:nvSpPr>
          <p:cNvPr name="TextBox 11" id="11"/>
          <p:cNvSpPr txBox="true"/>
          <p:nvPr/>
        </p:nvSpPr>
        <p:spPr>
          <a:xfrm rot="0">
            <a:off x="607515" y="1457330"/>
            <a:ext cx="3199796" cy="295201"/>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3.3 Asambleas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7" id="7"/>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32</a:t>
            </a:r>
          </a:p>
        </p:txBody>
      </p:sp>
      <p:sp>
        <p:nvSpPr>
          <p:cNvPr name="TextBox 8" id="8"/>
          <p:cNvSpPr txBox="true"/>
          <p:nvPr/>
        </p:nvSpPr>
        <p:spPr>
          <a:xfrm rot="0">
            <a:off x="603915" y="1910422"/>
            <a:ext cx="2912631" cy="6428075"/>
          </a:xfrm>
          <a:prstGeom prst="rect">
            <a:avLst/>
          </a:prstGeom>
        </p:spPr>
        <p:txBody>
          <a:bodyPr anchor="t" rtlCol="false" tIns="0" lIns="0" bIns="0" rIns="0">
            <a:spAutoFit/>
          </a:bodyPr>
          <a:lstStyle/>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 Rendición de cuentas del administrador/a y aprobación o  rechazo del balance. </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Designación miembros del comité de administración. </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Designación o remoción del administrador/a. </a:t>
            </a:r>
          </a:p>
          <a:p>
            <a:pPr algn="l">
              <a:lnSpc>
                <a:spcPts val="2240"/>
              </a:lnSpc>
            </a:pPr>
          </a:p>
          <a:p>
            <a:pPr algn="l">
              <a:lnSpc>
                <a:spcPts val="2080"/>
              </a:lnSpc>
            </a:pPr>
            <a:r>
              <a:rPr lang="en-US" sz="1300">
                <a:solidFill>
                  <a:srgbClr val="122424"/>
                </a:solidFill>
                <a:latin typeface="Montserrat"/>
                <a:ea typeface="Montserrat"/>
                <a:cs typeface="Montserrat"/>
                <a:sym typeface="Montserrat"/>
              </a:rPr>
              <a:t>El quórum mínimo para </a:t>
            </a:r>
            <a:r>
              <a:rPr lang="en-US" sz="1300" i="true">
                <a:solidFill>
                  <a:srgbClr val="122424"/>
                </a:solidFill>
                <a:latin typeface="Montserrat Italics"/>
                <a:ea typeface="Montserrat Italics"/>
                <a:cs typeface="Montserrat Italics"/>
                <a:sym typeface="Montserrat Italics"/>
              </a:rPr>
              <a:t>constituir </a:t>
            </a:r>
            <a:r>
              <a:rPr lang="en-US" sz="1300">
                <a:solidFill>
                  <a:srgbClr val="122424"/>
                </a:solidFill>
                <a:latin typeface="Montserrat"/>
                <a:ea typeface="Montserrat"/>
                <a:cs typeface="Montserrat"/>
                <a:sym typeface="Montserrat"/>
              </a:rPr>
              <a:t>la sesión es del 33% de los derechos del condominio, mientras que el quórum mínimo para </a:t>
            </a:r>
            <a:r>
              <a:rPr lang="en-US" sz="1300" i="true">
                <a:solidFill>
                  <a:srgbClr val="122424"/>
                </a:solidFill>
                <a:latin typeface="Montserrat Italics"/>
                <a:ea typeface="Montserrat Italics"/>
                <a:cs typeface="Montserrat Italics"/>
                <a:sym typeface="Montserrat Italics"/>
              </a:rPr>
              <a:t>adoptar acuerdos </a:t>
            </a:r>
            <a:r>
              <a:rPr lang="en-US" sz="1300">
                <a:solidFill>
                  <a:srgbClr val="122424"/>
                </a:solidFill>
                <a:latin typeface="Montserrat"/>
                <a:ea typeface="Montserrat"/>
                <a:cs typeface="Montserrat"/>
                <a:sym typeface="Montserrat"/>
              </a:rPr>
              <a:t>es la mayoría absoluta de los asistentes (51% de los propietarios/as o arrendatarios/as. </a:t>
            </a:r>
          </a:p>
          <a:p>
            <a:pPr algn="l">
              <a:lnSpc>
                <a:spcPts val="2080"/>
              </a:lnSpc>
            </a:pPr>
          </a:p>
          <a:p>
            <a:pPr algn="l" marL="280671" indent="-140336" lvl="1">
              <a:lnSpc>
                <a:spcPts val="2080"/>
              </a:lnSpc>
              <a:buFont typeface="Arial"/>
              <a:buChar char="•"/>
            </a:pPr>
            <a:r>
              <a:rPr lang="en-US" b="true" sz="1300" u="sng">
                <a:solidFill>
                  <a:srgbClr val="122424"/>
                </a:solidFill>
                <a:latin typeface="Montserrat Bold"/>
                <a:ea typeface="Montserrat Bold"/>
                <a:cs typeface="Montserrat Bold"/>
                <a:sym typeface="Montserrat Bold"/>
              </a:rPr>
              <a:t>Extraordinarias</a:t>
            </a:r>
            <a:r>
              <a:rPr lang="en-US" sz="1300">
                <a:solidFill>
                  <a:srgbClr val="122424"/>
                </a:solidFill>
                <a:latin typeface="Montserrat"/>
                <a:ea typeface="Montserrat"/>
                <a:cs typeface="Montserrat"/>
                <a:sym typeface="Montserrat"/>
              </a:rPr>
              <a:t>: se realizan cada vez que exijan las necesidades del condominio,  o a petición del comité de administración o de los copropietarios/as. En estas sesiones se pueden tratar prin-</a:t>
            </a:r>
          </a:p>
        </p:txBody>
      </p:sp>
      <p:sp>
        <p:nvSpPr>
          <p:cNvPr name="TextBox 9" id="9"/>
          <p:cNvSpPr txBox="true"/>
          <p:nvPr/>
        </p:nvSpPr>
        <p:spPr>
          <a:xfrm rot="0">
            <a:off x="3940898" y="1910422"/>
            <a:ext cx="2863102" cy="5896610"/>
          </a:xfrm>
          <a:prstGeom prst="rect">
            <a:avLst/>
          </a:prstGeom>
        </p:spPr>
        <p:txBody>
          <a:bodyPr anchor="t" rtlCol="false" tIns="0" lIns="0" bIns="0" rIns="0">
            <a:spAutoFit/>
          </a:bodyPr>
          <a:lstStyle/>
          <a:p>
            <a:pPr algn="l">
              <a:lnSpc>
                <a:spcPts val="2079"/>
              </a:lnSpc>
            </a:pPr>
            <a:r>
              <a:rPr lang="en-US" sz="1299">
                <a:solidFill>
                  <a:srgbClr val="122424"/>
                </a:solidFill>
                <a:latin typeface="Montserrat"/>
                <a:ea typeface="Montserrat"/>
                <a:cs typeface="Montserrat"/>
                <a:sym typeface="Montserrat"/>
              </a:rPr>
              <a:t>cipalmente los siguientes temas:</a:t>
            </a:r>
          </a:p>
          <a:p>
            <a:pPr algn="l">
              <a:lnSpc>
                <a:spcPts val="2079"/>
              </a:lnSpc>
            </a:pPr>
          </a:p>
          <a:p>
            <a:pPr algn="l" marL="561339" indent="-187113" lvl="2">
              <a:lnSpc>
                <a:spcPts val="2079"/>
              </a:lnSpc>
              <a:buFont typeface="Arial"/>
              <a:buChar char="⚬"/>
            </a:pPr>
            <a:r>
              <a:rPr lang="en-US" sz="1299">
                <a:solidFill>
                  <a:srgbClr val="122424"/>
                </a:solidFill>
                <a:latin typeface="Montserrat"/>
                <a:ea typeface="Montserrat"/>
                <a:cs typeface="Montserrat"/>
                <a:sym typeface="Montserrat"/>
              </a:rPr>
              <a:t>Modificación del reglamento de copropiedad.</a:t>
            </a:r>
          </a:p>
          <a:p>
            <a:pPr algn="l" marL="561339" indent="-187113" lvl="2">
              <a:lnSpc>
                <a:spcPts val="2079"/>
              </a:lnSpc>
              <a:buFont typeface="Arial"/>
              <a:buChar char="⚬"/>
            </a:pPr>
            <a:r>
              <a:rPr lang="en-US" sz="1299">
                <a:solidFill>
                  <a:srgbClr val="122424"/>
                </a:solidFill>
                <a:latin typeface="Montserrat"/>
                <a:ea typeface="Montserrat"/>
                <a:cs typeface="Montserrat"/>
                <a:sym typeface="Montserrat"/>
              </a:rPr>
              <a:t>Delegación facultades al comité o remover integrantes.</a:t>
            </a:r>
          </a:p>
          <a:p>
            <a:pPr algn="l" marL="561339" indent="-187113" lvl="2">
              <a:lnSpc>
                <a:spcPts val="2079"/>
              </a:lnSpc>
              <a:buFont typeface="Arial"/>
              <a:buChar char="⚬"/>
            </a:pPr>
            <a:r>
              <a:rPr lang="en-US" sz="1299">
                <a:solidFill>
                  <a:srgbClr val="122424"/>
                </a:solidFill>
                <a:latin typeface="Montserrat"/>
                <a:ea typeface="Montserrat"/>
                <a:cs typeface="Montserrat"/>
                <a:sym typeface="Montserrat"/>
              </a:rPr>
              <a:t>Utilización de recursos del fondo común de reserva para gastos de mantención. </a:t>
            </a:r>
          </a:p>
          <a:p>
            <a:pPr algn="l" marL="561339" indent="-187113" lvl="2">
              <a:lnSpc>
                <a:spcPts val="2079"/>
              </a:lnSpc>
              <a:buFont typeface="Arial"/>
              <a:buChar char="⚬"/>
            </a:pPr>
            <a:r>
              <a:rPr lang="en-US" sz="1299">
                <a:solidFill>
                  <a:srgbClr val="122424"/>
                </a:solidFill>
                <a:latin typeface="Montserrat"/>
                <a:ea typeface="Montserrat"/>
                <a:cs typeface="Montserrat"/>
                <a:sym typeface="Montserrat"/>
              </a:rPr>
              <a:t>Entre otros.</a:t>
            </a:r>
          </a:p>
          <a:p>
            <a:pPr algn="l">
              <a:lnSpc>
                <a:spcPts val="2079"/>
              </a:lnSpc>
            </a:pPr>
          </a:p>
          <a:p>
            <a:pPr algn="l">
              <a:lnSpc>
                <a:spcPts val="2079"/>
              </a:lnSpc>
            </a:pPr>
            <a:r>
              <a:rPr lang="en-US" sz="1299">
                <a:solidFill>
                  <a:srgbClr val="122424"/>
                </a:solidFill>
                <a:latin typeface="Montserrat"/>
                <a:ea typeface="Montserrat"/>
                <a:cs typeface="Montserrat"/>
                <a:sym typeface="Montserrat"/>
              </a:rPr>
              <a:t>El quórum mínimo para </a:t>
            </a:r>
            <a:r>
              <a:rPr lang="en-US" sz="1299" i="true">
                <a:solidFill>
                  <a:srgbClr val="122424"/>
                </a:solidFill>
                <a:latin typeface="Montserrat Italics"/>
                <a:ea typeface="Montserrat Italics"/>
                <a:cs typeface="Montserrat Italics"/>
                <a:sym typeface="Montserrat Italics"/>
              </a:rPr>
              <a:t>constituir </a:t>
            </a:r>
            <a:r>
              <a:rPr lang="en-US" sz="1299">
                <a:solidFill>
                  <a:srgbClr val="122424"/>
                </a:solidFill>
                <a:latin typeface="Montserrat"/>
                <a:ea typeface="Montserrat"/>
                <a:cs typeface="Montserrat"/>
                <a:sym typeface="Montserrat"/>
              </a:rPr>
              <a:t>la sesión es la mayoría absoluta de lo derechos del condominio,  mientras que el quórum mínimo para </a:t>
            </a:r>
            <a:r>
              <a:rPr lang="en-US" sz="1299" i="true">
                <a:solidFill>
                  <a:srgbClr val="122424"/>
                </a:solidFill>
                <a:latin typeface="Montserrat Italics"/>
                <a:ea typeface="Montserrat Italics"/>
                <a:cs typeface="Montserrat Italics"/>
                <a:sym typeface="Montserrat Italics"/>
              </a:rPr>
              <a:t>adoptar</a:t>
            </a:r>
            <a:r>
              <a:rPr lang="en-US" sz="1299">
                <a:solidFill>
                  <a:srgbClr val="122424"/>
                </a:solidFill>
                <a:latin typeface="Montserrat"/>
                <a:ea typeface="Montserrat"/>
                <a:cs typeface="Montserrat"/>
                <a:sym typeface="Montserrat"/>
              </a:rPr>
              <a:t> </a:t>
            </a:r>
            <a:r>
              <a:rPr lang="en-US" sz="1299" i="true">
                <a:solidFill>
                  <a:srgbClr val="122424"/>
                </a:solidFill>
                <a:latin typeface="Montserrat Italics"/>
                <a:ea typeface="Montserrat Italics"/>
                <a:cs typeface="Montserrat Italics"/>
                <a:sym typeface="Montserrat Italics"/>
              </a:rPr>
              <a:t>acuerdos </a:t>
            </a:r>
            <a:r>
              <a:rPr lang="en-US" sz="1299">
                <a:solidFill>
                  <a:srgbClr val="122424"/>
                </a:solidFill>
                <a:latin typeface="Montserrat"/>
                <a:ea typeface="Montserrat"/>
                <a:cs typeface="Montserrat"/>
                <a:sym typeface="Montserrat"/>
              </a:rPr>
              <a:t>es la mayoría absoluta de los derechos de los propietarios/as, equivalente al 50% más uno de los propietarios/as o su representante. </a:t>
            </a:r>
          </a:p>
        </p:txBody>
      </p:sp>
      <p:sp>
        <p:nvSpPr>
          <p:cNvPr name="AutoShape 10" id="10"/>
          <p:cNvSpPr/>
          <p:nvPr/>
        </p:nvSpPr>
        <p:spPr>
          <a:xfrm rot="0">
            <a:off x="589521" y="9936000"/>
            <a:ext cx="6048000" cy="0"/>
          </a:xfrm>
          <a:prstGeom prst="line">
            <a:avLst/>
          </a:prstGeom>
          <a:ln cap="flat" w="9525">
            <a:solidFill>
              <a:srgbClr val="000000"/>
            </a:solidFill>
            <a:prstDash val="solid"/>
            <a:headEnd type="none" len="sm" w="sm"/>
            <a:tailEnd type="none" len="sm" w="sm"/>
          </a:ln>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0">
            <a:off x="589521" y="7014619"/>
            <a:ext cx="6048000" cy="2615760"/>
          </a:xfrm>
          <a:custGeom>
            <a:avLst/>
            <a:gdLst/>
            <a:ahLst/>
            <a:cxnLst/>
            <a:rect r="r" b="b" t="t" l="l"/>
            <a:pathLst>
              <a:path h="2615760" w="6048000">
                <a:moveTo>
                  <a:pt x="0" y="0"/>
                </a:moveTo>
                <a:lnTo>
                  <a:pt x="6048000" y="0"/>
                </a:lnTo>
                <a:lnTo>
                  <a:pt x="6048000" y="2615760"/>
                </a:lnTo>
                <a:lnTo>
                  <a:pt x="0" y="2615760"/>
                </a:lnTo>
                <a:lnTo>
                  <a:pt x="0" y="0"/>
                </a:lnTo>
                <a:close/>
              </a:path>
            </a:pathLst>
          </a:custGeom>
          <a:blipFill>
            <a:blip r:embed="rId5"/>
            <a:stretch>
              <a:fillRect l="0" t="-94" r="-188" b="-94"/>
            </a:stretch>
          </a:blipFill>
        </p:spPr>
      </p:sp>
      <p:sp>
        <p:nvSpPr>
          <p:cNvPr name="TextBox 8" id="8"/>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33</a:t>
            </a:r>
          </a:p>
        </p:txBody>
      </p:sp>
      <p:sp>
        <p:nvSpPr>
          <p:cNvPr name="TextBox 10" id="10"/>
          <p:cNvSpPr txBox="true"/>
          <p:nvPr/>
        </p:nvSpPr>
        <p:spPr>
          <a:xfrm rot="0">
            <a:off x="603915" y="1910422"/>
            <a:ext cx="2912631" cy="4866496"/>
          </a:xfrm>
          <a:prstGeom prst="rect">
            <a:avLst/>
          </a:prstGeom>
        </p:spPr>
        <p:txBody>
          <a:bodyPr anchor="t" rtlCol="false" tIns="0" lIns="0" bIns="0" rIns="0">
            <a:spAutoFit/>
          </a:bodyPr>
          <a:lstStyle/>
          <a:p>
            <a:pPr algn="l" marL="280671" indent="-140336" lvl="1">
              <a:lnSpc>
                <a:spcPts val="2080"/>
              </a:lnSpc>
              <a:buFont typeface="Arial"/>
              <a:buChar char="•"/>
            </a:pPr>
            <a:r>
              <a:rPr lang="en-US" b="true" sz="1300" u="sng">
                <a:solidFill>
                  <a:srgbClr val="122424"/>
                </a:solidFill>
                <a:latin typeface="Montserrat Bold"/>
                <a:ea typeface="Montserrat Bold"/>
                <a:cs typeface="Montserrat Bold"/>
                <a:sym typeface="Montserrat Bold"/>
              </a:rPr>
              <a:t>Extraordinaria </a:t>
            </a:r>
            <a:r>
              <a:rPr lang="en-US" b="true" sz="1300">
                <a:solidFill>
                  <a:srgbClr val="122424"/>
                </a:solidFill>
                <a:latin typeface="Montserrat Bold"/>
                <a:ea typeface="Montserrat Bold"/>
                <a:cs typeface="Montserrat Bold"/>
                <a:sym typeface="Montserrat Bold"/>
              </a:rPr>
              <a:t>de mayoría reforzada:  </a:t>
            </a:r>
            <a:r>
              <a:rPr lang="en-US" sz="1300">
                <a:solidFill>
                  <a:srgbClr val="000000"/>
                </a:solidFill>
                <a:latin typeface="Montserrat"/>
                <a:ea typeface="Montserrat"/>
                <a:cs typeface="Montserrat"/>
                <a:sym typeface="Montserrat"/>
              </a:rPr>
              <a:t>en estas asambleas se evalúan los siguientes elementos: </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 Alteraciones del condominio o de las unidades.</a:t>
            </a:r>
          </a:p>
          <a:p>
            <a:pPr algn="l" marL="561342" indent="-187114" lvl="2">
              <a:lnSpc>
                <a:spcPts val="2080"/>
              </a:lnSpc>
              <a:buFont typeface="Arial"/>
              <a:buChar char="⚬"/>
            </a:pPr>
            <a:r>
              <a:rPr lang="en-US" sz="1300">
                <a:solidFill>
                  <a:srgbClr val="122424"/>
                </a:solidFill>
                <a:latin typeface="Montserrat"/>
                <a:ea typeface="Montserrat"/>
                <a:cs typeface="Montserrat"/>
                <a:sym typeface="Montserrat"/>
              </a:rPr>
              <a:t>Pr</a:t>
            </a:r>
            <a:r>
              <a:rPr lang="en-US" sz="1300">
                <a:solidFill>
                  <a:srgbClr val="122424"/>
                </a:solidFill>
                <a:latin typeface="Montserrat"/>
                <a:ea typeface="Montserrat"/>
                <a:cs typeface="Montserrat"/>
                <a:sym typeface="Montserrat"/>
              </a:rPr>
              <a:t>ocesos de reconstrucción o demolición del condominio.</a:t>
            </a:r>
          </a:p>
          <a:p>
            <a:pPr algn="l">
              <a:lnSpc>
                <a:spcPts val="2080"/>
              </a:lnSpc>
            </a:pPr>
          </a:p>
          <a:p>
            <a:pPr algn="l">
              <a:lnSpc>
                <a:spcPts val="2080"/>
              </a:lnSpc>
            </a:pPr>
            <a:r>
              <a:rPr lang="en-US" sz="1300">
                <a:solidFill>
                  <a:srgbClr val="122424"/>
                </a:solidFill>
                <a:latin typeface="Montserrat"/>
                <a:ea typeface="Montserrat"/>
                <a:cs typeface="Montserrat"/>
                <a:sym typeface="Montserrat"/>
              </a:rPr>
              <a:t>El</a:t>
            </a:r>
            <a:r>
              <a:rPr lang="en-US" sz="1300">
                <a:solidFill>
                  <a:srgbClr val="122424"/>
                </a:solidFill>
                <a:latin typeface="Montserrat"/>
                <a:ea typeface="Montserrat"/>
                <a:cs typeface="Montserrat"/>
                <a:sym typeface="Montserrat"/>
              </a:rPr>
              <a:t> quórum mínimo para  </a:t>
            </a:r>
            <a:r>
              <a:rPr lang="en-US" sz="1300" i="true">
                <a:solidFill>
                  <a:srgbClr val="122424"/>
                </a:solidFill>
                <a:latin typeface="Montserrat Italics"/>
                <a:ea typeface="Montserrat Italics"/>
                <a:cs typeface="Montserrat Italics"/>
                <a:sym typeface="Montserrat Italics"/>
              </a:rPr>
              <a:t>constituir </a:t>
            </a:r>
            <a:r>
              <a:rPr lang="en-US" sz="1300">
                <a:solidFill>
                  <a:srgbClr val="122424"/>
                </a:solidFill>
                <a:latin typeface="Montserrat"/>
                <a:ea typeface="Montserrat"/>
                <a:cs typeface="Montserrat"/>
                <a:sym typeface="Montserrat"/>
              </a:rPr>
              <a:t>la sesión es de al menos el 66% de las personas que representan los derechos del condominio, mientras que el quórum mínimo para </a:t>
            </a:r>
            <a:r>
              <a:rPr lang="en-US" sz="1300" i="true">
                <a:solidFill>
                  <a:srgbClr val="122424"/>
                </a:solidFill>
                <a:latin typeface="Montserrat Italics"/>
                <a:ea typeface="Montserrat Italics"/>
                <a:cs typeface="Montserrat Italics"/>
                <a:sym typeface="Montserrat Italics"/>
              </a:rPr>
              <a:t>adoptar acuerdos </a:t>
            </a:r>
            <a:r>
              <a:rPr lang="en-US" sz="1300">
                <a:solidFill>
                  <a:srgbClr val="122424"/>
                </a:solidFill>
                <a:latin typeface="Montserrat"/>
                <a:ea typeface="Montserrat"/>
                <a:cs typeface="Montserrat"/>
                <a:sym typeface="Montserrat"/>
              </a:rPr>
              <a:t>es la mayoría reforzada de los derechos equivalentes al 66%.</a:t>
            </a:r>
          </a:p>
        </p:txBody>
      </p:sp>
      <p:sp>
        <p:nvSpPr>
          <p:cNvPr name="TextBox 11" id="11"/>
          <p:cNvSpPr txBox="true"/>
          <p:nvPr/>
        </p:nvSpPr>
        <p:spPr>
          <a:xfrm rot="0">
            <a:off x="3832894" y="1900897"/>
            <a:ext cx="2912631" cy="4949383"/>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¿En qué consiste el Comité de Administración?</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un grupo compuesto por diferentes vecinos/as del condominio que se encargan de representar la voz de todos los copropietarios/as y de respetar los acuerdos adoptados en asamblea.  Este comité es elegido por la misma comunidad vecinal.  </a:t>
            </a:r>
          </a:p>
          <a:p>
            <a:pPr algn="l">
              <a:lnSpc>
                <a:spcPts val="2080"/>
              </a:lnSpc>
            </a:pPr>
          </a:p>
          <a:p>
            <a:pPr algn="l">
              <a:lnSpc>
                <a:spcPts val="2240"/>
              </a:lnSpc>
            </a:pPr>
            <a:r>
              <a:rPr lang="en-US" sz="1400" b="true">
                <a:solidFill>
                  <a:srgbClr val="122424"/>
                </a:solidFill>
                <a:latin typeface="Montserrat Bold"/>
                <a:ea typeface="Montserrat Bold"/>
                <a:cs typeface="Montserrat Bold"/>
                <a:sym typeface="Montserrat Bold"/>
              </a:rPr>
              <a:t>B. </a:t>
            </a:r>
            <a:r>
              <a:rPr lang="en-US" sz="1400" b="true">
                <a:solidFill>
                  <a:srgbClr val="000000"/>
                </a:solidFill>
                <a:latin typeface="Montserrat Bold"/>
                <a:ea typeface="Montserrat Bold"/>
                <a:cs typeface="Montserrat Bold"/>
                <a:sym typeface="Montserrat Bold"/>
              </a:rPr>
              <a:t>¿Cuáles son sus funciones? </a:t>
            </a:r>
          </a:p>
          <a:p>
            <a:pPr algn="l">
              <a:lnSpc>
                <a:spcPts val="2240"/>
              </a:lnSpc>
            </a:pP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Establece reglas mínimas respecto al uso habitual o periódico de bienes comunes.</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Imparte instrucciones a la administración del condominio.</a:t>
            </a:r>
          </a:p>
        </p:txBody>
      </p:sp>
      <p:sp>
        <p:nvSpPr>
          <p:cNvPr name="TextBox 12" id="12"/>
          <p:cNvSpPr txBox="true"/>
          <p:nvPr/>
        </p:nvSpPr>
        <p:spPr>
          <a:xfrm rot="0">
            <a:off x="3832894" y="1196195"/>
            <a:ext cx="2971106" cy="599926"/>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3.4. Comité de Administración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6450928" y="10110841"/>
            <a:ext cx="186593"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34</a:t>
            </a:r>
          </a:p>
        </p:txBody>
      </p:sp>
      <p:sp>
        <p:nvSpPr>
          <p:cNvPr name="TextBox 9" id="9"/>
          <p:cNvSpPr txBox="true"/>
          <p:nvPr/>
        </p:nvSpPr>
        <p:spPr>
          <a:xfrm rot="0">
            <a:off x="603915" y="1910422"/>
            <a:ext cx="2912631" cy="6742102"/>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 Impone multas que estuvieron contempladas en el reglamento.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C. ¿Quiénes pueden conformarlo?</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Propietarios/as en el condominio, sus cónyuges o convivientes civiles, o cualquier mandatario con poder suficiente.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Representantes de las personas jurídicas que sean propietarias.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Personas hábiles (al día con el pago de los gastos comunes).</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D. </a:t>
            </a:r>
            <a:r>
              <a:rPr lang="en-US" sz="1400" b="true">
                <a:solidFill>
                  <a:srgbClr val="000000"/>
                </a:solidFill>
                <a:latin typeface="Montserrat Bold"/>
                <a:ea typeface="Montserrat Bold"/>
                <a:cs typeface="Montserrat Bold"/>
                <a:sym typeface="Montserrat Bold"/>
              </a:rPr>
              <a:t>¿En qué instancia se conforma?</a:t>
            </a:r>
          </a:p>
          <a:p>
            <a:pPr algn="l">
              <a:lnSpc>
                <a:spcPts val="2080"/>
              </a:lnSpc>
            </a:pPr>
          </a:p>
          <a:p>
            <a:pPr algn="l">
              <a:lnSpc>
                <a:spcPts val="2080"/>
              </a:lnSpc>
            </a:pPr>
            <a:r>
              <a:rPr lang="en-US" sz="1300">
                <a:solidFill>
                  <a:srgbClr val="122424"/>
                </a:solidFill>
                <a:latin typeface="Montserrat"/>
                <a:ea typeface="Montserrat"/>
                <a:cs typeface="Montserrat"/>
                <a:sym typeface="Montserrat"/>
              </a:rPr>
              <a:t>El primer comité se conforma en la primera asamblea de copropietarios/as convocada por la</a:t>
            </a:r>
          </a:p>
          <a:p>
            <a:pPr algn="l">
              <a:lnSpc>
                <a:spcPts val="2080"/>
              </a:lnSpc>
            </a:pPr>
            <a:r>
              <a:rPr lang="en-US" sz="1300">
                <a:solidFill>
                  <a:srgbClr val="122424"/>
                </a:solidFill>
                <a:latin typeface="Montserrat"/>
                <a:ea typeface="Montserrat"/>
                <a:cs typeface="Montserrat"/>
                <a:sym typeface="Montserrat"/>
              </a:rPr>
              <a:t>administración. Posteriormente se conforma en asambleas de sesión ordinaria. </a:t>
            </a:r>
          </a:p>
        </p:txBody>
      </p:sp>
      <p:sp>
        <p:nvSpPr>
          <p:cNvPr name="TextBox 10" id="10"/>
          <p:cNvSpPr txBox="true"/>
          <p:nvPr/>
        </p:nvSpPr>
        <p:spPr>
          <a:xfrm rot="0">
            <a:off x="3940898" y="1900897"/>
            <a:ext cx="2863102" cy="6532245"/>
          </a:xfrm>
          <a:prstGeom prst="rect">
            <a:avLst/>
          </a:prstGeom>
        </p:spPr>
        <p:txBody>
          <a:bodyPr anchor="t" rtlCol="false" tIns="0" lIns="0" bIns="0" rIns="0">
            <a:spAutoFit/>
          </a:bodyPr>
          <a:lstStyle/>
          <a:p>
            <a:pPr algn="l">
              <a:lnSpc>
                <a:spcPts val="2239"/>
              </a:lnSpc>
            </a:pPr>
            <a:r>
              <a:rPr lang="en-US" sz="1399" b="true">
                <a:solidFill>
                  <a:srgbClr val="000000"/>
                </a:solidFill>
                <a:latin typeface="Montserrat Bold"/>
                <a:ea typeface="Montserrat Bold"/>
                <a:cs typeface="Montserrat Bold"/>
                <a:sym typeface="Montserrat Bold"/>
              </a:rPr>
              <a:t>E. ¿Cómo se eligen a los miembros del Comité?</a:t>
            </a:r>
          </a:p>
          <a:p>
            <a:pPr algn="l">
              <a:lnSpc>
                <a:spcPts val="2079"/>
              </a:lnSpc>
            </a:pPr>
          </a:p>
          <a:p>
            <a:pPr algn="l">
              <a:lnSpc>
                <a:spcPts val="2079"/>
              </a:lnSpc>
            </a:pPr>
            <a:r>
              <a:rPr lang="en-US" sz="1299">
                <a:solidFill>
                  <a:srgbClr val="122424"/>
                </a:solidFill>
                <a:latin typeface="Montserrat"/>
                <a:ea typeface="Montserrat"/>
                <a:cs typeface="Montserrat"/>
                <a:sym typeface="Montserrat"/>
              </a:rPr>
              <a:t>Se eligen en la asamblea de copropietarios. Deben ser mínimo 3 personas y máximo 5, debe ser un número impar de miembros.  </a:t>
            </a:r>
          </a:p>
          <a:p>
            <a:pPr algn="l">
              <a:lnSpc>
                <a:spcPts val="2079"/>
              </a:lnSpc>
            </a:pPr>
          </a:p>
          <a:p>
            <a:pPr algn="l">
              <a:lnSpc>
                <a:spcPts val="2239"/>
              </a:lnSpc>
            </a:pPr>
            <a:r>
              <a:rPr lang="en-US" sz="1399" b="true">
                <a:solidFill>
                  <a:srgbClr val="000000"/>
                </a:solidFill>
                <a:latin typeface="Montserrat Bold"/>
                <a:ea typeface="Montserrat Bold"/>
                <a:cs typeface="Montserrat Bold"/>
                <a:sym typeface="Montserrat Bold"/>
              </a:rPr>
              <a:t>F</a:t>
            </a:r>
            <a:r>
              <a:rPr lang="en-US" sz="1399" b="true">
                <a:solidFill>
                  <a:srgbClr val="000000"/>
                </a:solidFill>
                <a:latin typeface="Montserrat Bold"/>
                <a:ea typeface="Montserrat Bold"/>
                <a:cs typeface="Montserrat Bold"/>
                <a:sym typeface="Montserrat Bold"/>
              </a:rPr>
              <a:t>. ¿Qué ocurre si nadie quiere ser parte del Comité?</a:t>
            </a:r>
          </a:p>
          <a:p>
            <a:pPr algn="l">
              <a:lnSpc>
                <a:spcPts val="2079"/>
              </a:lnSpc>
            </a:pPr>
          </a:p>
          <a:p>
            <a:pPr algn="l">
              <a:lnSpc>
                <a:spcPts val="2079"/>
              </a:lnSpc>
            </a:pPr>
            <a:r>
              <a:rPr lang="en-US" sz="1299">
                <a:solidFill>
                  <a:srgbClr val="122424"/>
                </a:solidFill>
                <a:latin typeface="Montserrat"/>
                <a:ea typeface="Montserrat"/>
                <a:cs typeface="Montserrat"/>
                <a:sym typeface="Montserrat"/>
              </a:rPr>
              <a:t>Si nadie quiere ser parte del comité, se elegirán a los integrantes por medio de sorteo, durante la asamblea. De esta forma, cualquier propietario/a podría salir seleccionado para ser parte del comité de administración. </a:t>
            </a:r>
          </a:p>
          <a:p>
            <a:pPr algn="l">
              <a:lnSpc>
                <a:spcPts val="2079"/>
              </a:lnSpc>
            </a:pPr>
          </a:p>
          <a:p>
            <a:pPr algn="l">
              <a:lnSpc>
                <a:spcPts val="2239"/>
              </a:lnSpc>
            </a:pPr>
            <a:r>
              <a:rPr lang="en-US" sz="1399" b="true">
                <a:solidFill>
                  <a:srgbClr val="122424"/>
                </a:solidFill>
                <a:latin typeface="Montserrat Bold"/>
                <a:ea typeface="Montserrat Bold"/>
                <a:cs typeface="Montserrat Bold"/>
                <a:sym typeface="Montserrat Bold"/>
              </a:rPr>
              <a:t>G. </a:t>
            </a:r>
            <a:r>
              <a:rPr lang="en-US" sz="1399" b="true">
                <a:solidFill>
                  <a:srgbClr val="000000"/>
                </a:solidFill>
                <a:latin typeface="Montserrat Bold"/>
                <a:ea typeface="Montserrat Bold"/>
                <a:cs typeface="Montserrat Bold"/>
                <a:sym typeface="Montserrat Bold"/>
              </a:rPr>
              <a:t>¿Cuál es la duración del Comité de Administración?</a:t>
            </a:r>
          </a:p>
          <a:p>
            <a:pPr algn="l">
              <a:lnSpc>
                <a:spcPts val="2079"/>
              </a:lnSpc>
            </a:pPr>
          </a:p>
          <a:p>
            <a:pPr algn="l">
              <a:lnSpc>
                <a:spcPts val="2079"/>
              </a:lnSpc>
            </a:pPr>
            <a:r>
              <a:rPr lang="en-US" sz="1299">
                <a:solidFill>
                  <a:srgbClr val="122424"/>
                </a:solidFill>
                <a:latin typeface="Montserrat"/>
                <a:ea typeface="Montserrat"/>
                <a:cs typeface="Montserrat"/>
                <a:sym typeface="Montserrat"/>
              </a:rPr>
              <a:t>Tendrá la duración que sea establecida en la Asamblea de Co-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0">
            <a:off x="589521" y="7057228"/>
            <a:ext cx="3173077" cy="2452027"/>
          </a:xfrm>
          <a:custGeom>
            <a:avLst/>
            <a:gdLst/>
            <a:ahLst/>
            <a:cxnLst/>
            <a:rect r="r" b="b" t="t" l="l"/>
            <a:pathLst>
              <a:path h="2452027" w="3173077">
                <a:moveTo>
                  <a:pt x="0" y="0"/>
                </a:moveTo>
                <a:lnTo>
                  <a:pt x="3173077" y="0"/>
                </a:lnTo>
                <a:lnTo>
                  <a:pt x="3173077" y="2452028"/>
                </a:lnTo>
                <a:lnTo>
                  <a:pt x="0" y="2452028"/>
                </a:lnTo>
                <a:lnTo>
                  <a:pt x="0" y="0"/>
                </a:lnTo>
                <a:close/>
              </a:path>
            </a:pathLst>
          </a:custGeom>
          <a:blipFill>
            <a:blip r:embed="rId5"/>
            <a:stretch>
              <a:fillRect l="0" t="0" r="-15986" b="0"/>
            </a:stretch>
          </a:blipFill>
        </p:spPr>
      </p:sp>
      <p:sp>
        <p:nvSpPr>
          <p:cNvPr name="Freeform 8" id="8"/>
          <p:cNvSpPr/>
          <p:nvPr/>
        </p:nvSpPr>
        <p:spPr>
          <a:xfrm flipH="false" flipV="false" rot="0">
            <a:off x="3891369" y="7057228"/>
            <a:ext cx="2746152" cy="2452027"/>
          </a:xfrm>
          <a:custGeom>
            <a:avLst/>
            <a:gdLst/>
            <a:ahLst/>
            <a:cxnLst/>
            <a:rect r="r" b="b" t="t" l="l"/>
            <a:pathLst>
              <a:path h="2452027" w="2746152">
                <a:moveTo>
                  <a:pt x="0" y="0"/>
                </a:moveTo>
                <a:lnTo>
                  <a:pt x="2746152" y="0"/>
                </a:lnTo>
                <a:lnTo>
                  <a:pt x="2746152" y="2452028"/>
                </a:lnTo>
                <a:lnTo>
                  <a:pt x="0" y="2452028"/>
                </a:lnTo>
                <a:lnTo>
                  <a:pt x="0" y="0"/>
                </a:lnTo>
                <a:close/>
              </a:path>
            </a:pathLst>
          </a:custGeom>
          <a:blipFill>
            <a:blip r:embed="rId6"/>
            <a:stretch>
              <a:fillRect l="-27200" t="0" r="-6817" b="0"/>
            </a:stretch>
          </a:blipFill>
        </p:spPr>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35</a:t>
            </a:r>
          </a:p>
        </p:txBody>
      </p:sp>
      <p:sp>
        <p:nvSpPr>
          <p:cNvPr name="TextBox 11" id="11"/>
          <p:cNvSpPr txBox="true"/>
          <p:nvPr/>
        </p:nvSpPr>
        <p:spPr>
          <a:xfrm rot="0">
            <a:off x="603915" y="1910422"/>
            <a:ext cx="2912631" cy="543941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propietarios/as. Sin embargo, tendrá una duración máxima de 3 años, pudiendo haber reelección de sus integrantes.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H</a:t>
            </a:r>
            <a:r>
              <a:rPr lang="en-US" sz="1400" b="true">
                <a:solidFill>
                  <a:srgbClr val="000000"/>
                </a:solidFill>
                <a:latin typeface="Montserrat Bold"/>
                <a:ea typeface="Montserrat Bold"/>
                <a:cs typeface="Montserrat Bold"/>
                <a:sym typeface="Montserrat Bold"/>
              </a:rPr>
              <a:t>. ¿Se entrega alguna remuneración al ser parte del Comité?</a:t>
            </a:r>
          </a:p>
          <a:p>
            <a:pPr algn="l">
              <a:lnSpc>
                <a:spcPts val="2080"/>
              </a:lnSpc>
            </a:pPr>
          </a:p>
          <a:p>
            <a:pPr algn="l">
              <a:lnSpc>
                <a:spcPts val="2080"/>
              </a:lnSpc>
            </a:pPr>
            <a:r>
              <a:rPr lang="en-US" sz="1300">
                <a:solidFill>
                  <a:srgbClr val="000000"/>
                </a:solidFill>
                <a:latin typeface="Montserrat"/>
                <a:ea typeface="Montserrat"/>
                <a:cs typeface="Montserrat"/>
                <a:sym typeface="Montserrat"/>
              </a:rPr>
              <a:t>No, ya que no es un trabajo con contrato. De todas formas, la nueva Ley establece que se puede entregar una retribución. Esto quiere decir que se podría realizar un descuento en los gastos comunes a quienes sean parte del comité, lo que debe dejarse establecido en el reglamento.</a:t>
            </a:r>
          </a:p>
          <a:p>
            <a:pPr algn="l">
              <a:lnSpc>
                <a:spcPts val="2080"/>
              </a:lnSpc>
            </a:pPr>
          </a:p>
          <a:p>
            <a:pPr algn="l">
              <a:lnSpc>
                <a:spcPts val="2080"/>
              </a:lnSpc>
            </a:pPr>
          </a:p>
          <a:p>
            <a:pPr algn="l">
              <a:lnSpc>
                <a:spcPts val="2080"/>
              </a:lnSpc>
            </a:pPr>
          </a:p>
        </p:txBody>
      </p:sp>
      <p:sp>
        <p:nvSpPr>
          <p:cNvPr name="TextBox 12" id="12"/>
          <p:cNvSpPr txBox="true"/>
          <p:nvPr/>
        </p:nvSpPr>
        <p:spPr>
          <a:xfrm rot="0">
            <a:off x="3891369" y="1907334"/>
            <a:ext cx="2912631" cy="4968359"/>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¿Qué es reglamento?</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un documento fundamental en un condominio porque es el instrumento que determina las bases para una convivencia vecinal sana. Éste regula el régimen administrativo interno, los derechos y obligaciones de los copropietarios/as existentes, así como el uso de los espacios comunes. Se inscribe en el registro de hipotecas y gravámenes del Conservador de Bienes Raíces. </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B. ¿Qué establece el reglamento? </a:t>
            </a:r>
          </a:p>
          <a:p>
            <a:pPr algn="l">
              <a:lnSpc>
                <a:spcPts val="2240"/>
              </a:lnSpc>
            </a:pPr>
          </a:p>
          <a:p>
            <a:pPr algn="l">
              <a:lnSpc>
                <a:spcPts val="2080"/>
              </a:lnSpc>
            </a:pPr>
            <a:r>
              <a:rPr lang="en-US" sz="1300">
                <a:solidFill>
                  <a:srgbClr val="000000"/>
                </a:solidFill>
                <a:latin typeface="Montserrat"/>
                <a:ea typeface="Montserrat"/>
                <a:cs typeface="Montserrat"/>
                <a:sym typeface="Montserrat"/>
              </a:rPr>
              <a:t>El reglamento regula diferentes li-</a:t>
            </a:r>
          </a:p>
        </p:txBody>
      </p:sp>
      <p:sp>
        <p:nvSpPr>
          <p:cNvPr name="TextBox 13" id="13"/>
          <p:cNvSpPr txBox="true"/>
          <p:nvPr/>
        </p:nvSpPr>
        <p:spPr>
          <a:xfrm rot="0">
            <a:off x="3891369" y="1183583"/>
            <a:ext cx="3079110" cy="599926"/>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3.5. Reglamento de copropiedad</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0">
            <a:off x="3891369" y="6935905"/>
            <a:ext cx="2746152" cy="2604396"/>
          </a:xfrm>
          <a:custGeom>
            <a:avLst/>
            <a:gdLst/>
            <a:ahLst/>
            <a:cxnLst/>
            <a:rect r="r" b="b" t="t" l="l"/>
            <a:pathLst>
              <a:path h="2604396" w="2746152">
                <a:moveTo>
                  <a:pt x="0" y="0"/>
                </a:moveTo>
                <a:lnTo>
                  <a:pt x="2746152" y="0"/>
                </a:lnTo>
                <a:lnTo>
                  <a:pt x="2746152" y="2604396"/>
                </a:lnTo>
                <a:lnTo>
                  <a:pt x="0" y="2604396"/>
                </a:lnTo>
                <a:lnTo>
                  <a:pt x="0" y="0"/>
                </a:lnTo>
                <a:close/>
              </a:path>
            </a:pathLst>
          </a:custGeom>
          <a:blipFill>
            <a:blip r:embed="rId5"/>
            <a:stretch>
              <a:fillRect l="-23444" t="0" r="-45156" b="0"/>
            </a:stretch>
          </a:blipFill>
        </p:spPr>
      </p:sp>
      <p:sp>
        <p:nvSpPr>
          <p:cNvPr name="Freeform 8" id="8"/>
          <p:cNvSpPr/>
          <p:nvPr/>
        </p:nvSpPr>
        <p:spPr>
          <a:xfrm flipH="false" flipV="false" rot="0">
            <a:off x="603915" y="6935905"/>
            <a:ext cx="3176085" cy="2604396"/>
          </a:xfrm>
          <a:custGeom>
            <a:avLst/>
            <a:gdLst/>
            <a:ahLst/>
            <a:cxnLst/>
            <a:rect r="r" b="b" t="t" l="l"/>
            <a:pathLst>
              <a:path h="2604396" w="3176085">
                <a:moveTo>
                  <a:pt x="0" y="0"/>
                </a:moveTo>
                <a:lnTo>
                  <a:pt x="3176085" y="0"/>
                </a:lnTo>
                <a:lnTo>
                  <a:pt x="3176085" y="2604396"/>
                </a:lnTo>
                <a:lnTo>
                  <a:pt x="0" y="2604396"/>
                </a:lnTo>
                <a:lnTo>
                  <a:pt x="0" y="0"/>
                </a:lnTo>
                <a:close/>
              </a:path>
            </a:pathLst>
          </a:custGeom>
          <a:blipFill>
            <a:blip r:embed="rId6"/>
            <a:stretch>
              <a:fillRect l="-12042" t="0" r="-17602" b="0"/>
            </a:stretch>
          </a:blipFill>
        </p:spPr>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36</a:t>
            </a:r>
          </a:p>
        </p:txBody>
      </p:sp>
      <p:sp>
        <p:nvSpPr>
          <p:cNvPr name="TextBox 11" id="11"/>
          <p:cNvSpPr txBox="true"/>
          <p:nvPr/>
        </p:nvSpPr>
        <p:spPr>
          <a:xfrm rot="0">
            <a:off x="603915" y="1910422"/>
            <a:ext cx="2912631" cy="462978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neamientos de la vida en comunidad, tales como: </a:t>
            </a:r>
          </a:p>
          <a:p>
            <a:pPr algn="l">
              <a:lnSpc>
                <a:spcPts val="2240"/>
              </a:lnSpc>
            </a:pP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Lo concerniente a la administración y conservación de los bienes de dominio común.</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Multas e intereses por incumplimiento de obligaciones.</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Fijar la periodicidad de las asambleas ordinarias y la época en que se celebrarán.</a:t>
            </a:r>
            <a:r>
              <a:rPr lang="en-US" sz="1300">
                <a:solidFill>
                  <a:srgbClr val="000000"/>
                </a:solidFill>
                <a:latin typeface="Montserrat"/>
                <a:ea typeface="Montserrat"/>
                <a:cs typeface="Montserrat"/>
                <a:sym typeface="Montserrat"/>
              </a:rPr>
              <a:t> </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Las conductas que constituyen infracciones y las respectivas multas o sanciones aplicables, pudiendo calificarlas según su gravedad. </a:t>
            </a:r>
          </a:p>
        </p:txBody>
      </p:sp>
      <p:sp>
        <p:nvSpPr>
          <p:cNvPr name="TextBox 12" id="12"/>
          <p:cNvSpPr txBox="true"/>
          <p:nvPr/>
        </p:nvSpPr>
        <p:spPr>
          <a:xfrm rot="0">
            <a:off x="3891369" y="1900897"/>
            <a:ext cx="2912631" cy="495109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C. ¿Quién confecciona el reglamento?</a:t>
            </a:r>
            <a:r>
              <a:rPr lang="en-US" sz="1400" b="true">
                <a:solidFill>
                  <a:srgbClr val="000000"/>
                </a:solidFill>
                <a:latin typeface="Montserrat Bold"/>
                <a:ea typeface="Montserrat Bold"/>
                <a:cs typeface="Montserrat Bold"/>
                <a:sym typeface="Montserrat Bold"/>
              </a:rPr>
              <a:t> </a:t>
            </a:r>
          </a:p>
          <a:p>
            <a:pPr algn="l">
              <a:lnSpc>
                <a:spcPts val="2080"/>
              </a:lnSpc>
            </a:pPr>
          </a:p>
          <a:p>
            <a:pPr algn="l">
              <a:lnSpc>
                <a:spcPts val="2080"/>
              </a:lnSpc>
            </a:pPr>
            <a:r>
              <a:rPr lang="en-US" sz="1300">
                <a:solidFill>
                  <a:srgbClr val="122424"/>
                </a:solidFill>
                <a:latin typeface="Montserrat"/>
                <a:ea typeface="Montserrat"/>
                <a:cs typeface="Montserrat"/>
                <a:sym typeface="Montserrat"/>
              </a:rPr>
              <a:t>El primer reglamento lo entrega la Inmobiliaria, y puede modificarse s</a:t>
            </a:r>
            <a:r>
              <a:rPr lang="en-US" sz="1300">
                <a:solidFill>
                  <a:srgbClr val="122424"/>
                </a:solidFill>
                <a:latin typeface="Montserrat"/>
                <a:ea typeface="Montserrat"/>
                <a:cs typeface="Montserrat"/>
                <a:sym typeface="Montserrat"/>
              </a:rPr>
              <a:t>egún las decisiones que se tomen en asamblea extraordinaria. </a:t>
            </a:r>
          </a:p>
          <a:p>
            <a:pPr algn="l">
              <a:lnSpc>
                <a:spcPts val="2080"/>
              </a:lnSpc>
            </a:pPr>
          </a:p>
          <a:p>
            <a:pPr algn="l">
              <a:lnSpc>
                <a:spcPts val="2080"/>
              </a:lnSpc>
            </a:pP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A</a:t>
            </a:r>
            <a:r>
              <a:rPr lang="en-US" sz="1400" b="true">
                <a:solidFill>
                  <a:srgbClr val="000000"/>
                </a:solidFill>
                <a:latin typeface="Montserrat Bold"/>
                <a:ea typeface="Montserrat Bold"/>
                <a:cs typeface="Montserrat Bold"/>
                <a:sym typeface="Montserrat Bold"/>
              </a:rPr>
              <a:t>. ¿Qué son los gastos comunes?</a:t>
            </a:r>
          </a:p>
          <a:p>
            <a:pPr algn="l">
              <a:lnSpc>
                <a:spcPts val="2080"/>
              </a:lnSpc>
            </a:pPr>
          </a:p>
          <a:p>
            <a:pPr algn="l">
              <a:lnSpc>
                <a:spcPts val="2080"/>
              </a:lnSpc>
            </a:pPr>
            <a:r>
              <a:rPr lang="en-US" sz="1300">
                <a:solidFill>
                  <a:srgbClr val="122424"/>
                </a:solidFill>
                <a:latin typeface="Montserrat"/>
                <a:ea typeface="Montserrat"/>
                <a:cs typeface="Montserrat"/>
                <a:sym typeface="Montserrat"/>
              </a:rPr>
              <a:t>Son los gastos que incurre una comunidad para contar con su desarrollo y funcionamiento normal, como también los gastos que se derivan del uso de algunos</a:t>
            </a:r>
          </a:p>
          <a:p>
            <a:pPr algn="l">
              <a:lnSpc>
                <a:spcPts val="2080"/>
              </a:lnSpc>
            </a:pPr>
          </a:p>
        </p:txBody>
      </p:sp>
      <p:sp>
        <p:nvSpPr>
          <p:cNvPr name="TextBox 13" id="13"/>
          <p:cNvSpPr txBox="true"/>
          <p:nvPr/>
        </p:nvSpPr>
        <p:spPr>
          <a:xfrm rot="0">
            <a:off x="3891369" y="3953926"/>
            <a:ext cx="3079110" cy="295201"/>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3.6. Gastos comunes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37</a:t>
            </a:r>
          </a:p>
        </p:txBody>
      </p:sp>
      <p:sp>
        <p:nvSpPr>
          <p:cNvPr name="TextBox 9" id="9"/>
          <p:cNvSpPr txBox="true"/>
          <p:nvPr/>
        </p:nvSpPr>
        <p:spPr>
          <a:xfrm rot="0">
            <a:off x="603915" y="1910422"/>
            <a:ext cx="2912631" cy="6799029"/>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servicios particulares de cada unidad, que se comparten entre todos/as los residentes y copropietarios/as del conjunto habitacional. Es la principal forma de asegurar la mantención periódica y de mantener en buen estado el condominio.  Se paga de acuerdo al tamaño del departamento (prorrateos según metros cuadrados).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B</a:t>
            </a:r>
            <a:r>
              <a:rPr lang="en-US" sz="1400" b="true">
                <a:solidFill>
                  <a:srgbClr val="000000"/>
                </a:solidFill>
                <a:latin typeface="Montserrat Bold"/>
                <a:ea typeface="Montserrat Bold"/>
                <a:cs typeface="Montserrat Bold"/>
                <a:sym typeface="Montserrat Bold"/>
              </a:rPr>
              <a:t>. ¿Es obligación pagar los gastos comunes? </a:t>
            </a:r>
          </a:p>
          <a:p>
            <a:pPr algn="l">
              <a:lnSpc>
                <a:spcPts val="2240"/>
              </a:lnSpc>
            </a:pPr>
          </a:p>
          <a:p>
            <a:pPr algn="l">
              <a:lnSpc>
                <a:spcPts val="2080"/>
              </a:lnSpc>
            </a:pPr>
            <a:r>
              <a:rPr lang="en-US" sz="1300">
                <a:solidFill>
                  <a:srgbClr val="122424"/>
                </a:solidFill>
                <a:latin typeface="Montserrat"/>
                <a:ea typeface="Montserrat"/>
                <a:cs typeface="Montserrat"/>
                <a:sym typeface="Montserrat"/>
              </a:rPr>
              <a:t>Si, todos/as los residentes tienen la obligación de pagar los gastos comunes. Si no utiliza la vivienda, sigue siendo una obligación pagar los gastos comunes.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C</a:t>
            </a:r>
            <a:r>
              <a:rPr lang="en-US" sz="1400" b="true">
                <a:solidFill>
                  <a:srgbClr val="000000"/>
                </a:solidFill>
                <a:latin typeface="Montserrat Bold"/>
                <a:ea typeface="Montserrat Bold"/>
                <a:cs typeface="Montserrat Bold"/>
                <a:sym typeface="Montserrat Bold"/>
              </a:rPr>
              <a:t>. ¿Existen sanciones por ley en caso de no pagar los gastos comunes? </a:t>
            </a:r>
          </a:p>
          <a:p>
            <a:pPr algn="l">
              <a:lnSpc>
                <a:spcPts val="2240"/>
              </a:lnSpc>
            </a:pPr>
          </a:p>
          <a:p>
            <a:pPr algn="l">
              <a:lnSpc>
                <a:spcPts val="2080"/>
              </a:lnSpc>
            </a:pPr>
            <a:r>
              <a:rPr lang="en-US" sz="1300">
                <a:solidFill>
                  <a:srgbClr val="000000"/>
                </a:solidFill>
                <a:latin typeface="Montserrat"/>
                <a:ea typeface="Montserrat"/>
                <a:cs typeface="Montserrat"/>
                <a:sym typeface="Montserrat"/>
              </a:rPr>
              <a:t>Por 3 meses de no pago de los gas-</a:t>
            </a:r>
          </a:p>
        </p:txBody>
      </p:sp>
      <p:sp>
        <p:nvSpPr>
          <p:cNvPr name="TextBox 10" id="10"/>
          <p:cNvSpPr txBox="true"/>
          <p:nvPr/>
        </p:nvSpPr>
        <p:spPr>
          <a:xfrm rot="0">
            <a:off x="3891369" y="1910422"/>
            <a:ext cx="2912631" cy="6706235"/>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tos comunes, consecutivos o no: corte de luz, calefacción o telecomunicaciones. No se permite el corte de agua. Además se pueden generar intereses o multas hasta pagar la deuda.</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D</a:t>
            </a:r>
            <a:r>
              <a:rPr lang="en-US" sz="1400" b="true">
                <a:solidFill>
                  <a:srgbClr val="000000"/>
                </a:solidFill>
                <a:latin typeface="Montserrat Bold"/>
                <a:ea typeface="Montserrat Bold"/>
                <a:cs typeface="Montserrat Bold"/>
                <a:sym typeface="Montserrat Bold"/>
              </a:rPr>
              <a:t>. ¿Qué tipos de gastos comunes existen? </a:t>
            </a:r>
          </a:p>
          <a:p>
            <a:pPr algn="l">
              <a:lnSpc>
                <a:spcPts val="2080"/>
              </a:lnSpc>
            </a:pPr>
          </a:p>
          <a:p>
            <a:pPr algn="l">
              <a:lnSpc>
                <a:spcPts val="2080"/>
              </a:lnSpc>
            </a:pPr>
            <a:r>
              <a:rPr lang="en-US" sz="1300">
                <a:solidFill>
                  <a:srgbClr val="122424"/>
                </a:solidFill>
                <a:latin typeface="Montserrat"/>
                <a:ea typeface="Montserrat"/>
                <a:cs typeface="Montserrat"/>
                <a:sym typeface="Montserrat"/>
              </a:rPr>
              <a:t>Según la Ley, existen dos tipos de gastos comunes:</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Ordinarios: son utilizados para el mantenimiento de espacios de dominio común, reparaciones y consumo de servicios colectivos y para temas administrativos como las remuneraciones del personal del condominio. Estos gastos son considerados dentro del presupuesto anual.</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Extraordinarios: gastos que no estaban considerados para el presupuesto anual y que son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0">
            <a:off x="603915" y="6663826"/>
            <a:ext cx="6033605" cy="2927991"/>
          </a:xfrm>
          <a:custGeom>
            <a:avLst/>
            <a:gdLst/>
            <a:ahLst/>
            <a:cxnLst/>
            <a:rect r="r" b="b" t="t" l="l"/>
            <a:pathLst>
              <a:path h="2927991" w="6033605">
                <a:moveTo>
                  <a:pt x="0" y="0"/>
                </a:moveTo>
                <a:lnTo>
                  <a:pt x="6033606" y="0"/>
                </a:lnTo>
                <a:lnTo>
                  <a:pt x="6033606" y="2927991"/>
                </a:lnTo>
                <a:lnTo>
                  <a:pt x="0" y="2927991"/>
                </a:lnTo>
                <a:lnTo>
                  <a:pt x="0" y="0"/>
                </a:lnTo>
                <a:close/>
              </a:path>
            </a:pathLst>
          </a:custGeom>
          <a:blipFill>
            <a:blip r:embed="rId5"/>
            <a:stretch>
              <a:fillRect l="-238" t="-19196" r="0" b="-19196"/>
            </a:stretch>
          </a:blipFill>
        </p:spPr>
      </p:sp>
      <p:sp>
        <p:nvSpPr>
          <p:cNvPr name="TextBox 8" id="8"/>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38</a:t>
            </a:r>
          </a:p>
        </p:txBody>
      </p:sp>
      <p:sp>
        <p:nvSpPr>
          <p:cNvPr name="TextBox 10" id="10"/>
          <p:cNvSpPr txBox="true"/>
          <p:nvPr/>
        </p:nvSpPr>
        <p:spPr>
          <a:xfrm rot="0">
            <a:off x="603915" y="1910422"/>
            <a:ext cx="2912631" cy="4409221"/>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gastos adicionales y distintos a los gastos comunes ordinarios, y a las sumas destinadas a nuevas obras comunes.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E</a:t>
            </a:r>
            <a:r>
              <a:rPr lang="en-US" sz="1400" b="true">
                <a:solidFill>
                  <a:srgbClr val="000000"/>
                </a:solidFill>
                <a:latin typeface="Montserrat Bold"/>
                <a:ea typeface="Montserrat Bold"/>
                <a:cs typeface="Montserrat Bold"/>
                <a:sym typeface="Montserrat Bold"/>
              </a:rPr>
              <a:t>. ¿Cómo se pagan los gastos comunes? </a:t>
            </a:r>
          </a:p>
          <a:p>
            <a:pPr algn="l">
              <a:lnSpc>
                <a:spcPts val="2240"/>
              </a:lnSpc>
            </a:pPr>
          </a:p>
          <a:p>
            <a:pPr algn="l">
              <a:lnSpc>
                <a:spcPts val="2080"/>
              </a:lnSpc>
            </a:pPr>
            <a:r>
              <a:rPr lang="en-US" sz="1300">
                <a:solidFill>
                  <a:srgbClr val="122424"/>
                </a:solidFill>
                <a:latin typeface="Montserrat"/>
                <a:ea typeface="Montserrat"/>
                <a:cs typeface="Montserrat"/>
                <a:sym typeface="Montserrat"/>
              </a:rPr>
              <a:t>Todo condominio deberá mantener una cuenta corriente bancaria o una cuenta de ahorro, exclusiva de aquél, sobre la que podrán girar la o las personas que designe la asamblea de copropietarios. Luego se deberá enviar un comprobante de pago a la administración del condomino.</a:t>
            </a:r>
          </a:p>
        </p:txBody>
      </p:sp>
      <p:sp>
        <p:nvSpPr>
          <p:cNvPr name="TextBox 11" id="11"/>
          <p:cNvSpPr txBox="true"/>
          <p:nvPr/>
        </p:nvSpPr>
        <p:spPr>
          <a:xfrm rot="0">
            <a:off x="3891369" y="1900897"/>
            <a:ext cx="2912631" cy="3111728"/>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F. ¿Qué es el fondo común de reserva?</a:t>
            </a:r>
          </a:p>
          <a:p>
            <a:pPr algn="l">
              <a:lnSpc>
                <a:spcPts val="2080"/>
              </a:lnSpc>
            </a:pPr>
          </a:p>
          <a:p>
            <a:pPr algn="l">
              <a:lnSpc>
                <a:spcPts val="2080"/>
              </a:lnSpc>
            </a:pPr>
            <a:r>
              <a:rPr lang="en-US" sz="1300">
                <a:solidFill>
                  <a:srgbClr val="122424"/>
                </a:solidFill>
                <a:latin typeface="Montserrat"/>
                <a:ea typeface="Montserrat"/>
                <a:cs typeface="Montserrat"/>
                <a:sym typeface="Montserrat"/>
              </a:rPr>
              <a:t>Las comunidades que se rigen bajo la copropiedad, deben contar con un fondo de reserva para contar con una fuente de dinero en caso de que ocurran circunstancias inesperadas. Se agrega el 5% del gasto común y es obligatorio contar con este fondo. </a:t>
            </a:r>
          </a:p>
          <a:p>
            <a:pPr algn="l">
              <a:lnSpc>
                <a:spcPts val="2080"/>
              </a:lnSpc>
            </a:pPr>
            <a:r>
              <a:rPr lang="en-US" sz="1300">
                <a:solidFill>
                  <a:srgbClr val="122424"/>
                </a:solidFill>
                <a:latin typeface="Montserrat"/>
                <a:ea typeface="Montserrat"/>
                <a:cs typeface="Montserrat"/>
                <a:sym typeface="Montserrat"/>
              </a:rPr>
              <a:t>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6800757"/>
            <a:ext cx="4809708" cy="2530937"/>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04</a:t>
            </a:r>
          </a:p>
          <a:p>
            <a:pPr algn="l">
              <a:lnSpc>
                <a:spcPts val="6546"/>
              </a:lnSpc>
            </a:pPr>
            <a:r>
              <a:rPr lang="en-US" sz="6175">
                <a:solidFill>
                  <a:srgbClr val="222525"/>
                </a:solidFill>
                <a:latin typeface="DM Serif Display"/>
                <a:ea typeface="DM Serif Display"/>
                <a:cs typeface="DM Serif Display"/>
                <a:sym typeface="DM Serif Display"/>
              </a:rPr>
              <a:t>Organización Comunitaria</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TextBox 4" id="4"/>
          <p:cNvSpPr txBox="true"/>
          <p:nvPr/>
        </p:nvSpPr>
        <p:spPr>
          <a:xfrm rot="0">
            <a:off x="589521" y="3337672"/>
            <a:ext cx="2912631" cy="597281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En este taller se revisan y trabajan las temáticas que fueron seleccionadas por la comunidad, que les parezcan más interesantes. e importantes. De esta forma, en el siguiente apartado se revisarán los temas que suelen ser seleccionados para resolver dudas generales y brindar además algunas orientaciones y consejos generales para fomentar la organización comunitaria y la vida en comunidad.</a:t>
            </a:r>
          </a:p>
          <a:p>
            <a:pPr algn="l">
              <a:lnSpc>
                <a:spcPts val="2080"/>
              </a:lnSpc>
            </a:pPr>
          </a:p>
          <a:p>
            <a:pPr algn="l">
              <a:lnSpc>
                <a:spcPts val="2240"/>
              </a:lnSpc>
            </a:pP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A. ¿Qué es una unidad vecinal? </a:t>
            </a:r>
          </a:p>
          <a:p>
            <a:pPr algn="l">
              <a:lnSpc>
                <a:spcPts val="2240"/>
              </a:lnSpc>
            </a:pPr>
          </a:p>
          <a:p>
            <a:pPr algn="l">
              <a:lnSpc>
                <a:spcPts val="2080"/>
              </a:lnSpc>
            </a:pPr>
            <a:r>
              <a:rPr lang="en-US" sz="1300">
                <a:solidFill>
                  <a:srgbClr val="122424"/>
                </a:solidFill>
                <a:latin typeface="Montserrat"/>
                <a:ea typeface="Montserrat"/>
                <a:cs typeface="Montserrat"/>
                <a:sym typeface="Montserrat"/>
              </a:rPr>
              <a:t>Es la división administrativa y municipal del territorio comunal, con la idea de descentralizar asuntos comunales y promover la </a:t>
            </a:r>
          </a:p>
          <a:p>
            <a:pPr algn="l">
              <a:lnSpc>
                <a:spcPts val="2080"/>
              </a:lnSpc>
            </a:pPr>
          </a:p>
        </p:txBody>
      </p:sp>
      <p:sp>
        <p:nvSpPr>
          <p:cNvPr name="TextBox 5" id="5"/>
          <p:cNvSpPr txBox="true"/>
          <p:nvPr/>
        </p:nvSpPr>
        <p:spPr>
          <a:xfrm rot="0">
            <a:off x="589521" y="1670114"/>
            <a:ext cx="6428381" cy="1295019"/>
          </a:xfrm>
          <a:prstGeom prst="rect">
            <a:avLst/>
          </a:prstGeom>
        </p:spPr>
        <p:txBody>
          <a:bodyPr anchor="t" rtlCol="false" tIns="0" lIns="0" bIns="0" rIns="0">
            <a:spAutoFit/>
          </a:bodyPr>
          <a:lstStyle/>
          <a:p>
            <a:pPr algn="l">
              <a:lnSpc>
                <a:spcPts val="5088"/>
              </a:lnSpc>
            </a:pPr>
            <a:r>
              <a:rPr lang="en-US" sz="4800">
                <a:solidFill>
                  <a:srgbClr val="222525"/>
                </a:solidFill>
                <a:latin typeface="DM Serif Display"/>
                <a:ea typeface="DM Serif Display"/>
                <a:cs typeface="DM Serif Display"/>
                <a:sym typeface="DM Serif Display"/>
              </a:rPr>
              <a:t>04. Organización Comunitaria</a:t>
            </a:r>
          </a:p>
        </p:txBody>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7" id="7"/>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40</a:t>
            </a:r>
          </a:p>
        </p:txBody>
      </p:sp>
      <p:sp>
        <p:nvSpPr>
          <p:cNvPr name="TextBox 8" id="8"/>
          <p:cNvSpPr txBox="true"/>
          <p:nvPr/>
        </p:nvSpPr>
        <p:spPr>
          <a:xfrm rot="0">
            <a:off x="3940898" y="3337672"/>
            <a:ext cx="2863102" cy="5953760"/>
          </a:xfrm>
          <a:prstGeom prst="rect">
            <a:avLst/>
          </a:prstGeom>
        </p:spPr>
        <p:txBody>
          <a:bodyPr anchor="t" rtlCol="false" tIns="0" lIns="0" bIns="0" rIns="0">
            <a:spAutoFit/>
          </a:bodyPr>
          <a:lstStyle/>
          <a:p>
            <a:pPr algn="l">
              <a:lnSpc>
                <a:spcPts val="2080"/>
              </a:lnSpc>
            </a:pPr>
            <a:r>
              <a:rPr lang="en-US" sz="1300">
                <a:solidFill>
                  <a:srgbClr val="122424"/>
                </a:solidFill>
                <a:latin typeface="Montserrat"/>
                <a:ea typeface="Montserrat"/>
                <a:cs typeface="Montserrat"/>
                <a:sym typeface="Montserrat"/>
              </a:rPr>
              <a:t>participación ciudadana y gestión comunitaria.</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B</a:t>
            </a:r>
            <a:r>
              <a:rPr lang="en-US" sz="1400" b="true">
                <a:solidFill>
                  <a:srgbClr val="000000"/>
                </a:solidFill>
                <a:latin typeface="Montserrat Bold"/>
                <a:ea typeface="Montserrat Bold"/>
                <a:cs typeface="Montserrat Bold"/>
                <a:sym typeface="Montserrat Bold"/>
              </a:rPr>
              <a:t>. ¿Qué es una organización comunitaria?</a:t>
            </a:r>
          </a:p>
          <a:p>
            <a:pPr algn="l">
              <a:lnSpc>
                <a:spcPts val="2240"/>
              </a:lnSpc>
            </a:pPr>
          </a:p>
          <a:p>
            <a:pPr algn="l">
              <a:lnSpc>
                <a:spcPts val="2080"/>
              </a:lnSpc>
            </a:pPr>
            <a:r>
              <a:rPr lang="en-US" sz="1300">
                <a:solidFill>
                  <a:srgbClr val="122424"/>
                </a:solidFill>
                <a:latin typeface="Montserrat"/>
                <a:ea typeface="Montserrat"/>
                <a:cs typeface="Montserrat"/>
                <a:sym typeface="Montserrat"/>
              </a:rPr>
              <a:t>Es aquella que representa un territorio velando los intereses y valores de ese sector. No puede perseguir fines de lucro ni tampoco realizar acciones proselísticas. Existen dos tipos:</a:t>
            </a:r>
          </a:p>
          <a:p>
            <a:pPr algn="l">
              <a:lnSpc>
                <a:spcPts val="2080"/>
              </a:lnSpc>
            </a:pPr>
          </a:p>
          <a:p>
            <a:pPr algn="l" marL="280671" indent="-140336" lvl="1">
              <a:lnSpc>
                <a:spcPts val="2080"/>
              </a:lnSpc>
              <a:buFont typeface="Arial"/>
              <a:buChar char="•"/>
            </a:pPr>
            <a:r>
              <a:rPr lang="en-US" b="true" sz="1300">
                <a:solidFill>
                  <a:srgbClr val="122424"/>
                </a:solidFill>
                <a:latin typeface="Montserrat Bold"/>
                <a:ea typeface="Montserrat Bold"/>
                <a:cs typeface="Montserrat Bold"/>
                <a:sym typeface="Montserrat Bold"/>
              </a:rPr>
              <a:t>Organización comunitaria funcional:</a:t>
            </a:r>
            <a:r>
              <a:rPr lang="en-US" sz="1300">
                <a:solidFill>
                  <a:srgbClr val="122424"/>
                </a:solidFill>
                <a:latin typeface="Montserrat"/>
                <a:ea typeface="Montserrat"/>
                <a:cs typeface="Montserrat"/>
                <a:sym typeface="Montserrat"/>
              </a:rPr>
              <a:t> aquellas con personalidad jurídica y sin fines de lucro, tienen como objetivo promover y representar valores e intereses específicos de la comunidad dentro del territorio de la comuna (Ej: Club de adulto mayor, Club deportivo). </a:t>
            </a:r>
          </a:p>
        </p:txBody>
      </p:sp>
      <p:sp>
        <p:nvSpPr>
          <p:cNvPr name="Freeform 9" id="9"/>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2598903"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589521" y="6751945"/>
            <a:ext cx="3024000" cy="599926"/>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4.1. Organizaciones comunitarias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41</a:t>
            </a:r>
          </a:p>
        </p:txBody>
      </p:sp>
      <p:sp>
        <p:nvSpPr>
          <p:cNvPr name="TextBox 9" id="9"/>
          <p:cNvSpPr txBox="true"/>
          <p:nvPr/>
        </p:nvSpPr>
        <p:spPr>
          <a:xfrm rot="0">
            <a:off x="603915" y="1910422"/>
            <a:ext cx="2912631" cy="6449060"/>
          </a:xfrm>
          <a:prstGeom prst="rect">
            <a:avLst/>
          </a:prstGeom>
        </p:spPr>
        <p:txBody>
          <a:bodyPr anchor="t" rtlCol="false" tIns="0" lIns="0" bIns="0" rIns="0">
            <a:spAutoFit/>
          </a:bodyPr>
          <a:lstStyle/>
          <a:p>
            <a:pPr algn="l" marL="280671" indent="-140336" lvl="1">
              <a:lnSpc>
                <a:spcPts val="2080"/>
              </a:lnSpc>
              <a:buFont typeface="Arial"/>
              <a:buChar char="•"/>
            </a:pPr>
            <a:r>
              <a:rPr lang="en-US" b="true" sz="1300">
                <a:solidFill>
                  <a:srgbClr val="122424"/>
                </a:solidFill>
                <a:latin typeface="Montserrat Bold"/>
                <a:ea typeface="Montserrat Bold"/>
                <a:cs typeface="Montserrat Bold"/>
                <a:sym typeface="Montserrat Bold"/>
              </a:rPr>
              <a:t>Organización comunitaria territorial:</a:t>
            </a:r>
            <a:r>
              <a:rPr lang="en-US" sz="1300">
                <a:solidFill>
                  <a:srgbClr val="122424"/>
                </a:solidFill>
                <a:latin typeface="Montserrat"/>
                <a:ea typeface="Montserrat"/>
                <a:cs typeface="Montserrat"/>
                <a:sym typeface="Montserrat"/>
              </a:rPr>
              <a:t> Son aquellas que tienen por objetivo promover el desarrollo de la comuna y los intereses de sus integrantes en el territorio respectivo y colaborar con autoridades del Estado y de las Municipalidades (Ej: Juntas de Vecinos).</a:t>
            </a:r>
          </a:p>
          <a:p>
            <a:pPr algn="l">
              <a:lnSpc>
                <a:spcPts val="2080"/>
              </a:lnSpc>
            </a:pPr>
          </a:p>
          <a:p>
            <a:pPr algn="l">
              <a:lnSpc>
                <a:spcPts val="2240"/>
              </a:lnSpc>
            </a:pPr>
            <a:r>
              <a:rPr lang="en-US" sz="1400" b="true">
                <a:solidFill>
                  <a:srgbClr val="122424"/>
                </a:solidFill>
                <a:latin typeface="Montserrat Bold"/>
                <a:ea typeface="Montserrat Bold"/>
                <a:cs typeface="Montserrat Bold"/>
                <a:sym typeface="Montserrat Bold"/>
              </a:rPr>
              <a:t>C. </a:t>
            </a:r>
            <a:r>
              <a:rPr lang="en-US" sz="1400" b="true">
                <a:solidFill>
                  <a:srgbClr val="000000"/>
                </a:solidFill>
                <a:latin typeface="Montserrat Bold"/>
                <a:ea typeface="Montserrat Bold"/>
                <a:cs typeface="Montserrat Bold"/>
                <a:sym typeface="Montserrat Bold"/>
              </a:rPr>
              <a:t>¿Qué es una junta de vecinos (JJ.VV)?</a:t>
            </a:r>
          </a:p>
          <a:p>
            <a:pPr algn="l">
              <a:lnSpc>
                <a:spcPts val="2080"/>
              </a:lnSpc>
            </a:pPr>
          </a:p>
          <a:p>
            <a:pPr algn="l">
              <a:lnSpc>
                <a:spcPts val="2080"/>
              </a:lnSpc>
            </a:pPr>
            <a:r>
              <a:rPr lang="en-US" sz="1300">
                <a:solidFill>
                  <a:srgbClr val="122424"/>
                </a:solidFill>
                <a:latin typeface="Montserrat"/>
                <a:ea typeface="Montserrat"/>
                <a:cs typeface="Montserrat"/>
                <a:sym typeface="Montserrat"/>
              </a:rPr>
              <a:t>Se rige bajo la Ley 19.418, siendo una organización comunitaria de carácter territorial que es representativa de las personas que residen en la misma unidad vecinal, sea urbana o rural. Su objetivo principal es fomentar  el desarrollo de la comunidad, defender sus intereses , velar por sus derechos y colaborar con autoridades. </a:t>
            </a:r>
          </a:p>
          <a:p>
            <a:pPr algn="l">
              <a:lnSpc>
                <a:spcPts val="2080"/>
              </a:lnSpc>
            </a:pPr>
            <a:r>
              <a:rPr lang="en-US" sz="1300">
                <a:solidFill>
                  <a:srgbClr val="122424"/>
                </a:solidFill>
                <a:latin typeface="Montserrat"/>
                <a:ea typeface="Montserrat"/>
                <a:cs typeface="Montserrat"/>
                <a:sym typeface="Montserrat"/>
              </a:rPr>
              <a:t> </a:t>
            </a:r>
          </a:p>
        </p:txBody>
      </p:sp>
      <p:sp>
        <p:nvSpPr>
          <p:cNvPr name="TextBox 10" id="10"/>
          <p:cNvSpPr txBox="true"/>
          <p:nvPr/>
        </p:nvSpPr>
        <p:spPr>
          <a:xfrm rot="0">
            <a:off x="3940898" y="1900897"/>
            <a:ext cx="2863102" cy="6177960"/>
          </a:xfrm>
          <a:prstGeom prst="rect">
            <a:avLst/>
          </a:prstGeom>
        </p:spPr>
        <p:txBody>
          <a:bodyPr anchor="t" rtlCol="false" tIns="0" lIns="0" bIns="0" rIns="0">
            <a:spAutoFit/>
          </a:bodyPr>
          <a:lstStyle/>
          <a:p>
            <a:pPr algn="l">
              <a:lnSpc>
                <a:spcPts val="2239"/>
              </a:lnSpc>
            </a:pPr>
            <a:r>
              <a:rPr lang="en-US" sz="1399" b="true">
                <a:solidFill>
                  <a:srgbClr val="000000"/>
                </a:solidFill>
                <a:latin typeface="Montserrat Bold"/>
                <a:ea typeface="Montserrat Bold"/>
                <a:cs typeface="Montserrat Bold"/>
                <a:sym typeface="Montserrat Bold"/>
              </a:rPr>
              <a:t>D. ¿Para que sirve una JJ.VV?</a:t>
            </a:r>
          </a:p>
          <a:p>
            <a:pPr algn="l">
              <a:lnSpc>
                <a:spcPts val="2079"/>
              </a:lnSpc>
            </a:pPr>
          </a:p>
          <a:p>
            <a:pPr algn="l">
              <a:lnSpc>
                <a:spcPts val="2079"/>
              </a:lnSpc>
            </a:pPr>
            <a:r>
              <a:rPr lang="en-US" sz="1299">
                <a:solidFill>
                  <a:srgbClr val="122424"/>
                </a:solidFill>
                <a:latin typeface="Montserrat"/>
                <a:ea typeface="Montserrat"/>
                <a:cs typeface="Montserrat"/>
                <a:sym typeface="Montserrat"/>
              </a:rPr>
              <a:t>Para promover la participación, desarrollo e integración de los vecinos/as del territorio la junta de vecinos puede:</a:t>
            </a:r>
          </a:p>
          <a:p>
            <a:pPr algn="l">
              <a:lnSpc>
                <a:spcPts val="2079"/>
              </a:lnSpc>
            </a:pP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Representar a los vecinos/as ante las autoridades para lograr convenios de desarrollo.</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Gestionar la solución de problemas ante las autoridades.</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Proponer y ejecutar proyectos que beneficien a la comunidad.</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Determinar carencias de infraestructura de la unidad vecinal (iluminación, áreas verdes, tránsito, alcantarillado, etc.). </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Generar actividades que promuevan la identidad barrial y sentido de pertenencia.</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42</a:t>
            </a:r>
          </a:p>
        </p:txBody>
      </p:sp>
      <p:sp>
        <p:nvSpPr>
          <p:cNvPr name="TextBox 9" id="9"/>
          <p:cNvSpPr txBox="true"/>
          <p:nvPr/>
        </p:nvSpPr>
        <p:spPr>
          <a:xfrm rot="0">
            <a:off x="589521" y="1900897"/>
            <a:ext cx="2912631" cy="6749087"/>
          </a:xfrm>
          <a:prstGeom prst="rect">
            <a:avLst/>
          </a:prstGeom>
        </p:spPr>
        <p:txBody>
          <a:bodyPr anchor="t" rtlCol="false" tIns="0" lIns="0" bIns="0" rIns="0">
            <a:spAutoFit/>
          </a:bodyPr>
          <a:lstStyle/>
          <a:p>
            <a:pPr algn="l">
              <a:lnSpc>
                <a:spcPts val="2240"/>
              </a:lnSpc>
            </a:pPr>
            <a:r>
              <a:rPr lang="en-US" sz="1400" b="true">
                <a:solidFill>
                  <a:srgbClr val="122424"/>
                </a:solidFill>
                <a:latin typeface="Montserrat Bold"/>
                <a:ea typeface="Montserrat Bold"/>
                <a:cs typeface="Montserrat Bold"/>
                <a:sym typeface="Montserrat Bold"/>
              </a:rPr>
              <a:t>E.</a:t>
            </a:r>
            <a:r>
              <a:rPr lang="en-US" sz="1400" b="true">
                <a:solidFill>
                  <a:srgbClr val="000000"/>
                </a:solidFill>
                <a:latin typeface="Montserrat Bold"/>
                <a:ea typeface="Montserrat Bold"/>
                <a:cs typeface="Montserrat Bold"/>
                <a:sym typeface="Montserrat Bold"/>
              </a:rPr>
              <a:t> ¿Cuáles son los beneficios de pertenecer a una JJ.VV?</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Postular a fondos concursables para ejecutar proyectos comunales que beneficien a la comunidad.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También se dispone de mayor autoridad y poder de representación ante solicitudes a las autoridades de la comuna. </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F</a:t>
            </a:r>
            <a:r>
              <a:rPr lang="en-US" sz="1400" b="true">
                <a:solidFill>
                  <a:srgbClr val="000000"/>
                </a:solidFill>
                <a:latin typeface="Montserrat Bold"/>
                <a:ea typeface="Montserrat Bold"/>
                <a:cs typeface="Montserrat Bold"/>
                <a:sym typeface="Montserrat Bold"/>
              </a:rPr>
              <a:t>. ¿Cuáles son los requisitos para legalizar una JJ.VV?</a:t>
            </a:r>
          </a:p>
          <a:p>
            <a:pPr algn="l">
              <a:lnSpc>
                <a:spcPts val="2080"/>
              </a:lnSpc>
            </a:pPr>
          </a:p>
          <a:p>
            <a:pPr algn="l">
              <a:lnSpc>
                <a:spcPts val="2080"/>
              </a:lnSpc>
            </a:pPr>
            <a:r>
              <a:rPr lang="en-US" sz="1300">
                <a:solidFill>
                  <a:srgbClr val="122424"/>
                </a:solidFill>
                <a:latin typeface="Montserrat"/>
                <a:ea typeface="Montserrat"/>
                <a:cs typeface="Montserrat"/>
                <a:sym typeface="Montserrat"/>
              </a:rPr>
              <a:t>Primero, se debe juntar cierta cantidad de firmas para legalizar la JJ.VV. El número de firmas va a depender del número de habitantes de la comuna:</a:t>
            </a:r>
          </a:p>
          <a:p>
            <a:pPr algn="l">
              <a:lnSpc>
                <a:spcPts val="2080"/>
              </a:lnSpc>
            </a:pP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50 vecinos/as en comunas de hasta 10 mil habitantes.</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100 vecinos/as en comunas de más de 10 mil y hasta 30 mil habitantes. </a:t>
            </a:r>
          </a:p>
        </p:txBody>
      </p:sp>
      <p:sp>
        <p:nvSpPr>
          <p:cNvPr name="TextBox 10" id="10"/>
          <p:cNvSpPr txBox="true"/>
          <p:nvPr/>
        </p:nvSpPr>
        <p:spPr>
          <a:xfrm rot="0">
            <a:off x="3940898" y="1910422"/>
            <a:ext cx="2863102" cy="6410960"/>
          </a:xfrm>
          <a:prstGeom prst="rect">
            <a:avLst/>
          </a:prstGeom>
        </p:spPr>
        <p:txBody>
          <a:bodyPr anchor="t" rtlCol="false" tIns="0" lIns="0" bIns="0" rIns="0">
            <a:spAutoFit/>
          </a:bodyPr>
          <a:lstStyle/>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150 vecinos/as en comunas de más de 30 mil y hasta 100 mil habitantes.</a:t>
            </a:r>
          </a:p>
          <a:p>
            <a:pPr algn="l" marL="280669" indent="-140335" lvl="1">
              <a:lnSpc>
                <a:spcPts val="2079"/>
              </a:lnSpc>
              <a:buFont typeface="Arial"/>
              <a:buChar char="•"/>
            </a:pPr>
            <a:r>
              <a:rPr lang="en-US" sz="1299">
                <a:solidFill>
                  <a:srgbClr val="122424"/>
                </a:solidFill>
                <a:latin typeface="Montserrat"/>
                <a:ea typeface="Montserrat"/>
                <a:cs typeface="Montserrat"/>
                <a:sym typeface="Montserrat"/>
              </a:rPr>
              <a:t>200 vecinos/as en comunas de más de 100 mil habitantes.</a:t>
            </a:r>
          </a:p>
          <a:p>
            <a:pPr algn="l">
              <a:lnSpc>
                <a:spcPts val="2079"/>
              </a:lnSpc>
            </a:pPr>
          </a:p>
          <a:p>
            <a:pPr algn="l">
              <a:lnSpc>
                <a:spcPts val="2079"/>
              </a:lnSpc>
            </a:pPr>
            <a:r>
              <a:rPr lang="en-US" sz="1299">
                <a:solidFill>
                  <a:srgbClr val="122424"/>
                </a:solidFill>
                <a:latin typeface="Montserrat"/>
                <a:ea typeface="Montserrat"/>
                <a:cs typeface="Montserrat"/>
                <a:sym typeface="Montserrat"/>
              </a:rPr>
              <a:t>Después debe constituirse una asamblea ante un funcionario municipal designado por el municipio, un notario o un oficial del Registro Civil. En esta asamblea se debe contar con una directiva provisoria, contar con un libro de actas y un libro de registro de socios (nuevos/en blanco). También se debe contar con un nombre provisorio de la JJ.VV. Es importante considerar que los jóvenes desde los 14 años pueden ser parte e inscribirse para ser socios. Es importante estar en contacto con la Municipalidad correspondiente, para solicitar orientación y asesoría respecto a este proceso de constitución.</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43</a:t>
            </a:r>
          </a:p>
        </p:txBody>
      </p:sp>
      <p:sp>
        <p:nvSpPr>
          <p:cNvPr name="TextBox 9" id="9"/>
          <p:cNvSpPr txBox="true"/>
          <p:nvPr/>
        </p:nvSpPr>
        <p:spPr>
          <a:xfrm rot="0">
            <a:off x="589521" y="1900897"/>
            <a:ext cx="2912631" cy="6454036"/>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G. ¿Cómo se financia una junta de vecinos?</a:t>
            </a:r>
          </a:p>
          <a:p>
            <a:pPr algn="l">
              <a:lnSpc>
                <a:spcPts val="2080"/>
              </a:lnSpc>
            </a:pPr>
          </a:p>
          <a:p>
            <a:pPr algn="l">
              <a:lnSpc>
                <a:spcPts val="2080"/>
              </a:lnSpc>
            </a:pPr>
            <a:r>
              <a:rPr lang="en-US" sz="1300">
                <a:solidFill>
                  <a:srgbClr val="122424"/>
                </a:solidFill>
                <a:latin typeface="Montserrat"/>
                <a:ea typeface="Montserrat"/>
                <a:cs typeface="Montserrat"/>
                <a:sym typeface="Montserrat"/>
              </a:rPr>
              <a:t>Se puede financiar por medio de una cuota por cada uno/a de sus integrantes, o cobrando cuotas extraordinarias. También, se puede generar financiamiento a través de actividades tales como fiestas, rifas, cenas o kermeses, pero las JJ.VV no pueden tener fines de lucro. </a:t>
            </a:r>
          </a:p>
          <a:p>
            <a:pPr algn="l">
              <a:lnSpc>
                <a:spcPts val="2080"/>
              </a:lnSpc>
            </a:pPr>
          </a:p>
          <a:p>
            <a:pPr algn="l">
              <a:lnSpc>
                <a:spcPts val="2080"/>
              </a:lnSpc>
            </a:pPr>
            <a:r>
              <a:rPr lang="en-US" sz="1300">
                <a:solidFill>
                  <a:srgbClr val="122424"/>
                </a:solidFill>
                <a:latin typeface="Montserrat"/>
                <a:ea typeface="Montserrat"/>
                <a:cs typeface="Montserrat"/>
                <a:sym typeface="Montserrat"/>
              </a:rPr>
              <a:t>Además, cada municipio cuenta con un Fondo de Desarrollo Vecinal que se destina a financiar proyectos específicos que una junta presente para el desarrollo</a:t>
            </a:r>
          </a:p>
          <a:p>
            <a:pPr algn="l">
              <a:lnSpc>
                <a:spcPts val="2080"/>
              </a:lnSpc>
            </a:pPr>
            <a:r>
              <a:rPr lang="en-US" sz="1300">
                <a:solidFill>
                  <a:srgbClr val="122424"/>
                </a:solidFill>
                <a:latin typeface="Montserrat"/>
                <a:ea typeface="Montserrat"/>
                <a:cs typeface="Montserrat"/>
                <a:sym typeface="Montserrat"/>
              </a:rPr>
              <a:t>comunal. Es el consejo municipal quién decide cómo se postula y opera el fondo. Por lo tanto, es importante contactarse con el municipio para obtener más información respecto a este Fondo.</a:t>
            </a:r>
          </a:p>
        </p:txBody>
      </p:sp>
      <p:sp>
        <p:nvSpPr>
          <p:cNvPr name="TextBox 10" id="10"/>
          <p:cNvSpPr txBox="true"/>
          <p:nvPr/>
        </p:nvSpPr>
        <p:spPr>
          <a:xfrm rot="0">
            <a:off x="3940898" y="1900897"/>
            <a:ext cx="2863102" cy="6529938"/>
          </a:xfrm>
          <a:prstGeom prst="rect">
            <a:avLst/>
          </a:prstGeom>
        </p:spPr>
        <p:txBody>
          <a:bodyPr anchor="t" rtlCol="false" tIns="0" lIns="0" bIns="0" rIns="0">
            <a:spAutoFit/>
          </a:bodyPr>
          <a:lstStyle/>
          <a:p>
            <a:pPr algn="l">
              <a:lnSpc>
                <a:spcPts val="2239"/>
              </a:lnSpc>
            </a:pPr>
            <a:r>
              <a:rPr lang="en-US" sz="1399" b="true">
                <a:solidFill>
                  <a:srgbClr val="000000"/>
                </a:solidFill>
                <a:latin typeface="Montserrat Bold"/>
                <a:ea typeface="Montserrat Bold"/>
                <a:cs typeface="Montserrat Bold"/>
                <a:sym typeface="Montserrat Bold"/>
              </a:rPr>
              <a:t>H. ¿Qué tipo de actividades desarrollan las juntas de vecinos?</a:t>
            </a:r>
          </a:p>
          <a:p>
            <a:pPr algn="l">
              <a:lnSpc>
                <a:spcPts val="2079"/>
              </a:lnSpc>
            </a:pPr>
          </a:p>
          <a:p>
            <a:pPr algn="l">
              <a:lnSpc>
                <a:spcPts val="2079"/>
              </a:lnSpc>
            </a:pPr>
            <a:r>
              <a:rPr lang="en-US" sz="1299">
                <a:solidFill>
                  <a:srgbClr val="000000"/>
                </a:solidFill>
                <a:latin typeface="Montserrat"/>
                <a:ea typeface="Montserrat"/>
                <a:cs typeface="Montserrat"/>
                <a:sym typeface="Montserrat"/>
              </a:rPr>
              <a:t>Actividades de índole medioambiental, educativas, deportivas, de capacitación, recreación, culturales, entre otros. Como por ejemplo: campeonato deportivo o remodelación de una plaza. Al mismo tiempo pueden colaborar con el municipio en temáticas como seguridad ciudadana, planes de empleo, fiscalización de lugares con venta de alcohol, entre otros, que busquen aumentar el bienestar de la comunidad vecinal. </a:t>
            </a:r>
          </a:p>
          <a:p>
            <a:pPr algn="l">
              <a:lnSpc>
                <a:spcPts val="2079"/>
              </a:lnSpc>
            </a:pPr>
          </a:p>
          <a:p>
            <a:pPr algn="l">
              <a:lnSpc>
                <a:spcPts val="2239"/>
              </a:lnSpc>
            </a:pPr>
            <a:r>
              <a:rPr lang="en-US" sz="1399" b="true">
                <a:solidFill>
                  <a:srgbClr val="122424"/>
                </a:solidFill>
                <a:latin typeface="Montserrat Bold"/>
                <a:ea typeface="Montserrat Bold"/>
                <a:cs typeface="Montserrat Bold"/>
                <a:sym typeface="Montserrat Bold"/>
              </a:rPr>
              <a:t>I.</a:t>
            </a:r>
            <a:r>
              <a:rPr lang="en-US" sz="1399" b="true">
                <a:solidFill>
                  <a:srgbClr val="000000"/>
                </a:solidFill>
                <a:latin typeface="Montserrat Bold"/>
                <a:ea typeface="Montserrat Bold"/>
                <a:cs typeface="Montserrat Bold"/>
                <a:sym typeface="Montserrat Bold"/>
              </a:rPr>
              <a:t> ¿En qué se diferencia una junta de vecinos con una unión vecinal o comité de vecinos?</a:t>
            </a:r>
          </a:p>
          <a:p>
            <a:pPr algn="l">
              <a:lnSpc>
                <a:spcPts val="2079"/>
              </a:lnSpc>
            </a:pPr>
          </a:p>
          <a:p>
            <a:pPr algn="l">
              <a:lnSpc>
                <a:spcPts val="2079"/>
              </a:lnSpc>
            </a:pPr>
            <a:r>
              <a:rPr lang="en-US" sz="1299">
                <a:solidFill>
                  <a:srgbClr val="000000"/>
                </a:solidFill>
                <a:latin typeface="Montserrat"/>
                <a:ea typeface="Montserrat"/>
                <a:cs typeface="Montserrat"/>
                <a:sym typeface="Montserrat"/>
              </a:rPr>
              <a:t>Una unión vecinal es la agrupación de juntas de vecinos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3" id="3"/>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7" id="7"/>
          <p:cNvSpPr/>
          <p:nvPr/>
        </p:nvSpPr>
        <p:spPr>
          <a:xfrm flipH="false" flipV="false" rot="0">
            <a:off x="576413" y="5603643"/>
            <a:ext cx="3351377" cy="2456628"/>
          </a:xfrm>
          <a:custGeom>
            <a:avLst/>
            <a:gdLst/>
            <a:ahLst/>
            <a:cxnLst/>
            <a:rect r="r" b="b" t="t" l="l"/>
            <a:pathLst>
              <a:path h="2456628" w="3351377">
                <a:moveTo>
                  <a:pt x="0" y="0"/>
                </a:moveTo>
                <a:lnTo>
                  <a:pt x="3351377" y="0"/>
                </a:lnTo>
                <a:lnTo>
                  <a:pt x="3351377" y="2456628"/>
                </a:lnTo>
                <a:lnTo>
                  <a:pt x="0" y="2456628"/>
                </a:lnTo>
                <a:lnTo>
                  <a:pt x="0" y="0"/>
                </a:lnTo>
                <a:close/>
              </a:path>
            </a:pathLst>
          </a:custGeom>
          <a:blipFill>
            <a:blip r:embed="rId5"/>
            <a:stretch>
              <a:fillRect l="0" t="0" r="-9815" b="0"/>
            </a:stretch>
          </a:blipFill>
        </p:spPr>
      </p:sp>
      <p:sp>
        <p:nvSpPr>
          <p:cNvPr name="TextBox 8" id="8"/>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44</a:t>
            </a:r>
          </a:p>
        </p:txBody>
      </p:sp>
      <p:sp>
        <p:nvSpPr>
          <p:cNvPr name="TextBox 10" id="10"/>
          <p:cNvSpPr txBox="true"/>
          <p:nvPr/>
        </p:nvSpPr>
        <p:spPr>
          <a:xfrm rot="0">
            <a:off x="589521" y="1900897"/>
            <a:ext cx="2912631" cy="3005455"/>
          </a:xfrm>
          <a:prstGeom prst="rect">
            <a:avLst/>
          </a:prstGeom>
        </p:spPr>
        <p:txBody>
          <a:bodyPr anchor="t" rtlCol="false" tIns="0" lIns="0" bIns="0" rIns="0">
            <a:spAutoFit/>
          </a:bodyPr>
          <a:lstStyle/>
          <a:p>
            <a:pPr algn="l">
              <a:lnSpc>
                <a:spcPts val="2240"/>
              </a:lnSpc>
            </a:pPr>
            <a:r>
              <a:rPr lang="en-US" sz="1400">
                <a:solidFill>
                  <a:srgbClr val="122424"/>
                </a:solidFill>
                <a:latin typeface="Montserrat"/>
                <a:ea typeface="Montserrat"/>
                <a:cs typeface="Montserrat"/>
                <a:sym typeface="Montserrat"/>
              </a:rPr>
              <a:t>de una misma unidad comunal, y un comité de vecinos es un grupo al cuál la JJ.VV le entrega y delega ciertas atribuciones para tareas específicas, pero que no cuenta con una personalidad jurídica, además que debe estar supeditada a las decisiones de la junta.  </a:t>
            </a:r>
          </a:p>
          <a:p>
            <a:pPr algn="l">
              <a:lnSpc>
                <a:spcPts val="2080"/>
              </a:lnSpc>
            </a:pPr>
          </a:p>
          <a:p>
            <a:pPr algn="l">
              <a:lnSpc>
                <a:spcPts val="2240"/>
              </a:lnSpc>
            </a:pPr>
          </a:p>
        </p:txBody>
      </p:sp>
      <p:sp>
        <p:nvSpPr>
          <p:cNvPr name="Freeform 11" id="11"/>
          <p:cNvSpPr/>
          <p:nvPr/>
        </p:nvSpPr>
        <p:spPr>
          <a:xfrm flipH="false" flipV="false" rot="0">
            <a:off x="4247128" y="5615192"/>
            <a:ext cx="2556872" cy="2445078"/>
          </a:xfrm>
          <a:custGeom>
            <a:avLst/>
            <a:gdLst/>
            <a:ahLst/>
            <a:cxnLst/>
            <a:rect r="r" b="b" t="t" l="l"/>
            <a:pathLst>
              <a:path h="2445078" w="2556872">
                <a:moveTo>
                  <a:pt x="0" y="0"/>
                </a:moveTo>
                <a:lnTo>
                  <a:pt x="2556872" y="0"/>
                </a:lnTo>
                <a:lnTo>
                  <a:pt x="2556872" y="2445079"/>
                </a:lnTo>
                <a:lnTo>
                  <a:pt x="0" y="2445079"/>
                </a:lnTo>
                <a:lnTo>
                  <a:pt x="0" y="0"/>
                </a:lnTo>
                <a:close/>
              </a:path>
            </a:pathLst>
          </a:custGeom>
          <a:blipFill>
            <a:blip r:embed="rId6"/>
            <a:stretch>
              <a:fillRect l="-49714" t="-4003" r="0" b="-499"/>
            </a:stretch>
          </a:blipFill>
        </p:spPr>
      </p:sp>
      <p:sp>
        <p:nvSpPr>
          <p:cNvPr name="TextBox 12" id="12"/>
          <p:cNvSpPr txBox="true"/>
          <p:nvPr/>
        </p:nvSpPr>
        <p:spPr>
          <a:xfrm rot="0">
            <a:off x="3989273" y="1900897"/>
            <a:ext cx="2912631" cy="236029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J</a:t>
            </a:r>
            <a:r>
              <a:rPr lang="en-US" sz="1400" b="true">
                <a:solidFill>
                  <a:srgbClr val="000000"/>
                </a:solidFill>
                <a:latin typeface="Montserrat Bold"/>
                <a:ea typeface="Montserrat Bold"/>
                <a:cs typeface="Montserrat Bold"/>
                <a:sym typeface="Montserrat Bold"/>
              </a:rPr>
              <a:t>. Dónde se puede encontrar más información respecto a las JJ.VV?</a:t>
            </a:r>
          </a:p>
          <a:p>
            <a:pPr algn="l">
              <a:lnSpc>
                <a:spcPts val="2080"/>
              </a:lnSpc>
            </a:pPr>
          </a:p>
          <a:p>
            <a:pPr algn="l">
              <a:lnSpc>
                <a:spcPts val="2080"/>
              </a:lnSpc>
            </a:pPr>
            <a:r>
              <a:rPr lang="en-US" sz="1300">
                <a:solidFill>
                  <a:srgbClr val="122424"/>
                </a:solidFill>
                <a:latin typeface="Montserrat"/>
                <a:ea typeface="Montserrat"/>
                <a:cs typeface="Montserrat"/>
                <a:sym typeface="Montserrat"/>
              </a:rPr>
              <a:t>En su Municipio correspondiente, por lo que sugerimos contactarse</a:t>
            </a:r>
          </a:p>
          <a:p>
            <a:pPr algn="l">
              <a:lnSpc>
                <a:spcPts val="2080"/>
              </a:lnSpc>
            </a:pPr>
            <a:r>
              <a:rPr lang="en-US" sz="1300">
                <a:solidFill>
                  <a:srgbClr val="122424"/>
                </a:solidFill>
                <a:latin typeface="Montserrat"/>
                <a:ea typeface="Montserrat"/>
                <a:cs typeface="Montserrat"/>
                <a:sym typeface="Montserrat"/>
              </a:rPr>
              <a:t>con éste, además del encargado/a territorial asignado para su territorio.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8" id="8"/>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45</a:t>
            </a:r>
          </a:p>
        </p:txBody>
      </p:sp>
      <p:sp>
        <p:nvSpPr>
          <p:cNvPr name="TextBox 9" id="9"/>
          <p:cNvSpPr txBox="true"/>
          <p:nvPr/>
        </p:nvSpPr>
        <p:spPr>
          <a:xfrm rot="0">
            <a:off x="607515" y="1900897"/>
            <a:ext cx="2912631" cy="5998845"/>
          </a:xfrm>
          <a:prstGeom prst="rect">
            <a:avLst/>
          </a:prstGeom>
        </p:spPr>
        <p:txBody>
          <a:bodyPr anchor="t" rtlCol="false" tIns="0" lIns="0" bIns="0" rIns="0">
            <a:spAutoFit/>
          </a:bodyPr>
          <a:lstStyle/>
          <a:p>
            <a:pPr algn="l">
              <a:lnSpc>
                <a:spcPts val="2240"/>
              </a:lnSpc>
            </a:pPr>
            <a:r>
              <a:rPr lang="en-US" sz="1400" b="true">
                <a:solidFill>
                  <a:srgbClr val="000000"/>
                </a:solidFill>
                <a:latin typeface="Montserrat Bold"/>
                <a:ea typeface="Montserrat Bold"/>
                <a:cs typeface="Montserrat Bold"/>
                <a:sym typeface="Montserrat Bold"/>
              </a:rPr>
              <a:t>A. ¿Cuál es el enfoque de la seguridad comunitaria?</a:t>
            </a:r>
          </a:p>
          <a:p>
            <a:pPr algn="l">
              <a:lnSpc>
                <a:spcPts val="2080"/>
              </a:lnSpc>
            </a:pPr>
          </a:p>
          <a:p>
            <a:pPr algn="l">
              <a:lnSpc>
                <a:spcPts val="2080"/>
              </a:lnSpc>
            </a:pPr>
            <a:r>
              <a:rPr lang="en-US" sz="1300">
                <a:solidFill>
                  <a:srgbClr val="122424"/>
                </a:solidFill>
                <a:latin typeface="Montserrat"/>
                <a:ea typeface="Montserrat"/>
                <a:cs typeface="Montserrat"/>
                <a:sym typeface="Montserrat"/>
              </a:rPr>
              <a:t>Es un modelo que se basa en la gestión de la seguridad a nivel local,  proponiendo el desarrollo  de la seguridad desde la vida cotidiana de las personas, buscando comprometer e involucrar activamente a las comunidades para trabajar con las autoridades locales. </a:t>
            </a:r>
          </a:p>
          <a:p>
            <a:pPr algn="l">
              <a:lnSpc>
                <a:spcPts val="2080"/>
              </a:lnSpc>
            </a:pPr>
          </a:p>
          <a:p>
            <a:pPr algn="l">
              <a:lnSpc>
                <a:spcPts val="2240"/>
              </a:lnSpc>
            </a:pPr>
            <a:r>
              <a:rPr lang="en-US" sz="1400" b="true">
                <a:solidFill>
                  <a:srgbClr val="122424"/>
                </a:solidFill>
                <a:latin typeface="Montserrat Bold"/>
                <a:ea typeface="Montserrat Bold"/>
                <a:cs typeface="Montserrat Bold"/>
                <a:sym typeface="Montserrat Bold"/>
              </a:rPr>
              <a:t>B.</a:t>
            </a:r>
            <a:r>
              <a:rPr lang="en-US" sz="1400" b="true">
                <a:solidFill>
                  <a:srgbClr val="000000"/>
                </a:solidFill>
                <a:latin typeface="Montserrat Bold"/>
                <a:ea typeface="Montserrat Bold"/>
                <a:cs typeface="Montserrat Bold"/>
                <a:sym typeface="Montserrat Bold"/>
              </a:rPr>
              <a:t>  ¿Cuáles son los pilares de la seguridad comunitaria? </a:t>
            </a:r>
          </a:p>
          <a:p>
            <a:pPr algn="l">
              <a:lnSpc>
                <a:spcPts val="2240"/>
              </a:lnSpc>
            </a:pPr>
          </a:p>
          <a:p>
            <a:pPr algn="l" marL="280669" indent="-140335" lvl="1">
              <a:lnSpc>
                <a:spcPts val="2079"/>
              </a:lnSpc>
              <a:buFont typeface="Arial"/>
              <a:buChar char="•"/>
            </a:pPr>
            <a:r>
              <a:rPr lang="en-US" sz="1299">
                <a:solidFill>
                  <a:srgbClr val="000000"/>
                </a:solidFill>
                <a:latin typeface="Montserrat"/>
                <a:ea typeface="Montserrat"/>
                <a:cs typeface="Montserrat"/>
                <a:sym typeface="Montserrat"/>
              </a:rPr>
              <a:t>Prevención comunitaria: participación activa de la comunidad y compromiso a solucionar problemáticas de seguridad y así disminuir positivamente las oportunidades de delito. </a:t>
            </a:r>
          </a:p>
        </p:txBody>
      </p:sp>
      <p:sp>
        <p:nvSpPr>
          <p:cNvPr name="TextBox 10" id="10"/>
          <p:cNvSpPr txBox="true"/>
          <p:nvPr/>
        </p:nvSpPr>
        <p:spPr>
          <a:xfrm rot="0">
            <a:off x="3940898" y="1910422"/>
            <a:ext cx="2863102" cy="5951825"/>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Trabajo en red: generar estrategias de trabajo con instituciones para coordinar acciones en conjunto con la comunidad vecinal en materia de seguridad. </a:t>
            </a:r>
          </a:p>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Prevención situacional: se busca reconfigurar los espacios con la comunidad con el objetivo de disminuir las condiciones de riesgo del entorno, por medio de procesos participativos  para transformar los espacios en lugares de encuentro comunitario. </a:t>
            </a:r>
          </a:p>
          <a:p>
            <a:pPr algn="l">
              <a:lnSpc>
                <a:spcPts val="2240"/>
              </a:lnSpc>
            </a:pPr>
          </a:p>
          <a:p>
            <a:pPr algn="l">
              <a:lnSpc>
                <a:spcPts val="2240"/>
              </a:lnSpc>
            </a:pPr>
            <a:r>
              <a:rPr lang="en-US" sz="1400" b="true">
                <a:solidFill>
                  <a:srgbClr val="000000"/>
                </a:solidFill>
                <a:latin typeface="Montserrat Bold"/>
                <a:ea typeface="Montserrat Bold"/>
                <a:cs typeface="Montserrat Bold"/>
                <a:sym typeface="Montserrat Bold"/>
              </a:rPr>
              <a:t>C. ¿Por qué es importante este enfoque de la seguridad?</a:t>
            </a:r>
          </a:p>
          <a:p>
            <a:pPr algn="l">
              <a:lnSpc>
                <a:spcPts val="2080"/>
              </a:lnSpc>
            </a:pPr>
          </a:p>
          <a:p>
            <a:pPr algn="l">
              <a:lnSpc>
                <a:spcPts val="2080"/>
              </a:lnSpc>
            </a:pPr>
            <a:r>
              <a:rPr lang="en-US" sz="1300">
                <a:solidFill>
                  <a:srgbClr val="122424"/>
                </a:solidFill>
                <a:latin typeface="Montserrat"/>
                <a:ea typeface="Montserrat"/>
                <a:cs typeface="Montserrat"/>
                <a:sym typeface="Montserrat"/>
              </a:rPr>
              <a:t>Porque destaca la importancia de promover la confianza y las redes dentro de la comunidad vecinal</a:t>
            </a:r>
          </a:p>
        </p:txBody>
      </p:sp>
      <p:sp>
        <p:nvSpPr>
          <p:cNvPr name="TextBox 11" id="11"/>
          <p:cNvSpPr txBox="true"/>
          <p:nvPr/>
        </p:nvSpPr>
        <p:spPr>
          <a:xfrm rot="0">
            <a:off x="577196" y="1464096"/>
            <a:ext cx="3199796" cy="295201"/>
          </a:xfrm>
          <a:prstGeom prst="rect">
            <a:avLst/>
          </a:prstGeom>
        </p:spPr>
        <p:txBody>
          <a:bodyPr anchor="t" rtlCol="false" tIns="0" lIns="0" bIns="0" rIns="0">
            <a:spAutoFit/>
          </a:bodyPr>
          <a:lstStyle/>
          <a:p>
            <a:pPr algn="l">
              <a:lnSpc>
                <a:spcPts val="2400"/>
              </a:lnSpc>
            </a:pPr>
            <a:r>
              <a:rPr lang="en-US" sz="1500" b="true">
                <a:solidFill>
                  <a:srgbClr val="03989E"/>
                </a:solidFill>
                <a:latin typeface="Montserrat Semi-Bold Bold"/>
                <a:ea typeface="Montserrat Semi-Bold Bold"/>
                <a:cs typeface="Montserrat Semi-Bold Bold"/>
                <a:sym typeface="Montserrat Semi-Bold Bold"/>
              </a:rPr>
              <a:t>4.2.  Seguridad Comunitaria</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009843" y="7109921"/>
            <a:ext cx="2627678" cy="2473773"/>
          </a:xfrm>
          <a:custGeom>
            <a:avLst/>
            <a:gdLst/>
            <a:ahLst/>
            <a:cxnLst/>
            <a:rect r="r" b="b" t="t" l="l"/>
            <a:pathLst>
              <a:path h="2473773" w="2627678">
                <a:moveTo>
                  <a:pt x="0" y="0"/>
                </a:moveTo>
                <a:lnTo>
                  <a:pt x="2627678" y="0"/>
                </a:lnTo>
                <a:lnTo>
                  <a:pt x="2627678" y="2473772"/>
                </a:lnTo>
                <a:lnTo>
                  <a:pt x="0" y="2473772"/>
                </a:lnTo>
                <a:lnTo>
                  <a:pt x="0" y="0"/>
                </a:lnTo>
                <a:close/>
              </a:path>
            </a:pathLst>
          </a:custGeom>
          <a:blipFill>
            <a:blip r:embed="rId5"/>
            <a:stretch>
              <a:fillRect l="-10155" t="0" r="-31147" b="0"/>
            </a:stretch>
          </a:blipFill>
        </p:spPr>
      </p:sp>
      <p:sp>
        <p:nvSpPr>
          <p:cNvPr name="Freeform 8" id="8"/>
          <p:cNvSpPr/>
          <p:nvPr/>
        </p:nvSpPr>
        <p:spPr>
          <a:xfrm flipH="false" flipV="false" rot="0">
            <a:off x="589521" y="7128852"/>
            <a:ext cx="3280811" cy="2456628"/>
          </a:xfrm>
          <a:custGeom>
            <a:avLst/>
            <a:gdLst/>
            <a:ahLst/>
            <a:cxnLst/>
            <a:rect r="r" b="b" t="t" l="l"/>
            <a:pathLst>
              <a:path h="2456628" w="3280811">
                <a:moveTo>
                  <a:pt x="0" y="0"/>
                </a:moveTo>
                <a:lnTo>
                  <a:pt x="3280811" y="0"/>
                </a:lnTo>
                <a:lnTo>
                  <a:pt x="3280811" y="2456627"/>
                </a:lnTo>
                <a:lnTo>
                  <a:pt x="0" y="2456627"/>
                </a:lnTo>
                <a:lnTo>
                  <a:pt x="0" y="0"/>
                </a:lnTo>
                <a:close/>
              </a:path>
            </a:pathLst>
          </a:custGeom>
          <a:blipFill>
            <a:blip r:embed="rId6"/>
            <a:stretch>
              <a:fillRect l="0" t="0" r="-6969" b="0"/>
            </a:stretch>
          </a:blipFill>
        </p:spPr>
      </p:sp>
      <p:sp>
        <p:nvSpPr>
          <p:cNvPr name="TextBox 9" id="9"/>
          <p:cNvSpPr txBox="true"/>
          <p:nvPr/>
        </p:nvSpPr>
        <p:spPr>
          <a:xfrm rot="0">
            <a:off x="607515" y="1910422"/>
            <a:ext cx="2912631" cy="5199499"/>
          </a:xfrm>
          <a:prstGeom prst="rect">
            <a:avLst/>
          </a:prstGeom>
        </p:spPr>
        <p:txBody>
          <a:bodyPr anchor="t" rtlCol="false" tIns="0" lIns="0" bIns="0" rIns="0">
            <a:spAutoFit/>
          </a:bodyPr>
          <a:lstStyle/>
          <a:p>
            <a:pPr algn="l">
              <a:lnSpc>
                <a:spcPts val="2079"/>
              </a:lnSpc>
            </a:pPr>
            <a:r>
              <a:rPr lang="en-US" sz="1299">
                <a:solidFill>
                  <a:srgbClr val="122424"/>
                </a:solidFill>
                <a:latin typeface="Montserrat"/>
                <a:ea typeface="Montserrat"/>
                <a:cs typeface="Montserrat"/>
                <a:sym typeface="Montserrat"/>
              </a:rPr>
              <a:t>para prevenir el delito a través de la organización comunitaria y el trabajo en red con las instituciones, cambiando el paradigma sustentando en lo punitivo y en la desconfianza.</a:t>
            </a:r>
          </a:p>
          <a:p>
            <a:pPr algn="l">
              <a:lnSpc>
                <a:spcPts val="2080"/>
              </a:lnSpc>
            </a:pPr>
          </a:p>
          <a:p>
            <a:pPr algn="l">
              <a:lnSpc>
                <a:spcPts val="2240"/>
              </a:lnSpc>
            </a:pPr>
            <a:r>
              <a:rPr lang="en-US" sz="1400" b="true">
                <a:solidFill>
                  <a:srgbClr val="000000"/>
                </a:solidFill>
                <a:latin typeface="Montserrat Bold"/>
                <a:ea typeface="Montserrat Bold"/>
                <a:cs typeface="Montserrat Bold"/>
                <a:sym typeface="Montserrat Bold"/>
              </a:rPr>
              <a:t>D</a:t>
            </a:r>
            <a:r>
              <a:rPr lang="en-US" sz="1400" b="true">
                <a:solidFill>
                  <a:srgbClr val="000000"/>
                </a:solidFill>
                <a:latin typeface="Montserrat Bold"/>
                <a:ea typeface="Montserrat Bold"/>
                <a:cs typeface="Montserrat Bold"/>
                <a:sym typeface="Montserrat Bold"/>
              </a:rPr>
              <a:t>.  ¿Qué recomendaciones son importantes de incorporar en torno a la seguridad? </a:t>
            </a:r>
          </a:p>
          <a:p>
            <a:pPr algn="l">
              <a:lnSpc>
                <a:spcPts val="2240"/>
              </a:lnSpc>
            </a:pPr>
          </a:p>
          <a:p>
            <a:pPr algn="l" marL="280669" indent="-140335" lvl="1">
              <a:lnSpc>
                <a:spcPts val="2079"/>
              </a:lnSpc>
              <a:buFont typeface="Arial"/>
              <a:buChar char="•"/>
            </a:pPr>
            <a:r>
              <a:rPr lang="en-US" sz="1299">
                <a:solidFill>
                  <a:srgbClr val="000000"/>
                </a:solidFill>
                <a:latin typeface="Montserrat"/>
                <a:ea typeface="Montserrat"/>
                <a:cs typeface="Montserrat"/>
                <a:sym typeface="Montserrat"/>
              </a:rPr>
              <a:t>Comunidad activa: contar con comunicación efectiva, por ejemplo, por medio de WhatsApp, para mantenerse organizados, expresar preocupaciones de seguridad y así prevenir situaciones de delito. </a:t>
            </a:r>
          </a:p>
          <a:p>
            <a:pPr algn="l">
              <a:lnSpc>
                <a:spcPts val="2079"/>
              </a:lnSpc>
            </a:pPr>
          </a:p>
        </p:txBody>
      </p:sp>
      <p:sp>
        <p:nvSpPr>
          <p:cNvPr name="TextBox 10" id="10"/>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1" id="11"/>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46</a:t>
            </a:r>
          </a:p>
        </p:txBody>
      </p:sp>
      <p:sp>
        <p:nvSpPr>
          <p:cNvPr name="TextBox 12" id="12"/>
          <p:cNvSpPr txBox="true"/>
          <p:nvPr/>
        </p:nvSpPr>
        <p:spPr>
          <a:xfrm rot="0">
            <a:off x="3870332" y="1910422"/>
            <a:ext cx="2863102" cy="4866496"/>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 Capacitación del personal del condominio: es importante que el personal que trabaja en el condominio esté capacitado y</a:t>
            </a:r>
            <a:r>
              <a:rPr lang="en-US" sz="1300">
                <a:solidFill>
                  <a:srgbClr val="122424"/>
                </a:solidFill>
                <a:latin typeface="Montserrat"/>
                <a:ea typeface="Montserrat"/>
                <a:cs typeface="Montserrat"/>
                <a:sym typeface="Montserrat"/>
              </a:rPr>
              <a:t>  </a:t>
            </a:r>
            <a:r>
              <a:rPr lang="en-US" sz="1300">
                <a:solidFill>
                  <a:srgbClr val="122424"/>
                </a:solidFill>
                <a:latin typeface="Montserrat"/>
                <a:ea typeface="Montserrat"/>
                <a:cs typeface="Montserrat"/>
                <a:sym typeface="Montserrat"/>
              </a:rPr>
              <a:t>sepa como operar en caso de emergencia. </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Control de acceso en entradas:  se sugiere que exista un sistema de control para acceder al condominio, y que así no entren personas desconocidas. </a:t>
            </a:r>
          </a:p>
          <a:p>
            <a:pPr algn="l" marL="280671" indent="-140336" lvl="1">
              <a:lnSpc>
                <a:spcPts val="2080"/>
              </a:lnSpc>
              <a:buFont typeface="Arial"/>
              <a:buChar char="•"/>
            </a:pPr>
            <a:r>
              <a:rPr lang="en-US" sz="1300">
                <a:solidFill>
                  <a:srgbClr val="000000"/>
                </a:solidFill>
                <a:latin typeface="Montserrat"/>
                <a:ea typeface="Montserrat"/>
                <a:cs typeface="Montserrat"/>
                <a:sym typeface="Montserrat"/>
              </a:rPr>
              <a:t>Protocolo de seguridad ante emergencias: tener claridad de que forma se debe operar en caso de emergencias y revisar el plan de emergencia entregado por la Inmobiliaria.</a:t>
            </a:r>
          </a:p>
          <a:p>
            <a:pPr algn="l">
              <a:lnSpc>
                <a:spcPts val="2080"/>
              </a:lnSpc>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2"/>
            <a:stretch>
              <a:fillRect l="0" t="0" r="0" b="0"/>
            </a:stretch>
          </a:blipFill>
        </p:spPr>
      </p:sp>
      <p:sp>
        <p:nvSpPr>
          <p:cNvPr name="Freeform 4" id="4"/>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719618" y="4057542"/>
            <a:ext cx="2917903" cy="2576916"/>
          </a:xfrm>
          <a:custGeom>
            <a:avLst/>
            <a:gdLst/>
            <a:ahLst/>
            <a:cxnLst/>
            <a:rect r="r" b="b" t="t" l="l"/>
            <a:pathLst>
              <a:path h="2576916" w="2917903">
                <a:moveTo>
                  <a:pt x="0" y="0"/>
                </a:moveTo>
                <a:lnTo>
                  <a:pt x="2917903" y="0"/>
                </a:lnTo>
                <a:lnTo>
                  <a:pt x="2917903" y="2576916"/>
                </a:lnTo>
                <a:lnTo>
                  <a:pt x="0" y="2576916"/>
                </a:lnTo>
                <a:lnTo>
                  <a:pt x="0" y="0"/>
                </a:lnTo>
                <a:close/>
              </a:path>
            </a:pathLst>
          </a:custGeom>
          <a:blipFill>
            <a:blip r:embed="rId5"/>
            <a:stretch>
              <a:fillRect l="-23423" t="0" r="-8882" b="0"/>
            </a:stretch>
          </a:blipFill>
        </p:spPr>
      </p:sp>
      <p:sp>
        <p:nvSpPr>
          <p:cNvPr name="Freeform 8" id="8"/>
          <p:cNvSpPr/>
          <p:nvPr/>
        </p:nvSpPr>
        <p:spPr>
          <a:xfrm flipH="false" flipV="false" rot="0">
            <a:off x="603915" y="4024993"/>
            <a:ext cx="2995211" cy="5153832"/>
          </a:xfrm>
          <a:custGeom>
            <a:avLst/>
            <a:gdLst/>
            <a:ahLst/>
            <a:cxnLst/>
            <a:rect r="r" b="b" t="t" l="l"/>
            <a:pathLst>
              <a:path h="5153832" w="2995211">
                <a:moveTo>
                  <a:pt x="0" y="0"/>
                </a:moveTo>
                <a:lnTo>
                  <a:pt x="2995211" y="0"/>
                </a:lnTo>
                <a:lnTo>
                  <a:pt x="2995211" y="5153833"/>
                </a:lnTo>
                <a:lnTo>
                  <a:pt x="0" y="5153833"/>
                </a:lnTo>
                <a:lnTo>
                  <a:pt x="0" y="0"/>
                </a:lnTo>
                <a:close/>
              </a:path>
            </a:pathLst>
          </a:custGeom>
          <a:blipFill>
            <a:blip r:embed="rId6"/>
            <a:stretch>
              <a:fillRect l="-96919" t="-2639" r="-68162" b="0"/>
            </a:stretch>
          </a:blipFill>
        </p:spPr>
      </p:sp>
      <p:sp>
        <p:nvSpPr>
          <p:cNvPr name="TextBox 9" id="9"/>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TextBox 10" id="10"/>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47</a:t>
            </a:r>
          </a:p>
        </p:txBody>
      </p:sp>
      <p:sp>
        <p:nvSpPr>
          <p:cNvPr name="TextBox 11" id="11"/>
          <p:cNvSpPr txBox="true"/>
          <p:nvPr/>
        </p:nvSpPr>
        <p:spPr>
          <a:xfrm rot="0">
            <a:off x="589521" y="1910422"/>
            <a:ext cx="2863102" cy="1524188"/>
          </a:xfrm>
          <a:prstGeom prst="rect">
            <a:avLst/>
          </a:prstGeom>
        </p:spPr>
        <p:txBody>
          <a:bodyPr anchor="t" rtlCol="false" tIns="0" lIns="0" bIns="0" rIns="0">
            <a:spAutoFit/>
          </a:bodyPr>
          <a:lstStyle/>
          <a:p>
            <a:pPr algn="l" marL="280671" indent="-140336" lvl="1">
              <a:lnSpc>
                <a:spcPts val="2080"/>
              </a:lnSpc>
              <a:buFont typeface="Arial"/>
              <a:buChar char="•"/>
            </a:pPr>
            <a:r>
              <a:rPr lang="en-US" sz="1300">
                <a:solidFill>
                  <a:srgbClr val="122424"/>
                </a:solidFill>
                <a:latin typeface="Montserrat"/>
                <a:ea typeface="Montserrat"/>
                <a:cs typeface="Montserrat"/>
                <a:sym typeface="Montserrat"/>
              </a:rPr>
              <a:t>Cumplimiento del reglamento y de las normas: buscar mantener la seguridad del condominio, resguardando la vivienda propia y a su comunidad vecinal.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23620" y="-245662"/>
            <a:ext cx="1980089" cy="11213108"/>
            <a:chOff x="0" y="0"/>
            <a:chExt cx="709619" cy="4018525"/>
          </a:xfrm>
        </p:grpSpPr>
        <p:sp>
          <p:nvSpPr>
            <p:cNvPr name="Freeform 3" id="3"/>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4" id="4"/>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
        <p:nvSpPr>
          <p:cNvPr name="TextBox 5" id="5"/>
          <p:cNvSpPr txBox="true"/>
          <p:nvPr/>
        </p:nvSpPr>
        <p:spPr>
          <a:xfrm rot="0">
            <a:off x="756000" y="6800757"/>
            <a:ext cx="4809708" cy="2530937"/>
          </a:xfrm>
          <a:prstGeom prst="rect">
            <a:avLst/>
          </a:prstGeom>
        </p:spPr>
        <p:txBody>
          <a:bodyPr anchor="t" rtlCol="false" tIns="0" lIns="0" bIns="0" rIns="0">
            <a:spAutoFit/>
          </a:bodyPr>
          <a:lstStyle/>
          <a:p>
            <a:pPr algn="l">
              <a:lnSpc>
                <a:spcPts val="6758"/>
              </a:lnSpc>
            </a:pPr>
            <a:r>
              <a:rPr lang="en-US" sz="6376">
                <a:solidFill>
                  <a:srgbClr val="222525"/>
                </a:solidFill>
                <a:latin typeface="DM Serif Display"/>
                <a:ea typeface="DM Serif Display"/>
                <a:cs typeface="DM Serif Display"/>
                <a:sym typeface="DM Serif Display"/>
              </a:rPr>
              <a:t>05 </a:t>
            </a:r>
          </a:p>
          <a:p>
            <a:pPr algn="l">
              <a:lnSpc>
                <a:spcPts val="6546"/>
              </a:lnSpc>
            </a:pPr>
            <a:r>
              <a:rPr lang="en-US" sz="6175">
                <a:solidFill>
                  <a:srgbClr val="222525"/>
                </a:solidFill>
                <a:latin typeface="DM Serif Display"/>
                <a:ea typeface="DM Serif Display"/>
                <a:cs typeface="DM Serif Display"/>
                <a:sym typeface="DM Serif Display"/>
              </a:rPr>
              <a:t>Referencias bibliográficas </a:t>
            </a:r>
          </a:p>
        </p:txBody>
      </p:sp>
      <p:sp>
        <p:nvSpPr>
          <p:cNvPr name="Freeform 6" id="6"/>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1598340"/>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55169" y="1542400"/>
            <a:ext cx="4992020" cy="1008762"/>
          </a:xfrm>
          <a:prstGeom prst="rect">
            <a:avLst/>
          </a:prstGeom>
        </p:spPr>
        <p:txBody>
          <a:bodyPr anchor="t" rtlCol="false" tIns="0" lIns="0" bIns="0" rIns="0">
            <a:spAutoFit/>
          </a:bodyPr>
          <a:lstStyle/>
          <a:p>
            <a:pPr algn="l">
              <a:lnSpc>
                <a:spcPts val="3922"/>
              </a:lnSpc>
            </a:pPr>
            <a:r>
              <a:rPr lang="en-US" sz="3700">
                <a:solidFill>
                  <a:srgbClr val="222525"/>
                </a:solidFill>
                <a:latin typeface="DM Serif Display"/>
                <a:ea typeface="DM Serif Display"/>
                <a:cs typeface="DM Serif Display"/>
                <a:sym typeface="DM Serif Display"/>
              </a:rPr>
              <a:t>05. Referencias bibliográficas</a:t>
            </a:r>
          </a:p>
        </p:txBody>
      </p:sp>
      <p:sp>
        <p:nvSpPr>
          <p:cNvPr name="TextBox 6" id="6"/>
          <p:cNvSpPr txBox="true"/>
          <p:nvPr/>
        </p:nvSpPr>
        <p:spPr>
          <a:xfrm rot="0">
            <a:off x="603915" y="10110841"/>
            <a:ext cx="3020992" cy="224790"/>
          </a:xfrm>
          <a:prstGeom prst="rect">
            <a:avLst/>
          </a:prstGeom>
        </p:spPr>
        <p:txBody>
          <a:bodyPr anchor="t" rtlCol="false" tIns="0" lIns="0" bIns="0" rIns="0">
            <a:spAutoFit/>
          </a:bodyPr>
          <a:lstStyle/>
          <a:p>
            <a:pPr algn="l">
              <a:lnSpc>
                <a:spcPts val="1919"/>
              </a:lnSpc>
            </a:pPr>
            <a:r>
              <a:rPr lang="en-US" sz="1199">
                <a:solidFill>
                  <a:srgbClr val="222525"/>
                </a:solidFill>
                <a:latin typeface="Montserrat"/>
                <a:ea typeface="Montserrat"/>
                <a:cs typeface="Montserrat"/>
                <a:sym typeface="Montserrat"/>
              </a:rPr>
              <a:t>EQUIDAD URBANA CONSULTORA</a:t>
            </a:r>
          </a:p>
        </p:txBody>
      </p:sp>
      <p:sp>
        <p:nvSpPr>
          <p:cNvPr name="AutoShape 7" id="7"/>
          <p:cNvSpPr/>
          <p:nvPr/>
        </p:nvSpPr>
        <p:spPr>
          <a:xfrm rot="0">
            <a:off x="589521" y="9936000"/>
            <a:ext cx="6048000" cy="0"/>
          </a:xfrm>
          <a:prstGeom prst="line">
            <a:avLst/>
          </a:prstGeom>
          <a:ln cap="flat" w="9525">
            <a:solidFill>
              <a:srgbClr val="000000"/>
            </a:solidFill>
            <a:prstDash val="solid"/>
            <a:headEnd type="none" len="sm" w="sm"/>
            <a:tailEnd type="none" len="sm" w="sm"/>
          </a:ln>
        </p:spPr>
      </p:sp>
      <p:sp>
        <p:nvSpPr>
          <p:cNvPr name="Freeform 8" id="8"/>
          <p:cNvSpPr/>
          <p:nvPr/>
        </p:nvSpPr>
        <p:spPr>
          <a:xfrm flipH="false" flipV="false" rot="0">
            <a:off x="6637521" y="9866667"/>
            <a:ext cx="760762" cy="760762"/>
          </a:xfrm>
          <a:custGeom>
            <a:avLst/>
            <a:gdLst/>
            <a:ahLst/>
            <a:cxnLst/>
            <a:rect r="r" b="b" t="t" l="l"/>
            <a:pathLst>
              <a:path h="760762" w="760762">
                <a:moveTo>
                  <a:pt x="0" y="0"/>
                </a:moveTo>
                <a:lnTo>
                  <a:pt x="760762" y="0"/>
                </a:lnTo>
                <a:lnTo>
                  <a:pt x="760762" y="760763"/>
                </a:lnTo>
                <a:lnTo>
                  <a:pt x="0" y="760763"/>
                </a:lnTo>
                <a:lnTo>
                  <a:pt x="0" y="0"/>
                </a:lnTo>
                <a:close/>
              </a:path>
            </a:pathLst>
          </a:custGeom>
          <a:blipFill>
            <a:blip r:embed="rId4"/>
            <a:stretch>
              <a:fillRect l="0" t="0" r="0" b="0"/>
            </a:stretch>
          </a:blipFill>
        </p:spPr>
      </p:sp>
      <p:sp>
        <p:nvSpPr>
          <p:cNvPr name="TextBox 9" id="9"/>
          <p:cNvSpPr txBox="true"/>
          <p:nvPr/>
        </p:nvSpPr>
        <p:spPr>
          <a:xfrm rot="0">
            <a:off x="4895190" y="10110841"/>
            <a:ext cx="1742330" cy="224790"/>
          </a:xfrm>
          <a:prstGeom prst="rect">
            <a:avLst/>
          </a:prstGeom>
        </p:spPr>
        <p:txBody>
          <a:bodyPr anchor="t" rtlCol="false" tIns="0" lIns="0" bIns="0" rIns="0">
            <a:spAutoFit/>
          </a:bodyPr>
          <a:lstStyle/>
          <a:p>
            <a:pPr algn="r">
              <a:lnSpc>
                <a:spcPts val="1919"/>
              </a:lnSpc>
            </a:pPr>
            <a:r>
              <a:rPr lang="en-US" sz="1199">
                <a:solidFill>
                  <a:srgbClr val="222525"/>
                </a:solidFill>
                <a:latin typeface="Montserrat"/>
                <a:ea typeface="Montserrat"/>
                <a:cs typeface="Montserrat"/>
                <a:sym typeface="Montserrat"/>
              </a:rPr>
              <a:t>49</a:t>
            </a:r>
          </a:p>
        </p:txBody>
      </p:sp>
      <p:sp>
        <p:nvSpPr>
          <p:cNvPr name="TextBox 10" id="10"/>
          <p:cNvSpPr txBox="true"/>
          <p:nvPr/>
        </p:nvSpPr>
        <p:spPr>
          <a:xfrm rot="0">
            <a:off x="655169" y="3681588"/>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Cámara Chilena de la Construcción. (2019). Guía para la entrega de viviendas para nuevo propietario. Recuperado de: </a:t>
            </a:r>
            <a:r>
              <a:rPr lang="en-US" sz="800">
                <a:solidFill>
                  <a:srgbClr val="004AAD"/>
                </a:solidFill>
                <a:latin typeface="Montserrat"/>
                <a:ea typeface="Montserrat"/>
                <a:cs typeface="Montserrat"/>
                <a:sym typeface="Montserrat"/>
              </a:rPr>
              <a:t>https://cchc.cl/uploads/archivos/archivos/Guia_Entrega_Vivienda_Nuevo_Propietario.pdf </a:t>
            </a:r>
          </a:p>
        </p:txBody>
      </p:sp>
      <p:sp>
        <p:nvSpPr>
          <p:cNvPr name="TextBox 11" id="11"/>
          <p:cNvSpPr txBox="true"/>
          <p:nvPr/>
        </p:nvSpPr>
        <p:spPr>
          <a:xfrm rot="0">
            <a:off x="655169" y="2936360"/>
            <a:ext cx="5297817" cy="587488"/>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Cámara Chilena de la Construcción. (2022). Manual de uso, cuidado y mantención de la vivienda. Recuperado de: </a:t>
            </a:r>
            <a:r>
              <a:rPr lang="en-US" sz="800">
                <a:solidFill>
                  <a:srgbClr val="004AAD"/>
                </a:solidFill>
                <a:latin typeface="Montserrat"/>
                <a:ea typeface="Montserrat"/>
                <a:cs typeface="Montserrat"/>
                <a:sym typeface="Montserrat"/>
              </a:rPr>
              <a:t>https://cchc.cl/uploads/archivos/archivos/manual-de-uso-y-mantencion-de-la-vivienda.pdf </a:t>
            </a:r>
          </a:p>
        </p:txBody>
      </p:sp>
      <p:sp>
        <p:nvSpPr>
          <p:cNvPr name="AutoShape 12" id="12"/>
          <p:cNvSpPr/>
          <p:nvPr/>
        </p:nvSpPr>
        <p:spPr>
          <a:xfrm flipV="true">
            <a:off x="655185" y="2946300"/>
            <a:ext cx="5549676" cy="19050"/>
          </a:xfrm>
          <a:prstGeom prst="line">
            <a:avLst/>
          </a:prstGeom>
          <a:ln cap="flat" w="9525">
            <a:solidFill>
              <a:srgbClr val="03989E"/>
            </a:solidFill>
            <a:prstDash val="solid"/>
            <a:headEnd type="none" len="sm" w="sm"/>
            <a:tailEnd type="none" len="sm" w="sm"/>
          </a:ln>
        </p:spPr>
      </p:sp>
      <p:sp>
        <p:nvSpPr>
          <p:cNvPr name="AutoShape 13" id="13"/>
          <p:cNvSpPr/>
          <p:nvPr/>
        </p:nvSpPr>
        <p:spPr>
          <a:xfrm flipV="true">
            <a:off x="655185" y="3623860"/>
            <a:ext cx="5549676" cy="19050"/>
          </a:xfrm>
          <a:prstGeom prst="line">
            <a:avLst/>
          </a:prstGeom>
          <a:ln cap="flat" w="9525">
            <a:solidFill>
              <a:srgbClr val="03989E"/>
            </a:solidFill>
            <a:prstDash val="solid"/>
            <a:headEnd type="none" len="sm" w="sm"/>
            <a:tailEnd type="none" len="sm" w="sm"/>
          </a:ln>
        </p:spPr>
      </p:sp>
      <p:sp>
        <p:nvSpPr>
          <p:cNvPr name="AutoShape 14" id="14"/>
          <p:cNvSpPr/>
          <p:nvPr/>
        </p:nvSpPr>
        <p:spPr>
          <a:xfrm flipV="true">
            <a:off x="655185" y="5214188"/>
            <a:ext cx="5549676" cy="19050"/>
          </a:xfrm>
          <a:prstGeom prst="line">
            <a:avLst/>
          </a:prstGeom>
          <a:ln cap="flat" w="9525">
            <a:solidFill>
              <a:srgbClr val="03989E"/>
            </a:solidFill>
            <a:prstDash val="solid"/>
            <a:headEnd type="none" len="sm" w="sm"/>
            <a:tailEnd type="none" len="sm" w="sm"/>
          </a:ln>
        </p:spPr>
      </p:sp>
      <p:sp>
        <p:nvSpPr>
          <p:cNvPr name="AutoShape 15" id="15"/>
          <p:cNvSpPr/>
          <p:nvPr/>
        </p:nvSpPr>
        <p:spPr>
          <a:xfrm flipV="true">
            <a:off x="655185" y="5770057"/>
            <a:ext cx="5549676" cy="19050"/>
          </a:xfrm>
          <a:prstGeom prst="line">
            <a:avLst/>
          </a:prstGeom>
          <a:ln cap="flat" w="9525">
            <a:solidFill>
              <a:srgbClr val="03989E"/>
            </a:solidFill>
            <a:prstDash val="solid"/>
            <a:headEnd type="none" len="sm" w="sm"/>
            <a:tailEnd type="none" len="sm" w="sm"/>
          </a:ln>
        </p:spPr>
      </p:sp>
      <p:sp>
        <p:nvSpPr>
          <p:cNvPr name="AutoShape 16" id="16"/>
          <p:cNvSpPr/>
          <p:nvPr/>
        </p:nvSpPr>
        <p:spPr>
          <a:xfrm flipV="true">
            <a:off x="655185" y="4166020"/>
            <a:ext cx="5549676" cy="19050"/>
          </a:xfrm>
          <a:prstGeom prst="line">
            <a:avLst/>
          </a:prstGeom>
          <a:ln cap="flat" w="9525">
            <a:solidFill>
              <a:srgbClr val="03989E"/>
            </a:solidFill>
            <a:prstDash val="solid"/>
            <a:headEnd type="none" len="sm" w="sm"/>
            <a:tailEnd type="none" len="sm" w="sm"/>
          </a:ln>
        </p:spPr>
      </p:sp>
      <p:sp>
        <p:nvSpPr>
          <p:cNvPr name="TextBox 17" id="17"/>
          <p:cNvSpPr txBox="true"/>
          <p:nvPr/>
        </p:nvSpPr>
        <p:spPr>
          <a:xfrm rot="0">
            <a:off x="655169" y="4170782"/>
            <a:ext cx="5486854" cy="384684"/>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Congreso Nacional. (1995). Ley 19..418 Normas sobre juntas de vecinos y demás organizaciones comunitarias. Recuperado de:  </a:t>
            </a:r>
            <a:r>
              <a:rPr lang="en-US" sz="800">
                <a:solidFill>
                  <a:srgbClr val="004AAD"/>
                </a:solidFill>
                <a:latin typeface="Montserrat"/>
                <a:ea typeface="Montserrat"/>
                <a:cs typeface="Montserrat"/>
                <a:sym typeface="Montserrat"/>
              </a:rPr>
              <a:t>https://www.bcn.cl/leychile/navegar?idNorma=30785</a:t>
            </a:r>
          </a:p>
        </p:txBody>
      </p:sp>
      <p:sp>
        <p:nvSpPr>
          <p:cNvPr name="TextBox 18" id="18"/>
          <p:cNvSpPr txBox="true"/>
          <p:nvPr/>
        </p:nvSpPr>
        <p:spPr>
          <a:xfrm rot="0">
            <a:off x="655169" y="4717127"/>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Congreso Nacional. (2016). Decreto 19 Ministerio de Vivienda y Urbanismo. Reglamento programa de Integración Social y Territorial. Recuperado de:</a:t>
            </a:r>
            <a:r>
              <a:rPr lang="en-US" sz="800">
                <a:solidFill>
                  <a:srgbClr val="004AAD"/>
                </a:solidFill>
                <a:latin typeface="Montserrat"/>
                <a:ea typeface="Montserrat"/>
                <a:cs typeface="Montserrat"/>
                <a:sym typeface="Montserrat"/>
              </a:rPr>
              <a:t> https://www.bcn.cl/leychile/navegar?idNorma=1092547</a:t>
            </a:r>
          </a:p>
        </p:txBody>
      </p:sp>
      <p:sp>
        <p:nvSpPr>
          <p:cNvPr name="TextBox 19" id="19"/>
          <p:cNvSpPr txBox="true"/>
          <p:nvPr/>
        </p:nvSpPr>
        <p:spPr>
          <a:xfrm rot="0">
            <a:off x="655169" y="5822444"/>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Comunidad feliz. (2022). Tomo III: Asambleas de copropietarios. Recuperado de: </a:t>
            </a:r>
            <a:r>
              <a:rPr lang="en-US" sz="800">
                <a:solidFill>
                  <a:srgbClr val="004AAD"/>
                </a:solidFill>
                <a:latin typeface="Montserrat"/>
                <a:ea typeface="Montserrat"/>
                <a:cs typeface="Montserrat"/>
                <a:sym typeface="Montserrat"/>
              </a:rPr>
              <a:t>https://www.comunidadfeliz.cl/nueva-ley-de-copropiedad </a:t>
            </a:r>
          </a:p>
        </p:txBody>
      </p:sp>
      <p:sp>
        <p:nvSpPr>
          <p:cNvPr name="AutoShape 20" id="20"/>
          <p:cNvSpPr/>
          <p:nvPr/>
        </p:nvSpPr>
        <p:spPr>
          <a:xfrm flipV="true">
            <a:off x="655185" y="6316070"/>
            <a:ext cx="5549676" cy="19050"/>
          </a:xfrm>
          <a:prstGeom prst="line">
            <a:avLst/>
          </a:prstGeom>
          <a:ln cap="flat" w="9525">
            <a:solidFill>
              <a:srgbClr val="03989E"/>
            </a:solidFill>
            <a:prstDash val="solid"/>
            <a:headEnd type="none" len="sm" w="sm"/>
            <a:tailEnd type="none" len="sm" w="sm"/>
          </a:ln>
        </p:spPr>
      </p:sp>
      <p:sp>
        <p:nvSpPr>
          <p:cNvPr name="AutoShape 21" id="21"/>
          <p:cNvSpPr/>
          <p:nvPr/>
        </p:nvSpPr>
        <p:spPr>
          <a:xfrm flipV="true">
            <a:off x="655185" y="6815239"/>
            <a:ext cx="5549676" cy="19050"/>
          </a:xfrm>
          <a:prstGeom prst="line">
            <a:avLst/>
          </a:prstGeom>
          <a:ln cap="flat" w="9525">
            <a:solidFill>
              <a:srgbClr val="03989E"/>
            </a:solidFill>
            <a:prstDash val="solid"/>
            <a:headEnd type="none" len="sm" w="sm"/>
            <a:tailEnd type="none" len="sm" w="sm"/>
          </a:ln>
        </p:spPr>
      </p:sp>
      <p:sp>
        <p:nvSpPr>
          <p:cNvPr name="TextBox 22" id="22"/>
          <p:cNvSpPr txBox="true"/>
          <p:nvPr/>
        </p:nvSpPr>
        <p:spPr>
          <a:xfrm rot="0">
            <a:off x="655169" y="6368458"/>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Comunidad feliz. (2022). Tomo IV: Comité de administración y administradores. Recuperado de: </a:t>
            </a:r>
            <a:r>
              <a:rPr lang="en-US" sz="800">
                <a:solidFill>
                  <a:srgbClr val="004AAD"/>
                </a:solidFill>
                <a:latin typeface="Montserrat"/>
                <a:ea typeface="Montserrat"/>
                <a:cs typeface="Montserrat"/>
                <a:sym typeface="Montserrat"/>
              </a:rPr>
              <a:t>https://www.comunidadfeliz.cl/nueva-ley-de-copropiedad </a:t>
            </a:r>
          </a:p>
        </p:txBody>
      </p:sp>
      <p:sp>
        <p:nvSpPr>
          <p:cNvPr name="AutoShape 23" id="23"/>
          <p:cNvSpPr/>
          <p:nvPr/>
        </p:nvSpPr>
        <p:spPr>
          <a:xfrm flipV="true">
            <a:off x="655185" y="7365737"/>
            <a:ext cx="5549676" cy="19050"/>
          </a:xfrm>
          <a:prstGeom prst="line">
            <a:avLst/>
          </a:prstGeom>
          <a:ln cap="flat" w="9525">
            <a:solidFill>
              <a:srgbClr val="03989E"/>
            </a:solidFill>
            <a:prstDash val="solid"/>
            <a:headEnd type="none" len="sm" w="sm"/>
            <a:tailEnd type="none" len="sm" w="sm"/>
          </a:ln>
        </p:spPr>
      </p:sp>
      <p:sp>
        <p:nvSpPr>
          <p:cNvPr name="TextBox 24" id="24"/>
          <p:cNvSpPr txBox="true"/>
          <p:nvPr/>
        </p:nvSpPr>
        <p:spPr>
          <a:xfrm rot="0">
            <a:off x="655169" y="6867627"/>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Comunidad feliz. (2022). Tomo V: Gastos comunes y fondo común de reserva. Recuperado de: </a:t>
            </a:r>
            <a:r>
              <a:rPr lang="en-US" sz="800">
                <a:solidFill>
                  <a:srgbClr val="004AAD"/>
                </a:solidFill>
                <a:latin typeface="Montserrat"/>
                <a:ea typeface="Montserrat"/>
                <a:cs typeface="Montserrat"/>
                <a:sym typeface="Montserrat"/>
              </a:rPr>
              <a:t>https://www.comunidadfeliz.cl/nueva-ley-de-copropiedad </a:t>
            </a:r>
          </a:p>
        </p:txBody>
      </p:sp>
      <p:sp>
        <p:nvSpPr>
          <p:cNvPr name="AutoShape 25" id="25"/>
          <p:cNvSpPr/>
          <p:nvPr/>
        </p:nvSpPr>
        <p:spPr>
          <a:xfrm flipV="true">
            <a:off x="655185" y="4664739"/>
            <a:ext cx="5549676" cy="19050"/>
          </a:xfrm>
          <a:prstGeom prst="line">
            <a:avLst/>
          </a:prstGeom>
          <a:ln cap="flat" w="9525">
            <a:solidFill>
              <a:srgbClr val="03989E"/>
            </a:solidFill>
            <a:prstDash val="solid"/>
            <a:headEnd type="none" len="sm" w="sm"/>
            <a:tailEnd type="none" len="sm" w="sm"/>
          </a:ln>
        </p:spPr>
      </p:sp>
      <p:sp>
        <p:nvSpPr>
          <p:cNvPr name="TextBox 26" id="26"/>
          <p:cNvSpPr txBox="true"/>
          <p:nvPr/>
        </p:nvSpPr>
        <p:spPr>
          <a:xfrm rot="0">
            <a:off x="655169" y="5276100"/>
            <a:ext cx="5486854" cy="384419"/>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Congreso Nacional. (2022). Ley 21.442 de copropiedad inmobiliaria. Recuperado de: </a:t>
            </a:r>
            <a:r>
              <a:rPr lang="en-US" sz="800">
                <a:solidFill>
                  <a:srgbClr val="004AAD"/>
                </a:solidFill>
                <a:latin typeface="Montserrat"/>
                <a:ea typeface="Montserrat"/>
                <a:cs typeface="Montserrat"/>
                <a:sym typeface="Montserrat"/>
              </a:rPr>
              <a:t>https://www.bcn.cl/leychile/navegar?idNorma=1174663 </a:t>
            </a:r>
          </a:p>
        </p:txBody>
      </p:sp>
      <p:sp>
        <p:nvSpPr>
          <p:cNvPr name="TextBox 27" id="27"/>
          <p:cNvSpPr txBox="true"/>
          <p:nvPr/>
        </p:nvSpPr>
        <p:spPr>
          <a:xfrm rot="0">
            <a:off x="655169" y="7427650"/>
            <a:ext cx="5486854" cy="384684"/>
          </a:xfrm>
          <a:prstGeom prst="rect">
            <a:avLst/>
          </a:prstGeom>
        </p:spPr>
        <p:txBody>
          <a:bodyPr anchor="t" rtlCol="false" tIns="0" lIns="0" bIns="0" rIns="0">
            <a:spAutoFit/>
          </a:bodyPr>
          <a:lstStyle/>
          <a:p>
            <a:pPr algn="l">
              <a:lnSpc>
                <a:spcPts val="1656"/>
              </a:lnSpc>
            </a:pPr>
            <a:r>
              <a:rPr lang="en-US" sz="800">
                <a:solidFill>
                  <a:srgbClr val="222525"/>
                </a:solidFill>
                <a:latin typeface="Montserrat"/>
                <a:ea typeface="Montserrat"/>
                <a:cs typeface="Montserrat"/>
                <a:sym typeface="Montserrat"/>
              </a:rPr>
              <a:t>Municipalidad de Recoleta. (2019). Funciones de Seguridad Comunitaria:  reserva. Recuperado de: </a:t>
            </a:r>
          </a:p>
          <a:p>
            <a:pPr algn="l">
              <a:lnSpc>
                <a:spcPts val="1656"/>
              </a:lnSpc>
            </a:pPr>
            <a:r>
              <a:rPr lang="en-US" sz="800">
                <a:solidFill>
                  <a:srgbClr val="004AAD"/>
                </a:solidFill>
                <a:latin typeface="Montserrat"/>
                <a:ea typeface="Montserrat"/>
                <a:cs typeface="Montserrat"/>
                <a:sym typeface="Montserrat"/>
              </a:rPr>
              <a:t>http://www.recoletatransparente.cl/archivos_2019/sai/abril/funciones%20seguridad%20ciudadana.pdf</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89382"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595895"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91576" y="-589456"/>
            <a:ext cx="2362194" cy="3049781"/>
          </a:xfrm>
          <a:custGeom>
            <a:avLst/>
            <a:gdLst/>
            <a:ahLst/>
            <a:cxnLst/>
            <a:rect r="r" b="b" t="t" l="l"/>
            <a:pathLst>
              <a:path h="3049781" w="2362194">
                <a:moveTo>
                  <a:pt x="0" y="0"/>
                </a:moveTo>
                <a:lnTo>
                  <a:pt x="2362194" y="0"/>
                </a:lnTo>
                <a:lnTo>
                  <a:pt x="2362194" y="3049782"/>
                </a:lnTo>
                <a:lnTo>
                  <a:pt x="0" y="304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08" y="6499687"/>
            <a:ext cx="7560000" cy="4192313"/>
          </a:xfrm>
          <a:custGeom>
            <a:avLst/>
            <a:gdLst/>
            <a:ahLst/>
            <a:cxnLst/>
            <a:rect r="r" b="b" t="t" l="l"/>
            <a:pathLst>
              <a:path h="4192313" w="7560000">
                <a:moveTo>
                  <a:pt x="0" y="0"/>
                </a:moveTo>
                <a:lnTo>
                  <a:pt x="7560000" y="0"/>
                </a:lnTo>
                <a:lnTo>
                  <a:pt x="7560000" y="4192313"/>
                </a:lnTo>
                <a:lnTo>
                  <a:pt x="0" y="4192313"/>
                </a:lnTo>
                <a:lnTo>
                  <a:pt x="0" y="0"/>
                </a:lnTo>
                <a:close/>
              </a:path>
            </a:pathLst>
          </a:custGeom>
          <a:blipFill>
            <a:blip r:embed="rId4"/>
            <a:stretch>
              <a:fillRect l="0" t="-492" r="0" b="-492"/>
            </a:stretch>
          </a:blipFill>
        </p:spPr>
      </p:sp>
      <p:grpSp>
        <p:nvGrpSpPr>
          <p:cNvPr name="Group 6" id="6"/>
          <p:cNvGrpSpPr/>
          <p:nvPr/>
        </p:nvGrpSpPr>
        <p:grpSpPr>
          <a:xfrm rot="0">
            <a:off x="5923620" y="-256462"/>
            <a:ext cx="1980089" cy="11213108"/>
            <a:chOff x="0" y="0"/>
            <a:chExt cx="709619" cy="4018525"/>
          </a:xfrm>
        </p:grpSpPr>
        <p:sp>
          <p:nvSpPr>
            <p:cNvPr name="Freeform 7" id="7"/>
            <p:cNvSpPr/>
            <p:nvPr/>
          </p:nvSpPr>
          <p:spPr>
            <a:xfrm flipH="false" flipV="false" rot="0">
              <a:off x="0" y="0"/>
              <a:ext cx="709619" cy="4018525"/>
            </a:xfrm>
            <a:custGeom>
              <a:avLst/>
              <a:gdLst/>
              <a:ahLst/>
              <a:cxnLst/>
              <a:rect r="r" b="b" t="t" l="l"/>
              <a:pathLst>
                <a:path h="4018525" w="709619">
                  <a:moveTo>
                    <a:pt x="0" y="0"/>
                  </a:moveTo>
                  <a:lnTo>
                    <a:pt x="709619" y="0"/>
                  </a:lnTo>
                  <a:lnTo>
                    <a:pt x="709619" y="4018525"/>
                  </a:lnTo>
                  <a:lnTo>
                    <a:pt x="0" y="4018525"/>
                  </a:lnTo>
                  <a:close/>
                </a:path>
              </a:pathLst>
            </a:custGeom>
            <a:solidFill>
              <a:srgbClr val="03989E"/>
            </a:solidFill>
          </p:spPr>
        </p:sp>
        <p:sp>
          <p:nvSpPr>
            <p:cNvPr name="TextBox 8" id="8"/>
            <p:cNvSpPr txBox="true"/>
            <p:nvPr/>
          </p:nvSpPr>
          <p:spPr>
            <a:xfrm>
              <a:off x="0" y="-28575"/>
              <a:ext cx="709619" cy="4047100"/>
            </a:xfrm>
            <a:prstGeom prst="rect">
              <a:avLst/>
            </a:prstGeom>
          </p:spPr>
          <p:txBody>
            <a:bodyPr anchor="ctr" rtlCol="false" tIns="50800" lIns="50800" bIns="50800" rIns="50800"/>
            <a:lstStyle/>
            <a:p>
              <a:pPr algn="ctr">
                <a:lnSpc>
                  <a:spcPts val="1960"/>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DAGgBiMFWQM</dc:identifier>
  <dcterms:modified xsi:type="dcterms:W3CDTF">2011-08-01T06:04:30Z</dcterms:modified>
  <cp:revision>1</cp:revision>
  <dc:title>EDITABLE (V2) - Manual Resolución de dudas frecuentes PIS</dc:title>
</cp:coreProperties>
</file>